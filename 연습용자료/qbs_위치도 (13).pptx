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524347" y="2857500"/>
            <a:ext cx="1143000" cy="1143000"/>
          </a:xfrm>
          <a:prstGeom prst="ellipse">
            <a:avLst/>
          </a:prstGeom>
          <a:noFill/>
          <a:ln w="19050">
            <a:solidFill>
              <a:srgbClr val="787878"/>
            </a:solidFill>
            <a:prstDash val="dash"/>
          </a:ln>
          <a:effectLst>
            <a:outerShdw blurRad="63500" dist="38100" dir="2700000" algn="t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67147" y="3291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effectLst>
                  <a:glow rad="50800">
                    <a:srgbClr val="FFFFFF"/>
                  </a:glow>
                </a:effectLst>
              </a:rPr>
              <a:t>1km</a:t>
            </a:r>
          </a:p>
        </p:txBody>
      </p:sp>
      <p:sp>
        <p:nvSpPr>
          <p:cNvPr id="8" name="Oval 7"/>
          <p:cNvSpPr/>
          <p:nvPr/>
        </p:nvSpPr>
        <p:spPr>
          <a:xfrm>
            <a:off x="4952847" y="2286000"/>
            <a:ext cx="2286000" cy="2286000"/>
          </a:xfrm>
          <a:prstGeom prst="ellipse">
            <a:avLst/>
          </a:prstGeom>
          <a:noFill/>
          <a:ln w="19050">
            <a:solidFill>
              <a:srgbClr val="787878"/>
            </a:solidFill>
          </a:ln>
          <a:effectLst>
            <a:outerShdw blurRad="63500" dist="38100" dir="2700000" algn="t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5647" y="3291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effectLst>
                  <a:glow rad="50800">
                    <a:srgbClr val="FFFFFF"/>
                  </a:glow>
                </a:effectLst>
              </a:rPr>
              <a:t>2km</a:t>
            </a:r>
          </a:p>
        </p:txBody>
      </p:sp>
      <p:sp>
        <p:nvSpPr>
          <p:cNvPr id="10" name="Oval 9"/>
          <p:cNvSpPr/>
          <p:nvPr/>
        </p:nvSpPr>
        <p:spPr>
          <a:xfrm>
            <a:off x="4381347" y="1714500"/>
            <a:ext cx="3429000" cy="3429000"/>
          </a:xfrm>
          <a:prstGeom prst="ellipse">
            <a:avLst/>
          </a:prstGeom>
          <a:noFill/>
          <a:ln w="19050">
            <a:solidFill>
              <a:srgbClr val="787878"/>
            </a:solidFill>
            <a:prstDash val="dash"/>
          </a:ln>
          <a:effectLst>
            <a:outerShdw blurRad="63500" dist="38100" dir="2700000" algn="t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24147" y="3291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effectLst>
                  <a:glow rad="50800">
                    <a:srgbClr val="FFFFFF"/>
                  </a:glow>
                </a:effectLst>
              </a:rPr>
              <a:t>3km</a:t>
            </a:r>
          </a:p>
        </p:txBody>
      </p:sp>
      <p:sp>
        <p:nvSpPr>
          <p:cNvPr id="12" name="Oval 11"/>
          <p:cNvSpPr/>
          <p:nvPr/>
        </p:nvSpPr>
        <p:spPr>
          <a:xfrm>
            <a:off x="3809847" y="1143000"/>
            <a:ext cx="4572000" cy="4572000"/>
          </a:xfrm>
          <a:prstGeom prst="ellipse">
            <a:avLst/>
          </a:prstGeom>
          <a:noFill/>
          <a:ln w="19050">
            <a:solidFill>
              <a:srgbClr val="787878"/>
            </a:solidFill>
          </a:ln>
          <a:effectLst>
            <a:outerShdw blurRad="63500" dist="38100" dir="2700000" algn="t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2647" y="3291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effectLst>
                  <a:glow rad="50800">
                    <a:srgbClr val="FFFFFF"/>
                  </a:glow>
                </a:effectLst>
              </a:rPr>
              <a:t>4km</a:t>
            </a:r>
          </a:p>
        </p:txBody>
      </p:sp>
      <p:sp>
        <p:nvSpPr>
          <p:cNvPr id="14" name="Oval 13"/>
          <p:cNvSpPr/>
          <p:nvPr/>
        </p:nvSpPr>
        <p:spPr>
          <a:xfrm>
            <a:off x="3238347" y="571500"/>
            <a:ext cx="5715000" cy="5715000"/>
          </a:xfrm>
          <a:prstGeom prst="ellipse">
            <a:avLst/>
          </a:prstGeom>
          <a:noFill/>
          <a:ln w="19050">
            <a:solidFill>
              <a:srgbClr val="787878"/>
            </a:solidFill>
            <a:prstDash val="dash"/>
          </a:ln>
          <a:effectLst>
            <a:outerShdw blurRad="63500" dist="38100" dir="2700000" algn="t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1147" y="3291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effectLst>
                  <a:glow rad="50800">
                    <a:srgbClr val="FFFFFF"/>
                  </a:glow>
                </a:effectLst>
              </a:rPr>
              <a:t>5km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5767" y="306324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effectLst>
                  <a:glow rad="50800">
                    <a:srgbClr val="FFFFFF"/>
                  </a:glow>
                </a:effectLst>
              </a:rPr>
              <a:t>사업대상지</a:t>
            </a:r>
          </a:p>
        </p:txBody>
      </p:sp>
      <p:sp>
        <p:nvSpPr>
          <p:cNvPr id="17" name="Isosceles Triangle 16"/>
          <p:cNvSpPr/>
          <p:nvPr/>
        </p:nvSpPr>
        <p:spPr>
          <a:xfrm>
            <a:off x="5053585" y="5490786"/>
            <a:ext cx="128016" cy="109728"/>
          </a:xfrm>
          <a:prstGeom prst="triangle">
            <a:avLst/>
          </a:prstGeom>
          <a:solidFill>
            <a:srgbClr val="228B2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1601" y="545421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8B22"/>
                </a:solidFill>
                <a:effectLst>
                  <a:glow rad="50800">
                    <a:srgbClr val="FFFFFF"/>
                  </a:glow>
                </a:effectLst>
              </a:rPr>
              <a:t>지라안산</a:t>
            </a:r>
          </a:p>
        </p:txBody>
      </p:sp>
      <p:sp>
        <p:nvSpPr>
          <p:cNvPr id="19" name="Isosceles Triangle 18"/>
          <p:cNvSpPr/>
          <p:nvPr/>
        </p:nvSpPr>
        <p:spPr>
          <a:xfrm>
            <a:off x="5257094" y="5021946"/>
            <a:ext cx="128016" cy="109728"/>
          </a:xfrm>
          <a:prstGeom prst="triangle">
            <a:avLst/>
          </a:prstGeom>
          <a:solidFill>
            <a:srgbClr val="228B2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110" y="498537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8B22"/>
                </a:solidFill>
                <a:effectLst>
                  <a:glow rad="50800">
                    <a:srgbClr val="FFFFFF"/>
                  </a:glow>
                </a:effectLst>
              </a:rPr>
              <a:t>밀봉산</a:t>
            </a:r>
          </a:p>
        </p:txBody>
      </p:sp>
      <p:sp>
        <p:nvSpPr>
          <p:cNvPr id="21" name="Isosceles Triangle 20"/>
          <p:cNvSpPr/>
          <p:nvPr/>
        </p:nvSpPr>
        <p:spPr>
          <a:xfrm>
            <a:off x="5212815" y="4135163"/>
            <a:ext cx="128016" cy="109728"/>
          </a:xfrm>
          <a:prstGeom prst="triangle">
            <a:avLst/>
          </a:prstGeom>
          <a:solidFill>
            <a:srgbClr val="228B2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0831" y="4098587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8B22"/>
                </a:solidFill>
                <a:effectLst>
                  <a:glow rad="50800">
                    <a:srgbClr val="FFFFFF"/>
                  </a:glow>
                </a:effectLst>
              </a:rPr>
              <a:t>각성산</a:t>
            </a:r>
          </a:p>
        </p:txBody>
      </p:sp>
      <p:sp>
        <p:nvSpPr>
          <p:cNvPr id="23" name="Isosceles Triangle 22"/>
          <p:cNvSpPr/>
          <p:nvPr/>
        </p:nvSpPr>
        <p:spPr>
          <a:xfrm>
            <a:off x="10756167" y="678152"/>
            <a:ext cx="128016" cy="109728"/>
          </a:xfrm>
          <a:prstGeom prst="triangle">
            <a:avLst/>
          </a:prstGeom>
          <a:solidFill>
            <a:srgbClr val="228B2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4183" y="64157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8B22"/>
                </a:solidFill>
                <a:effectLst>
                  <a:glow rad="50800">
                    <a:srgbClr val="FFFFFF"/>
                  </a:glow>
                </a:effectLst>
              </a:rPr>
              <a:t>군지산</a:t>
            </a:r>
          </a:p>
        </p:txBody>
      </p:sp>
      <p:sp>
        <p:nvSpPr>
          <p:cNvPr id="25" name="Isosceles Triangle 24"/>
          <p:cNvSpPr/>
          <p:nvPr/>
        </p:nvSpPr>
        <p:spPr>
          <a:xfrm>
            <a:off x="10640467" y="5398983"/>
            <a:ext cx="128016" cy="109728"/>
          </a:xfrm>
          <a:prstGeom prst="triangle">
            <a:avLst/>
          </a:prstGeom>
          <a:solidFill>
            <a:srgbClr val="228B2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68483" y="5362407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8B22"/>
                </a:solidFill>
                <a:effectLst>
                  <a:glow rad="50800">
                    <a:srgbClr val="FFFFFF"/>
                  </a:glow>
                </a:effectLst>
              </a:rPr>
              <a:t>산</a:t>
            </a:r>
          </a:p>
        </p:txBody>
      </p:sp>
      <p:sp>
        <p:nvSpPr>
          <p:cNvPr id="27" name="Isosceles Triangle 26"/>
          <p:cNvSpPr/>
          <p:nvPr/>
        </p:nvSpPr>
        <p:spPr>
          <a:xfrm>
            <a:off x="1328544" y="6259512"/>
            <a:ext cx="128016" cy="109728"/>
          </a:xfrm>
          <a:prstGeom prst="triangle">
            <a:avLst/>
          </a:prstGeom>
          <a:solidFill>
            <a:srgbClr val="228B2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56560" y="622293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8B22"/>
                </a:solidFill>
                <a:effectLst>
                  <a:glow rad="50800">
                    <a:srgbClr val="FFFFFF"/>
                  </a:glow>
                </a:effectLst>
              </a:rPr>
              <a:t>김해대학교</a:t>
            </a:r>
          </a:p>
        </p:txBody>
      </p:sp>
      <p:sp>
        <p:nvSpPr>
          <p:cNvPr id="29" name="Isosceles Triangle 28"/>
          <p:cNvSpPr/>
          <p:nvPr/>
        </p:nvSpPr>
        <p:spPr>
          <a:xfrm>
            <a:off x="1377205" y="6335299"/>
            <a:ext cx="128016" cy="109728"/>
          </a:xfrm>
          <a:prstGeom prst="triangle">
            <a:avLst/>
          </a:prstGeom>
          <a:solidFill>
            <a:srgbClr val="228B2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5221" y="6298723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8B22"/>
                </a:solidFill>
                <a:effectLst>
                  <a:glow rad="50800">
                    <a:srgbClr val="FFFFFF"/>
                  </a:glow>
                </a:effectLst>
              </a:rPr>
              <a:t>김해대학교</a:t>
            </a:r>
          </a:p>
        </p:txBody>
      </p:sp>
      <p:sp>
        <p:nvSpPr>
          <p:cNvPr id="31" name="Isosceles Triangle 30"/>
          <p:cNvSpPr/>
          <p:nvPr/>
        </p:nvSpPr>
        <p:spPr>
          <a:xfrm>
            <a:off x="1283315" y="6283657"/>
            <a:ext cx="128016" cy="109728"/>
          </a:xfrm>
          <a:prstGeom prst="triangle">
            <a:avLst/>
          </a:prstGeom>
          <a:solidFill>
            <a:srgbClr val="228B2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11331" y="6247081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8B22"/>
                </a:solidFill>
                <a:effectLst>
                  <a:glow rad="50800">
                    <a:srgbClr val="FFFFFF"/>
                  </a:glow>
                </a:effectLst>
              </a:rPr>
              <a:t>김해대학교실용관</a:t>
            </a:r>
          </a:p>
        </p:txBody>
      </p:sp>
      <p:sp>
        <p:nvSpPr>
          <p:cNvPr id="33" name="Isosceles Triangle 32"/>
          <p:cNvSpPr/>
          <p:nvPr/>
        </p:nvSpPr>
        <p:spPr>
          <a:xfrm>
            <a:off x="1386936" y="6303625"/>
            <a:ext cx="128016" cy="109728"/>
          </a:xfrm>
          <a:prstGeom prst="triangle">
            <a:avLst/>
          </a:prstGeom>
          <a:solidFill>
            <a:srgbClr val="228B2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14952" y="6267049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8B22"/>
                </a:solidFill>
                <a:effectLst>
                  <a:glow rad="50800">
                    <a:srgbClr val="FFFFFF"/>
                  </a:glow>
                </a:effectLst>
              </a:rPr>
              <a:t>김해대학교실천관</a:t>
            </a:r>
          </a:p>
        </p:txBody>
      </p:sp>
      <p:sp>
        <p:nvSpPr>
          <p:cNvPr id="35" name="Isosceles Triangle 34"/>
          <p:cNvSpPr/>
          <p:nvPr/>
        </p:nvSpPr>
        <p:spPr>
          <a:xfrm>
            <a:off x="1362265" y="6321193"/>
            <a:ext cx="128016" cy="109728"/>
          </a:xfrm>
          <a:prstGeom prst="triangle">
            <a:avLst/>
          </a:prstGeom>
          <a:solidFill>
            <a:srgbClr val="228B2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90281" y="6284617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8B22"/>
                </a:solidFill>
                <a:effectLst>
                  <a:glow rad="50800">
                    <a:srgbClr val="FFFFFF"/>
                  </a:glow>
                </a:effectLst>
              </a:rPr>
              <a:t>김해대학교정의관</a:t>
            </a:r>
          </a:p>
        </p:txBody>
      </p:sp>
      <p:sp>
        <p:nvSpPr>
          <p:cNvPr id="37" name="Isosceles Triangle 36"/>
          <p:cNvSpPr/>
          <p:nvPr/>
        </p:nvSpPr>
        <p:spPr>
          <a:xfrm>
            <a:off x="1354269" y="6216150"/>
            <a:ext cx="128016" cy="109728"/>
          </a:xfrm>
          <a:prstGeom prst="triangle">
            <a:avLst/>
          </a:prstGeom>
          <a:solidFill>
            <a:srgbClr val="228B2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82285" y="6179574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8B22"/>
                </a:solidFill>
                <a:effectLst>
                  <a:glow rad="50800">
                    <a:srgbClr val="FFFFFF"/>
                  </a:glow>
                </a:effectLst>
              </a:rPr>
              <a:t>김해대학교창의관</a:t>
            </a:r>
          </a:p>
        </p:txBody>
      </p:sp>
      <p:sp>
        <p:nvSpPr>
          <p:cNvPr id="39" name="Isosceles Triangle 38"/>
          <p:cNvSpPr/>
          <p:nvPr/>
        </p:nvSpPr>
        <p:spPr>
          <a:xfrm>
            <a:off x="8507251" y="1258087"/>
            <a:ext cx="128016" cy="109728"/>
          </a:xfrm>
          <a:prstGeom prst="triangle">
            <a:avLst/>
          </a:prstGeom>
          <a:solidFill>
            <a:srgbClr val="228B2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35267" y="1221511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8B22"/>
                </a:solidFill>
                <a:effectLst>
                  <a:glow rad="50800">
                    <a:srgbClr val="FFFFFF"/>
                  </a:glow>
                </a:effectLst>
              </a:rPr>
              <a:t>다방동</a:t>
            </a:r>
          </a:p>
        </p:txBody>
      </p:sp>
      <p:sp>
        <p:nvSpPr>
          <p:cNvPr id="41" name="Isosceles Triangle 40"/>
          <p:cNvSpPr/>
          <p:nvPr/>
        </p:nvSpPr>
        <p:spPr>
          <a:xfrm>
            <a:off x="6740673" y="4005332"/>
            <a:ext cx="128016" cy="109728"/>
          </a:xfrm>
          <a:prstGeom prst="triangle">
            <a:avLst/>
          </a:prstGeom>
          <a:solidFill>
            <a:srgbClr val="228B2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68689" y="396875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8B22"/>
                </a:solidFill>
                <a:effectLst>
                  <a:glow rad="50800">
                    <a:srgbClr val="FFFFFF"/>
                  </a:glow>
                </a:effectLst>
              </a:rPr>
              <a:t>부산교통공사BTC아카데미</a:t>
            </a:r>
          </a:p>
        </p:txBody>
      </p:sp>
      <p:sp>
        <p:nvSpPr>
          <p:cNvPr id="43" name="Isosceles Triangle 42"/>
          <p:cNvSpPr/>
          <p:nvPr/>
        </p:nvSpPr>
        <p:spPr>
          <a:xfrm>
            <a:off x="7917624" y="3104726"/>
            <a:ext cx="128016" cy="109728"/>
          </a:xfrm>
          <a:prstGeom prst="triangle">
            <a:avLst/>
          </a:prstGeom>
          <a:solidFill>
            <a:srgbClr val="228B2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5640" y="306815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8B22"/>
                </a:solidFill>
                <a:effectLst>
                  <a:glow rad="50800">
                    <a:srgbClr val="FFFFFF"/>
                  </a:glow>
                </a:effectLst>
              </a:rPr>
              <a:t>동면</a:t>
            </a:r>
          </a:p>
        </p:txBody>
      </p:sp>
      <p:sp>
        <p:nvSpPr>
          <p:cNvPr id="45" name="Isosceles Triangle 44"/>
          <p:cNvSpPr/>
          <p:nvPr/>
        </p:nvSpPr>
        <p:spPr>
          <a:xfrm>
            <a:off x="9895728" y="473893"/>
            <a:ext cx="128016" cy="109728"/>
          </a:xfrm>
          <a:prstGeom prst="triangle">
            <a:avLst/>
          </a:prstGeom>
          <a:solidFill>
            <a:srgbClr val="228B2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23744" y="437317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8B22"/>
                </a:solidFill>
                <a:effectLst>
                  <a:glow rad="50800">
                    <a:srgbClr val="FFFFFF"/>
                  </a:glow>
                </a:effectLst>
              </a:rPr>
              <a:t>명곡동</a:t>
            </a:r>
          </a:p>
        </p:txBody>
      </p:sp>
      <p:sp>
        <p:nvSpPr>
          <p:cNvPr id="47" name="Isosceles Triangle 46"/>
          <p:cNvSpPr/>
          <p:nvPr/>
        </p:nvSpPr>
        <p:spPr>
          <a:xfrm>
            <a:off x="10233696" y="6188733"/>
            <a:ext cx="128016" cy="109728"/>
          </a:xfrm>
          <a:prstGeom prst="triangle">
            <a:avLst/>
          </a:prstGeom>
          <a:solidFill>
            <a:srgbClr val="228B2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361712" y="6152157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8B22"/>
                </a:solidFill>
                <a:effectLst>
                  <a:glow rad="50800">
                    <a:srgbClr val="FFFFFF"/>
                  </a:glow>
                </a:effectLst>
              </a:rPr>
              <a:t>구서동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98164" y="10372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69696"/>
                </a:solidFill>
                <a:effectLst>
                  <a:glow rad="50800">
                    <a:srgbClr val="FFFFFF"/>
                  </a:glow>
                </a:effectLst>
              </a:rPr>
              <a:t>양주동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68692" y="529741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69696"/>
                </a:solidFill>
                <a:effectLst>
                  <a:glow rad="50800">
                    <a:srgbClr val="FFFFFF"/>
                  </a:glow>
                </a:effectLst>
              </a:rPr>
              <a:t>휴대폰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13271" y="515552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69696"/>
                </a:solidFill>
                <a:effectLst>
                  <a:glow rad="50800">
                    <a:srgbClr val="FFFFFF"/>
                  </a:glow>
                </a:effectLst>
              </a:rPr>
              <a:t>남산동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92244" y="492440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69696"/>
                </a:solidFill>
                <a:effectLst>
                  <a:glow rad="50800">
                    <a:srgbClr val="FFFFFF"/>
                  </a:glow>
                </a:effectLst>
              </a:rPr>
              <a:t>금정구청룡노포동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