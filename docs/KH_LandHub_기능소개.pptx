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KH LandHub </a:t>
            </a:r>
            <a:r>
              <a:rPr sz="3000" b="1">
                <a:solidFill>
                  <a:srgbClr val="CADCFC"/>
                </a:solidFill>
                <a:latin typeface="맑은 고딕"/>
              </a:rPr>
              <a:t>화면 구성 및 주요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96012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D6DEEE"/>
                </a:solidFill>
                <a:latin typeface="맑은 고딕"/>
              </a:rPr>
              <a:t>구역계 한 장으로 현황분석부터 인허가 도서 작성까지 — 하나의 화면에서 처리</a:t>
            </a:r>
          </a:p>
        </p:txBody>
      </p:sp>
      <p:pic>
        <p:nvPicPr>
          <p:cNvPr id="6" name="Picture 5" descr="logo_kunh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384048"/>
            <a:ext cx="1017292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96312" y="1655064"/>
            <a:ext cx="7196328" cy="349211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ndhub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8" y="1691640"/>
            <a:ext cx="7123176" cy="341896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01168" y="1700784"/>
            <a:ext cx="2212848" cy="603504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700784"/>
            <a:ext cx="2212848" cy="60350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3864"/>
                </a:solidFill>
                <a:latin typeface="맑은 고딕"/>
              </a:rPr>
              <a:t>🔍  장소 검색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333333"/>
                </a:solidFill>
                <a:latin typeface="맑은 고딕"/>
              </a:rPr>
              <a:t>장소명을 입력하면 해당 위치로 지도가 즉시 이동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14016" y="2002536"/>
            <a:ext cx="261335" cy="31000"/>
          </a:xfrm>
          <a:prstGeom prst="line">
            <a:avLst/>
          </a:prstGeom>
          <a:ln w="1778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20487" y="1978672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1168" y="2404872"/>
            <a:ext cx="2212848" cy="603504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04872"/>
            <a:ext cx="2212848" cy="60350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3864"/>
                </a:solidFill>
                <a:latin typeface="맑은 고딕"/>
              </a:rPr>
              <a:t>①  구역계 범위 지정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333333"/>
                </a:solidFill>
                <a:latin typeface="맑은 고딕"/>
              </a:rPr>
              <a:t>DXF 업로드 또는 지도에서 직접 그리기로 사업지구 경계 지정 · 국내 전 좌표계 자동 변환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414016" y="2375433"/>
            <a:ext cx="261335" cy="331191"/>
          </a:xfrm>
          <a:prstGeom prst="line">
            <a:avLst/>
          </a:prstGeom>
          <a:ln w="1778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620487" y="2320569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1168" y="3108959"/>
            <a:ext cx="2212848" cy="603504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3108959"/>
            <a:ext cx="2212848" cy="60350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3864"/>
                </a:solidFill>
                <a:latin typeface="맑은 고딕"/>
              </a:rPr>
              <a:t>②  지도 레이어 · 데이터 추출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333333"/>
                </a:solidFill>
                <a:latin typeface="맑은 고딕"/>
              </a:rPr>
              <a:t>브이월드·국립생태원 등 공공 공간정보를 표시하고 DXF/SHP로 일괄 추출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414016" y="3264364"/>
            <a:ext cx="261335" cy="146347"/>
          </a:xfrm>
          <a:prstGeom prst="line">
            <a:avLst/>
          </a:prstGeom>
          <a:ln w="1778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620487" y="3209500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1168" y="3813048"/>
            <a:ext cx="2212848" cy="603504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" y="3813048"/>
            <a:ext cx="2212848" cy="60350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3864"/>
                </a:solidFill>
                <a:latin typeface="맑은 고딕"/>
              </a:rPr>
              <a:t>③  현황 분석 보고서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333333"/>
                </a:solidFill>
                <a:latin typeface="맑은 고딕"/>
              </a:rPr>
              <a:t>토지대장 자동분석(Excel), 공적장부(산지조서·협의서·소유자구분도), 현황분석 보고서(HWP) 자동 생성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14016" y="4114800"/>
            <a:ext cx="261335" cy="141064"/>
          </a:xfrm>
          <a:prstGeom prst="line">
            <a:avLst/>
          </a:prstGeom>
          <a:ln w="1778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620487" y="4201000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1168" y="4517136"/>
            <a:ext cx="2212848" cy="603504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4517136"/>
            <a:ext cx="2212848" cy="60350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F3864"/>
                </a:solidFill>
                <a:latin typeface="맑은 고딕"/>
              </a:rPr>
              <a:t>④  기타 도구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333333"/>
                </a:solidFill>
                <a:latin typeface="맑은 고딕"/>
              </a:rPr>
              <a:t>SHP → DXF 변환 등 부가 기능 제공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14016" y="4818888"/>
            <a:ext cx="261335" cy="189149"/>
          </a:xfrm>
          <a:prstGeom prst="line">
            <a:avLst/>
          </a:prstGeom>
          <a:ln w="1778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2620487" y="4953173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77679" y="2103120"/>
            <a:ext cx="2212848" cy="777240"/>
          </a:xfrm>
          <a:prstGeom prst="roundRect">
            <a:avLst>
              <a:gd name="adj" fmla="val 10000"/>
            </a:avLst>
          </a:prstGeom>
          <a:solidFill>
            <a:srgbClr val="FBF1E7"/>
          </a:solidFill>
          <a:ln w="9525">
            <a:solidFill>
              <a:srgbClr val="C05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7679" y="2103120"/>
            <a:ext cx="2212848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0561E"/>
                </a:solidFill>
                <a:latin typeface="맑은 고딕"/>
              </a:rPr>
              <a:t>📋  분석 결과 패널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333333"/>
                </a:solidFill>
                <a:latin typeface="맑은 고딕"/>
              </a:rPr>
              <a:t>분석 진행 상황과 결과를 실시간으로 안내</a:t>
            </a:r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8658819" y="2443812"/>
            <a:ext cx="1118860" cy="47927"/>
          </a:xfrm>
          <a:prstGeom prst="line">
            <a:avLst/>
          </a:prstGeom>
          <a:ln w="17780">
            <a:solidFill>
              <a:srgbClr val="C056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603955" y="2388948"/>
            <a:ext cx="109728" cy="109728"/>
          </a:xfrm>
          <a:prstGeom prst="ellipse">
            <a:avLst/>
          </a:prstGeom>
          <a:solidFill>
            <a:srgbClr val="C056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77679" y="3611880"/>
            <a:ext cx="2212848" cy="868680"/>
          </a:xfrm>
          <a:prstGeom prst="roundRect">
            <a:avLst>
              <a:gd name="adj" fmla="val 10000"/>
            </a:avLst>
          </a:prstGeom>
          <a:solidFill>
            <a:srgbClr val="FBF1E7"/>
          </a:solidFill>
          <a:ln w="9525">
            <a:solidFill>
              <a:srgbClr val="C05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77679" y="3611880"/>
            <a:ext cx="2212848" cy="868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0561E"/>
                </a:solidFill>
                <a:latin typeface="맑은 고딕"/>
              </a:rPr>
              <a:t>🗺️  인터랙티브 지도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333333"/>
                </a:solidFill>
                <a:latin typeface="맑은 고딕"/>
              </a:rPr>
              <a:t>일반·위성·하이브리드 배경 위에 분석 레이어를 겹쳐 시각화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7519111" y="3811398"/>
            <a:ext cx="2258568" cy="234822"/>
          </a:xfrm>
          <a:prstGeom prst="line">
            <a:avLst/>
          </a:prstGeom>
          <a:ln w="17780">
            <a:solidFill>
              <a:srgbClr val="C056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464247" y="3756534"/>
            <a:ext cx="109728" cy="109728"/>
          </a:xfrm>
          <a:prstGeom prst="ellipse">
            <a:avLst/>
          </a:prstGeom>
          <a:solidFill>
            <a:srgbClr val="C056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32888" y="5541264"/>
            <a:ext cx="7123176" cy="603504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32888" y="5541264"/>
            <a:ext cx="7123176" cy="60350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전문가가 아니어도, 구역계 한 장으로 사업지구의 토지·규제·환경 여건을 자동 분석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" y="5541264"/>
            <a:ext cx="2212848" cy="60350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280"/>
                </a:solidFill>
                <a:latin typeface="맑은 고딕"/>
              </a:rPr>
              <a:t>입력</a:t>
            </a:r>
            <a:r>
              <a:rPr sz="900" b="0">
                <a:solidFill>
                  <a:srgbClr val="333333"/>
                </a:solidFill>
                <a:latin typeface="맑은 고딕"/>
              </a:rPr>
              <a:t>  구역계 DXF 1장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280"/>
                </a:solidFill>
                <a:latin typeface="맑은 고딕"/>
              </a:rPr>
              <a:t>출력</a:t>
            </a:r>
            <a:r>
              <a:rPr sz="900" b="0">
                <a:solidFill>
                  <a:srgbClr val="333333"/>
                </a:solidFill>
                <a:latin typeface="맑은 고딕"/>
              </a:rPr>
              <a:t>  조서·보고서·도면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