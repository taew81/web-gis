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4"/>
  </p:notesMasterIdLst>
  <p:handoutMasterIdLst>
    <p:handoutMasterId r:id="rId5"/>
  </p:handoutMasterIdLst>
  <p:sldIdLst>
    <p:sldId id="315" r:id="rId2"/>
    <p:sldId id="316" r:id="rId3"/>
  </p:sldIdLst>
  <p:sldSz cx="7559675" cy="1069181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58" userDrawn="1">
          <p15:clr>
            <a:srgbClr val="A4A3A4"/>
          </p15:clr>
        </p15:guide>
        <p15:guide id="2" pos="2381" userDrawn="1">
          <p15:clr>
            <a:srgbClr val="A4A3A4"/>
          </p15:clr>
        </p15:guide>
        <p15:guide id="3" orient="horz" pos="5817" userDrawn="1">
          <p15:clr>
            <a:srgbClr val="A4A3A4"/>
          </p15:clr>
        </p15:guide>
        <p15:guide id="4" pos="2018" userDrawn="1">
          <p15:clr>
            <a:srgbClr val="A4A3A4"/>
          </p15:clr>
        </p15:guide>
        <p15:guide id="6" orient="horz" pos="6452" userDrawn="1">
          <p15:clr>
            <a:srgbClr val="A4A3A4"/>
          </p15:clr>
        </p15:guide>
        <p15:guide id="7" pos="2222" userDrawn="1">
          <p15:clr>
            <a:srgbClr val="A4A3A4"/>
          </p15:clr>
        </p15:guide>
        <p15:guide id="9" pos="544" userDrawn="1">
          <p15:clr>
            <a:srgbClr val="A4A3A4"/>
          </p15:clr>
        </p15:guide>
        <p15:guide id="10" orient="horz" userDrawn="1">
          <p15:clr>
            <a:srgbClr val="A4A3A4"/>
          </p15:clr>
        </p15:guide>
        <p15:guide id="11" pos="4331" userDrawn="1">
          <p15:clr>
            <a:srgbClr val="A4A3A4"/>
          </p15:clr>
        </p15:guide>
        <p15:guide id="12" pos="317" userDrawn="1">
          <p15:clr>
            <a:srgbClr val="A4A3A4"/>
          </p15:clr>
        </p15:guide>
        <p15:guide id="13" orient="horz" pos="4570" userDrawn="1">
          <p15:clr>
            <a:srgbClr val="A4A3A4"/>
          </p15:clr>
        </p15:guide>
        <p15:guide id="14" orient="horz" pos="3776" userDrawn="1">
          <p15:clr>
            <a:srgbClr val="A4A3A4"/>
          </p15:clr>
        </p15:guide>
        <p15:guide id="15" orient="horz" pos="5499" userDrawn="1">
          <p15:clr>
            <a:srgbClr val="A4A3A4"/>
          </p15:clr>
        </p15:guide>
        <p15:guide id="16" orient="horz" pos="986" userDrawn="1">
          <p15:clr>
            <a:srgbClr val="A4A3A4"/>
          </p15:clr>
        </p15:guide>
        <p15:guide id="17" orient="horz" pos="2506" userDrawn="1">
          <p15:clr>
            <a:srgbClr val="A4A3A4"/>
          </p15:clr>
        </p15:guide>
        <p15:guide id="18" orient="horz" pos="4071" userDrawn="1">
          <p15:clr>
            <a:srgbClr val="A4A3A4"/>
          </p15:clr>
        </p15:guide>
        <p15:guide id="19" pos="385" userDrawn="1">
          <p15:clr>
            <a:srgbClr val="A4A3A4"/>
          </p15:clr>
        </p15:guide>
        <p15:guide id="20" pos="3288" userDrawn="1">
          <p15:clr>
            <a:srgbClr val="A4A3A4"/>
          </p15:clr>
        </p15:guide>
        <p15:guide id="21" orient="horz" pos="3231" userDrawn="1">
          <p15:clr>
            <a:srgbClr val="A4A3A4"/>
          </p15:clr>
        </p15:guide>
        <p15:guide id="22" pos="24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96814D"/>
    <a:srgbClr val="E6B272"/>
    <a:srgbClr val="CEB080"/>
    <a:srgbClr val="DBC5A1"/>
    <a:srgbClr val="A0C0B6"/>
    <a:srgbClr val="EDE2D0"/>
    <a:srgbClr val="486C61"/>
    <a:srgbClr val="20517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68" autoAdjust="0"/>
    <p:restoredTop sz="96366" autoAdjust="0"/>
  </p:normalViewPr>
  <p:slideViewPr>
    <p:cSldViewPr snapToGrid="0">
      <p:cViewPr>
        <p:scale>
          <a:sx n="300" d="100"/>
          <a:sy n="300" d="100"/>
        </p:scale>
        <p:origin x="-4446" y="-5304"/>
      </p:cViewPr>
      <p:guideLst>
        <p:guide orient="horz" pos="3458"/>
        <p:guide pos="2381"/>
        <p:guide orient="horz" pos="5817"/>
        <p:guide pos="2018"/>
        <p:guide orient="horz" pos="6452"/>
        <p:guide pos="2222"/>
        <p:guide pos="544"/>
        <p:guide orient="horz"/>
        <p:guide pos="4331"/>
        <p:guide pos="317"/>
        <p:guide orient="horz" pos="4570"/>
        <p:guide orient="horz" pos="3776"/>
        <p:guide orient="horz" pos="5499"/>
        <p:guide orient="horz" pos="986"/>
        <p:guide orient="horz" pos="2506"/>
        <p:guide orient="horz" pos="4071"/>
        <p:guide pos="385"/>
        <p:guide pos="3288"/>
        <p:guide orient="horz" pos="3231"/>
        <p:guide pos="24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-3930" y="-9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7" y="6"/>
            <a:ext cx="3078427" cy="513508"/>
          </a:xfrm>
          <a:prstGeom prst="rect">
            <a:avLst/>
          </a:prstGeom>
        </p:spPr>
        <p:txBody>
          <a:bodyPr vert="horz" lIns="94479" tIns="47236" rIns="94479" bIns="472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003" y="6"/>
            <a:ext cx="3078427" cy="513508"/>
          </a:xfrm>
          <a:prstGeom prst="rect">
            <a:avLst/>
          </a:prstGeom>
        </p:spPr>
        <p:txBody>
          <a:bodyPr vert="horz" lIns="94479" tIns="47236" rIns="94479" bIns="47236" rtlCol="0"/>
          <a:lstStyle>
            <a:lvl1pPr algn="r">
              <a:defRPr sz="1200"/>
            </a:lvl1pPr>
          </a:lstStyle>
          <a:p>
            <a:fld id="{AE2A4034-F993-4E80-901F-B38D00B2D4E0}" type="datetimeFigureOut">
              <a:rPr lang="ko-KR" altLang="en-US" smtClean="0"/>
              <a:pPr/>
              <a:t>2026-05-06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7" y="9721115"/>
            <a:ext cx="3078427" cy="513507"/>
          </a:xfrm>
          <a:prstGeom prst="rect">
            <a:avLst/>
          </a:prstGeom>
        </p:spPr>
        <p:txBody>
          <a:bodyPr vert="horz" lIns="94479" tIns="47236" rIns="94479" bIns="472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003" y="9721115"/>
            <a:ext cx="3078427" cy="513507"/>
          </a:xfrm>
          <a:prstGeom prst="rect">
            <a:avLst/>
          </a:prstGeom>
        </p:spPr>
        <p:txBody>
          <a:bodyPr vert="horz" lIns="94479" tIns="47236" rIns="94479" bIns="47236" rtlCol="0" anchor="b"/>
          <a:lstStyle>
            <a:lvl1pPr algn="r">
              <a:defRPr sz="1200"/>
            </a:lvl1pPr>
          </a:lstStyle>
          <a:p>
            <a:fld id="{5A5F64A9-2D13-40B1-8B52-44AB23F2A86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65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7" y="6"/>
            <a:ext cx="3078427" cy="513508"/>
          </a:xfrm>
          <a:prstGeom prst="rect">
            <a:avLst/>
          </a:prstGeom>
        </p:spPr>
        <p:txBody>
          <a:bodyPr vert="horz" lIns="94479" tIns="47236" rIns="94479" bIns="472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003" y="6"/>
            <a:ext cx="3078427" cy="513508"/>
          </a:xfrm>
          <a:prstGeom prst="rect">
            <a:avLst/>
          </a:prstGeom>
        </p:spPr>
        <p:txBody>
          <a:bodyPr vert="horz" lIns="94479" tIns="47236" rIns="94479" bIns="47236" rtlCol="0"/>
          <a:lstStyle>
            <a:lvl1pPr algn="r">
              <a:defRPr sz="1200"/>
            </a:lvl1pPr>
          </a:lstStyle>
          <a:p>
            <a:fld id="{CF1F1773-2A2D-4825-AAC9-EC6A4D15BBA6}" type="datetimeFigureOut">
              <a:rPr lang="ko-KR" altLang="en-US" smtClean="0"/>
              <a:pPr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279525"/>
            <a:ext cx="243998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9" tIns="47236" rIns="94479" bIns="472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18"/>
            <a:ext cx="5683250" cy="4029877"/>
          </a:xfrm>
          <a:prstGeom prst="rect">
            <a:avLst/>
          </a:prstGeom>
        </p:spPr>
        <p:txBody>
          <a:bodyPr vert="horz" lIns="94479" tIns="47236" rIns="94479" bIns="4723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7" y="9721115"/>
            <a:ext cx="3078427" cy="513507"/>
          </a:xfrm>
          <a:prstGeom prst="rect">
            <a:avLst/>
          </a:prstGeom>
        </p:spPr>
        <p:txBody>
          <a:bodyPr vert="horz" lIns="94479" tIns="47236" rIns="94479" bIns="472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003" y="9721115"/>
            <a:ext cx="3078427" cy="513507"/>
          </a:xfrm>
          <a:prstGeom prst="rect">
            <a:avLst/>
          </a:prstGeom>
        </p:spPr>
        <p:txBody>
          <a:bodyPr vert="horz" lIns="94479" tIns="47236" rIns="94479" bIns="47236" rtlCol="0" anchor="b"/>
          <a:lstStyle>
            <a:lvl1pPr algn="r">
              <a:defRPr sz="1200"/>
            </a:lvl1pPr>
          </a:lstStyle>
          <a:p>
            <a:fld id="{6C904594-9FE2-45B3-8520-40FB397A9E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43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904594-9FE2-45B3-8520-40FB397A9E32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48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38"/>
          <a:stretch/>
        </p:blipFill>
        <p:spPr>
          <a:xfrm>
            <a:off x="0" y="13648"/>
            <a:ext cx="7559674" cy="701263"/>
          </a:xfrm>
          <a:prstGeom prst="rect">
            <a:avLst/>
          </a:prstGeom>
        </p:spPr>
      </p:pic>
      <p:sp>
        <p:nvSpPr>
          <p:cNvPr id="21" name="직사각형 20"/>
          <p:cNvSpPr/>
          <p:nvPr userDrawn="1"/>
        </p:nvSpPr>
        <p:spPr>
          <a:xfrm rot="10800000">
            <a:off x="-2" y="701264"/>
            <a:ext cx="7559676" cy="277179"/>
          </a:xfrm>
          <a:prstGeom prst="rect">
            <a:avLst/>
          </a:prstGeom>
          <a:gradFill flip="none" rotWithShape="1">
            <a:gsLst>
              <a:gs pos="0">
                <a:srgbClr val="EAEAEA"/>
              </a:gs>
              <a:gs pos="46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0" y="0"/>
            <a:ext cx="1994871" cy="856397"/>
            <a:chOff x="226756" y="-1"/>
            <a:chExt cx="1994871" cy="856397"/>
          </a:xfrm>
        </p:grpSpPr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12" t="52370" b="19729"/>
            <a:stretch/>
          </p:blipFill>
          <p:spPr>
            <a:xfrm flipV="1">
              <a:off x="226756" y="-1"/>
              <a:ext cx="1994871" cy="856397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3" t="52370" b="19729"/>
            <a:stretch/>
          </p:blipFill>
          <p:spPr>
            <a:xfrm flipV="1">
              <a:off x="228342" y="-1"/>
              <a:ext cx="1993284" cy="856397"/>
            </a:xfrm>
            <a:prstGeom prst="rect">
              <a:avLst/>
            </a:prstGeom>
          </p:spPr>
        </p:pic>
      </p:grpSp>
      <p:cxnSp>
        <p:nvCxnSpPr>
          <p:cNvPr id="26" name="직선 연결선 25"/>
          <p:cNvCxnSpPr>
            <a:cxnSpLocks/>
          </p:cNvCxnSpPr>
          <p:nvPr userDrawn="1"/>
        </p:nvCxnSpPr>
        <p:spPr>
          <a:xfrm flipH="1">
            <a:off x="-13958" y="704823"/>
            <a:ext cx="75736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 userDrawn="1"/>
        </p:nvSpPr>
        <p:spPr>
          <a:xfrm>
            <a:off x="795123" y="350452"/>
            <a:ext cx="1875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업무관리능력 평가서</a:t>
            </a:r>
          </a:p>
        </p:txBody>
      </p:sp>
      <p:sp>
        <p:nvSpPr>
          <p:cNvPr id="29" name="직사각형 28"/>
          <p:cNvSpPr/>
          <p:nvPr userDrawn="1"/>
        </p:nvSpPr>
        <p:spPr>
          <a:xfrm>
            <a:off x="457200" y="0"/>
            <a:ext cx="320668" cy="704823"/>
          </a:xfrm>
          <a:prstGeom prst="rect">
            <a:avLst/>
          </a:prstGeom>
          <a:solidFill>
            <a:srgbClr val="7CA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 userDrawn="1"/>
        </p:nvSpPr>
        <p:spPr>
          <a:xfrm>
            <a:off x="457200" y="381000"/>
            <a:ext cx="320668" cy="323823"/>
          </a:xfrm>
          <a:prstGeom prst="rect">
            <a:avLst/>
          </a:prstGeom>
          <a:gradFill flip="none" rotWithShape="1">
            <a:gsLst>
              <a:gs pos="0">
                <a:srgbClr val="7CA89A">
                  <a:shade val="30000"/>
                  <a:satMod val="115000"/>
                  <a:alpha val="20000"/>
                </a:srgbClr>
              </a:gs>
              <a:gs pos="15000">
                <a:srgbClr val="7CA89A">
                  <a:shade val="100000"/>
                  <a:satMod val="115000"/>
                  <a:alpha val="53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 userDrawn="1"/>
        </p:nvSpPr>
        <p:spPr>
          <a:xfrm>
            <a:off x="404976" y="350460"/>
            <a:ext cx="425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02</a:t>
            </a:r>
            <a:endParaRPr lang="ko-KR" altLang="en-US" sz="16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2" name="그림 3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3" t="67759" r="54871" b="19729"/>
          <a:stretch/>
        </p:blipFill>
        <p:spPr>
          <a:xfrm flipV="1">
            <a:off x="457200" y="-3"/>
            <a:ext cx="320668" cy="3840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0F974D3-C112-E2BD-80B6-56173FBB4B2D}"/>
              </a:ext>
            </a:extLst>
          </p:cNvPr>
          <p:cNvSpPr txBox="1"/>
          <p:nvPr userDrawn="1"/>
        </p:nvSpPr>
        <p:spPr>
          <a:xfrm>
            <a:off x="5279954" y="384031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 latinLnBrk="0"/>
            <a:r>
              <a:rPr lang="ko-KR" altLang="en-US" sz="1000" b="1" kern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내포 역세권 도시개발사업 조사설계 용역</a:t>
            </a:r>
            <a:endParaRPr lang="en-US" altLang="ko-KR" sz="1000" b="1" kern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F94F82AB-6919-99ED-4DFE-8BCEF32074E3}"/>
              </a:ext>
            </a:extLst>
          </p:cNvPr>
          <p:cNvSpPr txBox="1">
            <a:spLocks/>
          </p:cNvSpPr>
          <p:nvPr userDrawn="1"/>
        </p:nvSpPr>
        <p:spPr>
          <a:xfrm>
            <a:off x="6591295" y="10421641"/>
            <a:ext cx="555774" cy="1427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spcBef>
                <a:spcPts val="200"/>
              </a:spcBef>
              <a:defRPr lang="ko-KR" altLang="en-US" sz="900" b="1" kern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3381094-EBE6-451C-92A3-2E56BDE5D2A6}" type="slidenum">
              <a:rPr lang="en-US" altLang="ko-KR" smtClean="0"/>
              <a:pPr algn="r"/>
              <a:t>‹#›</a:t>
            </a:fld>
            <a:endParaRPr 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2E9D1D6-4B76-1465-FCF4-66F82B32FD5B}"/>
              </a:ext>
            </a:extLst>
          </p:cNvPr>
          <p:cNvCxnSpPr>
            <a:cxnSpLocks/>
          </p:cNvCxnSpPr>
          <p:nvPr userDrawn="1"/>
        </p:nvCxnSpPr>
        <p:spPr>
          <a:xfrm>
            <a:off x="6675045" y="10450439"/>
            <a:ext cx="0" cy="2413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충남개발공사, 지방공기업 고객만족도 최우수 기관 선정 | 연합뉴스">
            <a:extLst>
              <a:ext uri="{FF2B5EF4-FFF2-40B4-BE49-F238E27FC236}">
                <a16:creationId xmlns:a16="http://schemas.microsoft.com/office/drawing/2014/main" id="{23F8F364-A11A-4795-2250-2E3E9B6E23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537" y="10389394"/>
            <a:ext cx="514221" cy="30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620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7">
          <p15:clr>
            <a:srgbClr val="FBAE40"/>
          </p15:clr>
        </p15:guide>
        <p15:guide id="2" pos="2381">
          <p15:clr>
            <a:srgbClr val="FBAE40"/>
          </p15:clr>
        </p15:guide>
        <p15:guide id="3" orient="horz" pos="6543" userDrawn="1">
          <p15:clr>
            <a:srgbClr val="FBAE40"/>
          </p15:clr>
        </p15:guide>
        <p15:guide id="4" pos="30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38"/>
          <a:stretch/>
        </p:blipFill>
        <p:spPr>
          <a:xfrm>
            <a:off x="0" y="13648"/>
            <a:ext cx="7559674" cy="701263"/>
          </a:xfrm>
          <a:prstGeom prst="rect">
            <a:avLst/>
          </a:prstGeom>
        </p:spPr>
      </p:pic>
      <p:grpSp>
        <p:nvGrpSpPr>
          <p:cNvPr id="24" name="그룹 23"/>
          <p:cNvGrpSpPr/>
          <p:nvPr userDrawn="1"/>
        </p:nvGrpSpPr>
        <p:grpSpPr>
          <a:xfrm>
            <a:off x="0" y="0"/>
            <a:ext cx="1994871" cy="856397"/>
            <a:chOff x="226756" y="-1"/>
            <a:chExt cx="1994871" cy="856397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12" t="52370" b="19729"/>
            <a:stretch/>
          </p:blipFill>
          <p:spPr>
            <a:xfrm flipV="1">
              <a:off x="226756" y="-1"/>
              <a:ext cx="1994871" cy="856397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3" t="52370" b="19729"/>
            <a:stretch/>
          </p:blipFill>
          <p:spPr>
            <a:xfrm flipV="1">
              <a:off x="228342" y="-1"/>
              <a:ext cx="1993284" cy="856397"/>
            </a:xfrm>
            <a:prstGeom prst="rect">
              <a:avLst/>
            </a:prstGeom>
          </p:spPr>
        </p:pic>
      </p:grpSp>
      <p:sp>
        <p:nvSpPr>
          <p:cNvPr id="27" name="직사각형 26"/>
          <p:cNvSpPr/>
          <p:nvPr userDrawn="1"/>
        </p:nvSpPr>
        <p:spPr>
          <a:xfrm>
            <a:off x="457200" y="0"/>
            <a:ext cx="320668" cy="704823"/>
          </a:xfrm>
          <a:prstGeom prst="rect">
            <a:avLst/>
          </a:prstGeom>
          <a:solidFill>
            <a:srgbClr val="7CA8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 userDrawn="1"/>
        </p:nvSpPr>
        <p:spPr>
          <a:xfrm>
            <a:off x="457200" y="381000"/>
            <a:ext cx="320668" cy="323823"/>
          </a:xfrm>
          <a:prstGeom prst="rect">
            <a:avLst/>
          </a:prstGeom>
          <a:gradFill flip="none" rotWithShape="1">
            <a:gsLst>
              <a:gs pos="0">
                <a:srgbClr val="7CA89A">
                  <a:shade val="30000"/>
                  <a:satMod val="115000"/>
                  <a:alpha val="20000"/>
                </a:srgbClr>
              </a:gs>
              <a:gs pos="15000">
                <a:srgbClr val="7CA89A">
                  <a:shade val="100000"/>
                  <a:satMod val="115000"/>
                  <a:alpha val="53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 userDrawn="1"/>
        </p:nvSpPr>
        <p:spPr>
          <a:xfrm>
            <a:off x="795123" y="350460"/>
            <a:ext cx="15103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기술능력 평가서</a:t>
            </a:r>
          </a:p>
        </p:txBody>
      </p:sp>
      <p:sp>
        <p:nvSpPr>
          <p:cNvPr id="33" name="TextBox 32"/>
          <p:cNvSpPr txBox="1"/>
          <p:nvPr userDrawn="1"/>
        </p:nvSpPr>
        <p:spPr>
          <a:xfrm>
            <a:off x="404976" y="350460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01</a:t>
            </a:r>
            <a:endParaRPr lang="ko-KR" altLang="en-US" sz="16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4" name="직사각형 33"/>
          <p:cNvSpPr/>
          <p:nvPr userDrawn="1"/>
        </p:nvSpPr>
        <p:spPr>
          <a:xfrm rot="10800000">
            <a:off x="-2" y="701264"/>
            <a:ext cx="7559676" cy="277179"/>
          </a:xfrm>
          <a:prstGeom prst="rect">
            <a:avLst/>
          </a:prstGeom>
          <a:gradFill flip="none" rotWithShape="1">
            <a:gsLst>
              <a:gs pos="0">
                <a:srgbClr val="EAEAEA"/>
              </a:gs>
              <a:gs pos="46000">
                <a:schemeClr val="bg1">
                  <a:shade val="100000"/>
                  <a:satMod val="115000"/>
                </a:schemeClr>
              </a:gs>
            </a:gsLst>
            <a:lin ang="162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lt1"/>
              </a:solidFill>
            </a:endParaRPr>
          </a:p>
        </p:txBody>
      </p:sp>
      <p:cxnSp>
        <p:nvCxnSpPr>
          <p:cNvPr id="39" name="직선 연결선 38"/>
          <p:cNvCxnSpPr>
            <a:cxnSpLocks/>
          </p:cNvCxnSpPr>
          <p:nvPr userDrawn="1"/>
        </p:nvCxnSpPr>
        <p:spPr>
          <a:xfrm flipH="1">
            <a:off x="-13958" y="704823"/>
            <a:ext cx="75736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3" t="67759" r="54871" b="19729"/>
          <a:stretch/>
        </p:blipFill>
        <p:spPr>
          <a:xfrm flipV="1">
            <a:off x="457200" y="-3"/>
            <a:ext cx="320668" cy="38403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0F974D3-C112-E2BD-80B6-56173FBB4B2D}"/>
              </a:ext>
            </a:extLst>
          </p:cNvPr>
          <p:cNvSpPr txBox="1"/>
          <p:nvPr userDrawn="1"/>
        </p:nvSpPr>
        <p:spPr>
          <a:xfrm>
            <a:off x="5279954" y="384031"/>
            <a:ext cx="22349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 latinLnBrk="0"/>
            <a:r>
              <a:rPr lang="ko-KR" altLang="en-US" sz="1000" b="1" kern="120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내포 역세권 도시개발사업 조사설계 용역</a:t>
            </a:r>
            <a:endParaRPr lang="en-US" altLang="ko-KR" sz="1000" b="1" kern="12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EF6D066-6F80-19F9-6C47-E829713BFFFE}"/>
              </a:ext>
            </a:extLst>
          </p:cNvPr>
          <p:cNvSpPr txBox="1">
            <a:spLocks/>
          </p:cNvSpPr>
          <p:nvPr userDrawn="1"/>
        </p:nvSpPr>
        <p:spPr>
          <a:xfrm>
            <a:off x="6591295" y="10421641"/>
            <a:ext cx="555774" cy="1427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457200" rtl="0" eaLnBrk="1" latinLnBrk="0" hangingPunct="1">
              <a:spcBef>
                <a:spcPts val="200"/>
              </a:spcBef>
              <a:defRPr lang="ko-KR" altLang="en-US" sz="900" b="1" kern="120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3381094-EBE6-451C-92A3-2E56BDE5D2A6}" type="slidenum">
              <a:rPr lang="en-US" altLang="ko-KR" smtClean="0"/>
              <a:pPr algn="r"/>
              <a:t>‹#›</a:t>
            </a:fld>
            <a:endParaRPr 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5902430-3C90-9C60-3385-D38FF36504E5}"/>
              </a:ext>
            </a:extLst>
          </p:cNvPr>
          <p:cNvCxnSpPr>
            <a:cxnSpLocks/>
          </p:cNvCxnSpPr>
          <p:nvPr userDrawn="1"/>
        </p:nvCxnSpPr>
        <p:spPr>
          <a:xfrm>
            <a:off x="6675045" y="10450439"/>
            <a:ext cx="0" cy="2413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충남개발공사, 지방공기업 고객만족도 최우수 기관 선정 | 연합뉴스">
            <a:extLst>
              <a:ext uri="{FF2B5EF4-FFF2-40B4-BE49-F238E27FC236}">
                <a16:creationId xmlns:a16="http://schemas.microsoft.com/office/drawing/2014/main" id="{23F8F364-A11A-4795-2250-2E3E9B6E23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537" y="10389394"/>
            <a:ext cx="514221" cy="30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889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7">
          <p15:clr>
            <a:srgbClr val="FBAE40"/>
          </p15:clr>
        </p15:guide>
        <p15:guide id="2" pos="238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19728" y="569241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19728" y="9909727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8335F-84AC-4998-916B-B945E14A1945}" type="datetimeFigureOut">
              <a:rPr lang="ko-KR" altLang="en-US" smtClean="0"/>
              <a:pPr/>
              <a:t>2026-05-06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504143" y="9909727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339020" y="9909727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81094-EBE6-451C-92A3-2E56BDE5D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11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txStyles>
    <p:titleStyle>
      <a:lvl1pPr algn="l" defTabSz="567019" rtl="0" eaLnBrk="1" latinLnBrk="1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55" indent="-141755" algn="l" defTabSz="567019" rtl="0" eaLnBrk="1" latinLnBrk="1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65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774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284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794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30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81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32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833" indent="-141755" algn="l" defTabSz="567019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701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52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549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1058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568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8078" algn="l" defTabSz="567019" rtl="0" eaLnBrk="1" latinLnBrk="1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5" Type="http://schemas.microsoft.com/office/2007/relationships/hdphoto" Target="../media/hdphoto4.wdp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 descr="텍스트, 지도, 도표이(가) 표시된 사진&#10;&#10;자동 생성된 설명">
            <a:extLst>
              <a:ext uri="{FF2B5EF4-FFF2-40B4-BE49-F238E27FC236}">
                <a16:creationId xmlns:a16="http://schemas.microsoft.com/office/drawing/2014/main" id="{50417CB2-94E4-FEA2-5F56-9989CDA0B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contrast="16000"/>
                    </a14:imgEffect>
                  </a14:imgLayer>
                </a14:imgProps>
              </a:ext>
            </a:extLst>
          </a:blip>
          <a:srcRect l="21418" t="9771" r="-11229" b="11907"/>
          <a:stretch/>
        </p:blipFill>
        <p:spPr>
          <a:xfrm>
            <a:off x="389640" y="6782400"/>
            <a:ext cx="5569200" cy="34344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FD32F9C4-AE73-8B70-3250-BE98B9AB7AB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7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426"/>
          <a:stretch/>
        </p:blipFill>
        <p:spPr>
          <a:xfrm rot="5674183" flipV="1">
            <a:off x="966442" y="6616653"/>
            <a:ext cx="2902942" cy="3315596"/>
          </a:xfrm>
          <a:custGeom>
            <a:avLst/>
            <a:gdLst>
              <a:gd name="connsiteX0" fmla="*/ 0 w 2613182"/>
              <a:gd name="connsiteY0" fmla="*/ 0 h 3248899"/>
              <a:gd name="connsiteX1" fmla="*/ 2613182 w 2613182"/>
              <a:gd name="connsiteY1" fmla="*/ 0 h 3248899"/>
              <a:gd name="connsiteX2" fmla="*/ 2613182 w 2613182"/>
              <a:gd name="connsiteY2" fmla="*/ 3248899 h 3248899"/>
              <a:gd name="connsiteX3" fmla="*/ 0 w 2613182"/>
              <a:gd name="connsiteY3" fmla="*/ 3248899 h 324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3182" h="3248899">
                <a:moveTo>
                  <a:pt x="0" y="0"/>
                </a:moveTo>
                <a:lnTo>
                  <a:pt x="2613182" y="0"/>
                </a:lnTo>
                <a:lnTo>
                  <a:pt x="2613182" y="3248899"/>
                </a:lnTo>
                <a:lnTo>
                  <a:pt x="0" y="3248899"/>
                </a:lnTo>
                <a:close/>
              </a:path>
            </a:pathLst>
          </a:cu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84C1C041-E692-6A27-C93D-20389F2649E1}"/>
              </a:ext>
            </a:extLst>
          </p:cNvPr>
          <p:cNvSpPr/>
          <p:nvPr/>
        </p:nvSpPr>
        <p:spPr>
          <a:xfrm>
            <a:off x="2974351" y="6457128"/>
            <a:ext cx="1489896" cy="316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9" name="직사각형 408"/>
          <p:cNvSpPr/>
          <p:nvPr/>
        </p:nvSpPr>
        <p:spPr>
          <a:xfrm rot="10800000">
            <a:off x="2764230" y="3766972"/>
            <a:ext cx="2158996" cy="2807193"/>
          </a:xfrm>
          <a:prstGeom prst="rect">
            <a:avLst/>
          </a:prstGeom>
          <a:gradFill>
            <a:gsLst>
              <a:gs pos="37000">
                <a:srgbClr val="FBFDFE">
                  <a:alpha val="19000"/>
                </a:srgbClr>
              </a:gs>
              <a:gs pos="0">
                <a:schemeClr val="accent1">
                  <a:lumMod val="5000"/>
                  <a:lumOff val="95000"/>
                  <a:alpha val="12000"/>
                </a:schemeClr>
              </a:gs>
              <a:gs pos="100000">
                <a:srgbClr val="FDFEFF"/>
              </a:gs>
              <a:gs pos="67000">
                <a:schemeClr val="bg1"/>
              </a:gs>
            </a:gsLst>
            <a:lin ang="0" scaled="0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 dirty="0"/>
          </a:p>
        </p:txBody>
      </p:sp>
      <p:sp>
        <p:nvSpPr>
          <p:cNvPr id="301" name="TextBox 300"/>
          <p:cNvSpPr txBox="1"/>
          <p:nvPr/>
        </p:nvSpPr>
        <p:spPr>
          <a:xfrm>
            <a:off x="386088" y="924342"/>
            <a:ext cx="313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1.1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당해 </a:t>
            </a:r>
            <a:r>
              <a:rPr lang="ko-KR" altLang="en-US" sz="1600" b="1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</a:rPr>
              <a:t>사업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의 내용 및 이해도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768844" y="1559173"/>
            <a:ext cx="60947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defTabSz="457200" latinLnBrk="0">
              <a:buClr>
                <a:prstClr val="white">
                  <a:lumMod val="75000"/>
                </a:prst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내포 역세권 도시개발사업 </a:t>
            </a:r>
            <a:r>
              <a:rPr lang="ko-KR" altLang="en-US" sz="110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조사설계 용역</a:t>
            </a:r>
            <a:endParaRPr lang="ko-KR" altLang="en-US" sz="11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3" name="TextBox 302"/>
          <p:cNvSpPr txBox="1"/>
          <p:nvPr/>
        </p:nvSpPr>
        <p:spPr>
          <a:xfrm>
            <a:off x="626227" y="1277831"/>
            <a:ext cx="14115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명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 </a:t>
            </a:r>
            <a:endParaRPr kumimoji="0" lang="ko-KR" altLang="en-US" sz="1300" b="1" i="0" u="none" strike="noStrike" kern="120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626227" y="1803023"/>
            <a:ext cx="14115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의 특성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402815" y="1277831"/>
            <a:ext cx="3171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1)</a:t>
            </a:r>
            <a:endParaRPr kumimoji="0" lang="ko-KR" altLang="en-US" sz="1300" b="1" i="0" u="none" strike="noStrike" kern="120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402814" y="1803023"/>
            <a:ext cx="3525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2)</a:t>
            </a:r>
            <a:endParaRPr kumimoji="0" lang="ko-KR" altLang="en-US" sz="1300" b="1" i="0" u="none" strike="noStrike" kern="120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642575" y="6454520"/>
            <a:ext cx="3847063" cy="28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ko-KR" altLang="en-US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 수행상 주안점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424265" y="6456717"/>
            <a:ext cx="302561" cy="285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en-US" altLang="ko-KR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</a:t>
            </a:r>
            <a:endParaRPr lang="ko-KR" altLang="en-US" sz="1269" b="1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26" name="TextBox 625"/>
          <p:cNvSpPr txBox="1"/>
          <p:nvPr/>
        </p:nvSpPr>
        <p:spPr>
          <a:xfrm>
            <a:off x="642575" y="6454520"/>
            <a:ext cx="3847063" cy="28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ko-KR" altLang="en-US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 수행상 주안점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424265" y="6456717"/>
            <a:ext cx="302561" cy="285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en-US" altLang="ko-KR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</a:t>
            </a:r>
            <a:endParaRPr lang="ko-KR" altLang="en-US" sz="1269" b="1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70" name="직사각형 669"/>
          <p:cNvSpPr/>
          <p:nvPr/>
        </p:nvSpPr>
        <p:spPr>
          <a:xfrm>
            <a:off x="2974351" y="6457128"/>
            <a:ext cx="1489896" cy="316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직사각형 251"/>
          <p:cNvSpPr/>
          <p:nvPr/>
        </p:nvSpPr>
        <p:spPr>
          <a:xfrm rot="10800000">
            <a:off x="2877491" y="4025950"/>
            <a:ext cx="2369820" cy="2609058"/>
          </a:xfrm>
          <a:prstGeom prst="rect">
            <a:avLst/>
          </a:prstGeom>
          <a:gradFill>
            <a:gsLst>
              <a:gs pos="37000">
                <a:srgbClr val="FBFDFE">
                  <a:alpha val="19000"/>
                </a:srgbClr>
              </a:gs>
              <a:gs pos="0">
                <a:schemeClr val="accent1">
                  <a:lumMod val="5000"/>
                  <a:lumOff val="95000"/>
                  <a:alpha val="12000"/>
                </a:schemeClr>
              </a:gs>
              <a:gs pos="100000">
                <a:srgbClr val="FDFEFF"/>
              </a:gs>
              <a:gs pos="67000">
                <a:schemeClr val="bg1"/>
              </a:gs>
            </a:gsLst>
            <a:lin ang="0" scaled="0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 dirty="0"/>
          </a:p>
        </p:txBody>
      </p:sp>
      <p:sp>
        <p:nvSpPr>
          <p:cNvPr id="518" name="직사각형 517"/>
          <p:cNvSpPr/>
          <p:nvPr/>
        </p:nvSpPr>
        <p:spPr>
          <a:xfrm rot="10800000">
            <a:off x="2764230" y="3766972"/>
            <a:ext cx="2158996" cy="2807193"/>
          </a:xfrm>
          <a:prstGeom prst="rect">
            <a:avLst/>
          </a:prstGeom>
          <a:gradFill>
            <a:gsLst>
              <a:gs pos="37000">
                <a:srgbClr val="FBFDFE">
                  <a:alpha val="19000"/>
                </a:srgbClr>
              </a:gs>
              <a:gs pos="0">
                <a:schemeClr val="accent1">
                  <a:lumMod val="5000"/>
                  <a:lumOff val="95000"/>
                  <a:alpha val="12000"/>
                </a:schemeClr>
              </a:gs>
              <a:gs pos="100000">
                <a:srgbClr val="FDFEFF"/>
              </a:gs>
              <a:gs pos="67000">
                <a:schemeClr val="bg1"/>
              </a:gs>
            </a:gsLst>
            <a:lin ang="0" scaled="0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 dirty="0"/>
          </a:p>
        </p:txBody>
      </p:sp>
      <p:sp>
        <p:nvSpPr>
          <p:cNvPr id="519" name="TextBox 518"/>
          <p:cNvSpPr txBox="1"/>
          <p:nvPr/>
        </p:nvSpPr>
        <p:spPr>
          <a:xfrm>
            <a:off x="402814" y="3718752"/>
            <a:ext cx="14115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3)</a:t>
            </a:r>
            <a:endParaRPr kumimoji="0" lang="ko-KR" altLang="en-US" sz="1300" b="1" i="0" u="none" strike="noStrike" kern="1200" cap="none" spc="0" normalizeH="0" baseline="0" noProof="0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520" name="TextBox 519"/>
          <p:cNvSpPr txBox="1"/>
          <p:nvPr/>
        </p:nvSpPr>
        <p:spPr>
          <a:xfrm>
            <a:off x="626403" y="3718752"/>
            <a:ext cx="14115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t>내용 및 범위</a:t>
            </a:r>
          </a:p>
        </p:txBody>
      </p:sp>
      <p:sp>
        <p:nvSpPr>
          <p:cNvPr id="521" name="직사각형 520"/>
          <p:cNvSpPr/>
          <p:nvPr/>
        </p:nvSpPr>
        <p:spPr>
          <a:xfrm rot="10800000">
            <a:off x="2877491" y="4025950"/>
            <a:ext cx="2369820" cy="2609058"/>
          </a:xfrm>
          <a:prstGeom prst="rect">
            <a:avLst/>
          </a:prstGeom>
          <a:gradFill>
            <a:gsLst>
              <a:gs pos="37000">
                <a:srgbClr val="FBFDFE">
                  <a:alpha val="19000"/>
                </a:srgbClr>
              </a:gs>
              <a:gs pos="0">
                <a:schemeClr val="accent1">
                  <a:lumMod val="5000"/>
                  <a:lumOff val="95000"/>
                  <a:alpha val="12000"/>
                </a:schemeClr>
              </a:gs>
              <a:gs pos="100000">
                <a:srgbClr val="FDFEFF"/>
              </a:gs>
              <a:gs pos="67000">
                <a:schemeClr val="bg1"/>
              </a:gs>
            </a:gsLst>
            <a:lin ang="0" scaled="0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 dirty="0"/>
          </a:p>
        </p:txBody>
      </p:sp>
      <p:pic>
        <p:nvPicPr>
          <p:cNvPr id="458" name="그림 457" descr="텍스트, 지도, 아틀라스이(가) 표시된 사진&#10;&#10;자동 생성된 설명">
            <a:extLst>
              <a:ext uri="{FF2B5EF4-FFF2-40B4-BE49-F238E27FC236}">
                <a16:creationId xmlns:a16="http://schemas.microsoft.com/office/drawing/2014/main" id="{3CCEE22A-284E-1C1F-6EA3-B428D512ED3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0209" t="7162" r="10209" b="5774"/>
          <a:stretch/>
        </p:blipFill>
        <p:spPr>
          <a:xfrm>
            <a:off x="3102378" y="3993997"/>
            <a:ext cx="4047682" cy="2492088"/>
          </a:xfrm>
          <a:prstGeom prst="rect">
            <a:avLst/>
          </a:prstGeom>
        </p:spPr>
      </p:pic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C8CBF501-C332-05B8-7672-8BF04D47585D}"/>
              </a:ext>
            </a:extLst>
          </p:cNvPr>
          <p:cNvSpPr/>
          <p:nvPr/>
        </p:nvSpPr>
        <p:spPr>
          <a:xfrm rot="10800000">
            <a:off x="2992607" y="3978835"/>
            <a:ext cx="1668216" cy="2609058"/>
          </a:xfrm>
          <a:prstGeom prst="rect">
            <a:avLst/>
          </a:prstGeom>
          <a:gradFill>
            <a:gsLst>
              <a:gs pos="37000">
                <a:srgbClr val="FBFDFE">
                  <a:alpha val="19000"/>
                </a:srgbClr>
              </a:gs>
              <a:gs pos="0">
                <a:schemeClr val="accent1">
                  <a:lumMod val="5000"/>
                  <a:lumOff val="95000"/>
                  <a:alpha val="12000"/>
                </a:schemeClr>
              </a:gs>
              <a:gs pos="100000">
                <a:srgbClr val="FDFEFF"/>
              </a:gs>
              <a:gs pos="67000">
                <a:schemeClr val="bg1"/>
              </a:gs>
            </a:gsLst>
            <a:lin ang="0" scaled="0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/>
          </a:p>
        </p:txBody>
      </p:sp>
      <p:pic>
        <p:nvPicPr>
          <p:cNvPr id="462" name="그림 461">
            <a:extLst>
              <a:ext uri="{FF2B5EF4-FFF2-40B4-BE49-F238E27FC236}">
                <a16:creationId xmlns:a16="http://schemas.microsoft.com/office/drawing/2014/main" id="{C29C5A21-D521-9C73-197A-E07619CD2553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alphaModFix amt="4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5960" t="10311" r="-6074" b="6168"/>
          <a:stretch/>
        </p:blipFill>
        <p:spPr>
          <a:xfrm>
            <a:off x="6805886" y="3646529"/>
            <a:ext cx="3311621" cy="2488192"/>
          </a:xfrm>
          <a:custGeom>
            <a:avLst/>
            <a:gdLst>
              <a:gd name="connsiteX0" fmla="*/ 0 w 2600338"/>
              <a:gd name="connsiteY0" fmla="*/ 0 h 2133202"/>
              <a:gd name="connsiteX1" fmla="*/ 2600338 w 2600338"/>
              <a:gd name="connsiteY1" fmla="*/ 0 h 2133202"/>
              <a:gd name="connsiteX2" fmla="*/ 2600338 w 2600338"/>
              <a:gd name="connsiteY2" fmla="*/ 2133202 h 2133202"/>
              <a:gd name="connsiteX3" fmla="*/ 0 w 2600338"/>
              <a:gd name="connsiteY3" fmla="*/ 2133202 h 2133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0338" h="2133202">
                <a:moveTo>
                  <a:pt x="0" y="0"/>
                </a:moveTo>
                <a:lnTo>
                  <a:pt x="2600338" y="0"/>
                </a:lnTo>
                <a:lnTo>
                  <a:pt x="2600338" y="2133202"/>
                </a:lnTo>
                <a:lnTo>
                  <a:pt x="0" y="2133202"/>
                </a:lnTo>
                <a:close/>
              </a:path>
            </a:pathLst>
          </a:custGeom>
        </p:spPr>
      </p:pic>
      <p:sp>
        <p:nvSpPr>
          <p:cNvPr id="463" name="모서리가 둥근 직사각형 440">
            <a:extLst>
              <a:ext uri="{FF2B5EF4-FFF2-40B4-BE49-F238E27FC236}">
                <a16:creationId xmlns:a16="http://schemas.microsoft.com/office/drawing/2014/main" id="{6EE73118-AAD9-3809-B827-4CB168CA9135}"/>
              </a:ext>
            </a:extLst>
          </p:cNvPr>
          <p:cNvSpPr/>
          <p:nvPr/>
        </p:nvSpPr>
        <p:spPr>
          <a:xfrm>
            <a:off x="5075457" y="5305272"/>
            <a:ext cx="174363" cy="891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14772" latinLnBrk="0"/>
            <a:r>
              <a:rPr lang="en-US" altLang="ko-KR" sz="500" dirty="0">
                <a:solidFill>
                  <a:prstClr val="black"/>
                </a:solidFill>
                <a:latin typeface="+mn-ea"/>
              </a:rPr>
              <a:t>1km</a:t>
            </a:r>
            <a:endParaRPr lang="ko-KR" altLang="en-US" sz="5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64" name="모서리가 둥근 직사각형 441">
            <a:extLst>
              <a:ext uri="{FF2B5EF4-FFF2-40B4-BE49-F238E27FC236}">
                <a16:creationId xmlns:a16="http://schemas.microsoft.com/office/drawing/2014/main" id="{FA3A5D38-A8B3-1D9E-FF78-4282D645BF6B}"/>
              </a:ext>
            </a:extLst>
          </p:cNvPr>
          <p:cNvSpPr/>
          <p:nvPr/>
        </p:nvSpPr>
        <p:spPr>
          <a:xfrm>
            <a:off x="4863547" y="5580391"/>
            <a:ext cx="174363" cy="891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14772" latinLnBrk="0"/>
            <a:r>
              <a:rPr lang="en-US" altLang="ko-KR" sz="500" dirty="0">
                <a:solidFill>
                  <a:prstClr val="black"/>
                </a:solidFill>
                <a:latin typeface="+mn-ea"/>
              </a:rPr>
              <a:t>2km</a:t>
            </a:r>
            <a:endParaRPr lang="ko-KR" altLang="en-US" sz="5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65" name="모서리가 둥근 직사각형 442">
            <a:extLst>
              <a:ext uri="{FF2B5EF4-FFF2-40B4-BE49-F238E27FC236}">
                <a16:creationId xmlns:a16="http://schemas.microsoft.com/office/drawing/2014/main" id="{F8AB2E76-9F36-F1AC-917D-B6B113B72B8B}"/>
              </a:ext>
            </a:extLst>
          </p:cNvPr>
          <p:cNvSpPr/>
          <p:nvPr/>
        </p:nvSpPr>
        <p:spPr>
          <a:xfrm>
            <a:off x="4629566" y="5889850"/>
            <a:ext cx="174363" cy="891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14772" latinLnBrk="0"/>
            <a:r>
              <a:rPr lang="en-US" altLang="ko-KR" sz="500">
                <a:solidFill>
                  <a:prstClr val="black"/>
                </a:solidFill>
                <a:latin typeface="+mn-ea"/>
              </a:rPr>
              <a:t>3km</a:t>
            </a:r>
            <a:endParaRPr lang="ko-KR" altLang="en-US" sz="50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E7CD35EB-3ED2-E0BC-F16C-8E3B01E4612F}"/>
              </a:ext>
            </a:extLst>
          </p:cNvPr>
          <p:cNvGrpSpPr/>
          <p:nvPr/>
        </p:nvGrpSpPr>
        <p:grpSpPr>
          <a:xfrm>
            <a:off x="4624679" y="5017382"/>
            <a:ext cx="156975" cy="94838"/>
            <a:chOff x="4252454" y="-1049927"/>
            <a:chExt cx="486464" cy="342431"/>
          </a:xfrm>
        </p:grpSpPr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2F749F93-23A3-175C-0EB7-6B0FA254270D}"/>
                </a:ext>
              </a:extLst>
            </p:cNvPr>
            <p:cNvGrpSpPr/>
            <p:nvPr/>
          </p:nvGrpSpPr>
          <p:grpSpPr>
            <a:xfrm>
              <a:off x="4273098" y="-1049927"/>
              <a:ext cx="441272" cy="342431"/>
              <a:chOff x="4273098" y="-1049927"/>
              <a:chExt cx="901562" cy="589683"/>
            </a:xfrm>
          </p:grpSpPr>
          <p:sp>
            <p:nvSpPr>
              <p:cNvPr id="469" name="타원 468">
                <a:extLst>
                  <a:ext uri="{FF2B5EF4-FFF2-40B4-BE49-F238E27FC236}">
                    <a16:creationId xmlns:a16="http://schemas.microsoft.com/office/drawing/2014/main" id="{C5A88CDB-7FCF-C419-595F-5C1CE8607B42}"/>
                  </a:ext>
                </a:extLst>
              </p:cNvPr>
              <p:cNvSpPr/>
              <p:nvPr/>
            </p:nvSpPr>
            <p:spPr>
              <a:xfrm>
                <a:off x="4273098" y="-1048422"/>
                <a:ext cx="901562" cy="588178"/>
              </a:xfrm>
              <a:prstGeom prst="ellipse">
                <a:avLst/>
              </a:prstGeom>
              <a:solidFill>
                <a:srgbClr val="2B67D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470" name="도넛 516">
                <a:extLst>
                  <a:ext uri="{FF2B5EF4-FFF2-40B4-BE49-F238E27FC236}">
                    <a16:creationId xmlns:a16="http://schemas.microsoft.com/office/drawing/2014/main" id="{D82FD137-28D6-0DA2-50D9-6BA1AB7A538F}"/>
                  </a:ext>
                </a:extLst>
              </p:cNvPr>
              <p:cNvSpPr/>
              <p:nvPr/>
            </p:nvSpPr>
            <p:spPr>
              <a:xfrm>
                <a:off x="4273098" y="-1049927"/>
                <a:ext cx="901562" cy="589683"/>
              </a:xfrm>
              <a:prstGeom prst="donut">
                <a:avLst>
                  <a:gd name="adj" fmla="val 8620"/>
                </a:avLst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468" name="타원 467">
              <a:extLst>
                <a:ext uri="{FF2B5EF4-FFF2-40B4-BE49-F238E27FC236}">
                  <a16:creationId xmlns:a16="http://schemas.microsoft.com/office/drawing/2014/main" id="{F4DE46E2-63B5-C5BF-2C6B-5A528FE81836}"/>
                </a:ext>
              </a:extLst>
            </p:cNvPr>
            <p:cNvSpPr/>
            <p:nvPr/>
          </p:nvSpPr>
          <p:spPr>
            <a:xfrm>
              <a:off x="4252454" y="-1024002"/>
              <a:ext cx="486464" cy="273200"/>
            </a:xfrm>
            <a:prstGeom prst="ellips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KoPubWorld돋움체 Medium" panose="00000600000000000000" pitchFamily="2" charset="-127"/>
                </a:rPr>
                <a:t>45</a:t>
              </a:r>
              <a:endParaRPr lang="ko-KR" altLang="en-US" sz="5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17F4D680-84F8-6C18-F177-EBF6697D9077}"/>
              </a:ext>
            </a:extLst>
          </p:cNvPr>
          <p:cNvGrpSpPr/>
          <p:nvPr/>
        </p:nvGrpSpPr>
        <p:grpSpPr>
          <a:xfrm>
            <a:off x="6443567" y="3710737"/>
            <a:ext cx="185600" cy="163312"/>
            <a:chOff x="6592092" y="3477673"/>
            <a:chExt cx="245737" cy="216227"/>
          </a:xfrm>
        </p:grpSpPr>
        <p:pic>
          <p:nvPicPr>
            <p:cNvPr id="472" name="그림 471">
              <a:extLst>
                <a:ext uri="{FF2B5EF4-FFF2-40B4-BE49-F238E27FC236}">
                  <a16:creationId xmlns:a16="http://schemas.microsoft.com/office/drawing/2014/main" id="{EEB2EC38-27C0-64BB-5D9A-AE29B85C5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06848" y="3477673"/>
              <a:ext cx="216226" cy="216227"/>
            </a:xfrm>
            <a:prstGeom prst="rect">
              <a:avLst/>
            </a:prstGeom>
            <a:noFill/>
            <a:ln w="8890">
              <a:noFill/>
              <a:prstDash val="lgDashDotDot"/>
            </a:ln>
            <a:effectLst/>
          </p:spPr>
        </p:pic>
        <p:sp>
          <p:nvSpPr>
            <p:cNvPr id="473" name="타원 472">
              <a:extLst>
                <a:ext uri="{FF2B5EF4-FFF2-40B4-BE49-F238E27FC236}">
                  <a16:creationId xmlns:a16="http://schemas.microsoft.com/office/drawing/2014/main" id="{9161178D-1CF5-C834-DBAE-FAEC1FC0CA7E}"/>
                </a:ext>
              </a:extLst>
            </p:cNvPr>
            <p:cNvSpPr/>
            <p:nvPr/>
          </p:nvSpPr>
          <p:spPr>
            <a:xfrm>
              <a:off x="6592092" y="3542720"/>
              <a:ext cx="245737" cy="119156"/>
            </a:xfrm>
            <a:prstGeom prst="ellips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KoPubWorld돋움체 Medium" panose="00000600000000000000" pitchFamily="2" charset="-127"/>
                </a:rPr>
                <a:t>30</a:t>
              </a:r>
              <a:endParaRPr lang="ko-KR" altLang="en-US" sz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8E01391D-543B-B37C-4765-C664B9F7F5AB}"/>
              </a:ext>
            </a:extLst>
          </p:cNvPr>
          <p:cNvSpPr/>
          <p:nvPr/>
        </p:nvSpPr>
        <p:spPr>
          <a:xfrm rot="4464362">
            <a:off x="6565164" y="4231611"/>
            <a:ext cx="1161844" cy="184666"/>
          </a:xfrm>
          <a:prstGeom prst="rect">
            <a:avLst/>
          </a:prstGeom>
          <a:noFill/>
          <a:scene3d>
            <a:camera prst="orthographicFront"/>
            <a:lightRig rig="threePt" dir="tl">
              <a:rot lat="0" lon="0" rev="0"/>
            </a:lightRig>
          </a:scene3d>
          <a:sp3d>
            <a:bevelT w="0"/>
          </a:sp3d>
        </p:spPr>
        <p:txBody>
          <a:bodyPr wrap="square">
            <a:spAutoFit/>
            <a:sp3d extrusionH="1270" contourW="19050" prstMaterial="matte">
              <a:bevelT w="0" h="1905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829544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600" spc="-70" err="1">
                <a:ln w="1143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>
                  <a:outerShdw blurRad="114300" algn="ct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당진영덕고속도로</a:t>
            </a:r>
            <a:endParaRPr lang="en-US" altLang="ko-KR" sz="600" spc="-70">
              <a:ln w="11430"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>
                <a:outerShdw blurRad="114300" algn="ctr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965FC56F-3BDA-FB22-62AC-07D7739A21D9}"/>
              </a:ext>
            </a:extLst>
          </p:cNvPr>
          <p:cNvSpPr txBox="1"/>
          <p:nvPr/>
        </p:nvSpPr>
        <p:spPr>
          <a:xfrm>
            <a:off x="4728194" y="4464139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삽교읍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DB89D755-C523-430C-09D3-A054708DDFEE}"/>
              </a:ext>
            </a:extLst>
          </p:cNvPr>
          <p:cNvSpPr txBox="1"/>
          <p:nvPr/>
        </p:nvSpPr>
        <p:spPr>
          <a:xfrm>
            <a:off x="6423987" y="6160487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응봉면</a:t>
            </a:r>
            <a:endParaRPr lang="ko-KR" altLang="en-US" sz="6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F83B1259-976B-28C1-04BB-105C765506BD}"/>
              </a:ext>
            </a:extLst>
          </p:cNvPr>
          <p:cNvSpPr txBox="1"/>
          <p:nvPr/>
        </p:nvSpPr>
        <p:spPr>
          <a:xfrm>
            <a:off x="5674213" y="4064707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1" dirty="0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고덕면</a:t>
            </a:r>
            <a:endParaRPr lang="ko-KR" altLang="en-US" sz="600" b="1" dirty="0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8B8D1A83-F15E-C9C2-D524-585A314D7BA0}"/>
              </a:ext>
            </a:extLst>
          </p:cNvPr>
          <p:cNvSpPr txBox="1"/>
          <p:nvPr/>
        </p:nvSpPr>
        <p:spPr>
          <a:xfrm>
            <a:off x="5325106" y="6076733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홍성군</a:t>
            </a:r>
            <a:endParaRPr lang="en-US" altLang="ko-KR" sz="600" b="1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ko-KR" altLang="en-US" sz="600" b="1" err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홍북읍</a:t>
            </a:r>
            <a:endParaRPr lang="ko-KR" altLang="en-US" sz="600" b="1">
              <a:ln>
                <a:solidFill>
                  <a:srgbClr val="4472C4">
                    <a:shade val="50000"/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479" name="직사각형 478">
            <a:extLst>
              <a:ext uri="{FF2B5EF4-FFF2-40B4-BE49-F238E27FC236}">
                <a16:creationId xmlns:a16="http://schemas.microsoft.com/office/drawing/2014/main" id="{4CBDAE03-C7A7-C014-9694-225DD1FF0CD3}"/>
              </a:ext>
            </a:extLst>
          </p:cNvPr>
          <p:cNvSpPr/>
          <p:nvPr/>
        </p:nvSpPr>
        <p:spPr>
          <a:xfrm>
            <a:off x="6249226" y="5290892"/>
            <a:ext cx="412613" cy="19005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635" b="1" spc="-45" err="1">
                <a:latin typeface="+mn-ea"/>
                <a:cs typeface="KoPubWorld돋움체 Medium" panose="00000600000000000000" pitchFamily="2" charset="-127"/>
              </a:rPr>
              <a:t>삽교역</a:t>
            </a:r>
            <a:endParaRPr lang="en-US" altLang="ko-KR" sz="635" b="1" spc="-45">
              <a:latin typeface="+mn-ea"/>
              <a:cs typeface="KoPubWorld돋움체 Medium" panose="00000600000000000000" pitchFamily="2" charset="-127"/>
            </a:endParaRPr>
          </a:p>
        </p:txBody>
      </p:sp>
      <p:sp>
        <p:nvSpPr>
          <p:cNvPr id="480" name="타원 479">
            <a:extLst>
              <a:ext uri="{FF2B5EF4-FFF2-40B4-BE49-F238E27FC236}">
                <a16:creationId xmlns:a16="http://schemas.microsoft.com/office/drawing/2014/main" id="{A9178E1F-1D51-611E-A514-3C6D8BA54F55}"/>
              </a:ext>
            </a:extLst>
          </p:cNvPr>
          <p:cNvSpPr/>
          <p:nvPr/>
        </p:nvSpPr>
        <p:spPr>
          <a:xfrm>
            <a:off x="6426482" y="5447471"/>
            <a:ext cx="67800" cy="6694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  <a:headEnd type="none" w="med" len="sm"/>
            <a:tailEnd type="none" w="med" len="sm"/>
          </a:ln>
          <a:effectLst>
            <a:outerShdw blurRad="50800" dist="25400" dir="5400000" algn="ctr" rotWithShape="0">
              <a:schemeClr val="tx1">
                <a:lumMod val="65000"/>
                <a:lumOff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10A63BE7-4AEA-3503-06A1-098E4FF5A89B}"/>
              </a:ext>
            </a:extLst>
          </p:cNvPr>
          <p:cNvSpPr/>
          <p:nvPr/>
        </p:nvSpPr>
        <p:spPr>
          <a:xfrm>
            <a:off x="6278294" y="5600016"/>
            <a:ext cx="488595" cy="28777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635" b="1" spc="-45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예산일반</a:t>
            </a:r>
            <a:endParaRPr lang="en-US" altLang="ko-KR" sz="635" b="1" spc="-45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KoPubWorld돋움체 Medium" panose="00000600000000000000" pitchFamily="2" charset="-127"/>
            </a:endParaRPr>
          </a:p>
          <a:p>
            <a:pPr algn="ctr" defTabSz="891086"/>
            <a:r>
              <a:rPr lang="ko-KR" altLang="en-US" sz="635" b="1" spc="-45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산단</a:t>
            </a:r>
            <a:endParaRPr lang="en-US" altLang="ko-KR" sz="635" b="1" spc="-45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KoPubWorld돋움체 Medium" panose="00000600000000000000" pitchFamily="2" charset="-127"/>
            </a:endParaRPr>
          </a:p>
        </p:txBody>
      </p:sp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BD37A256-6B35-65D9-B2B9-A401C269E1A7}"/>
              </a:ext>
            </a:extLst>
          </p:cNvPr>
          <p:cNvGrpSpPr/>
          <p:nvPr/>
        </p:nvGrpSpPr>
        <p:grpSpPr>
          <a:xfrm>
            <a:off x="6581962" y="5131716"/>
            <a:ext cx="156975" cy="94838"/>
            <a:chOff x="4252454" y="-1049927"/>
            <a:chExt cx="486464" cy="342431"/>
          </a:xfrm>
        </p:grpSpPr>
        <p:grpSp>
          <p:nvGrpSpPr>
            <p:cNvPr id="556" name="그룹 555">
              <a:extLst>
                <a:ext uri="{FF2B5EF4-FFF2-40B4-BE49-F238E27FC236}">
                  <a16:creationId xmlns:a16="http://schemas.microsoft.com/office/drawing/2014/main" id="{C593050D-EBC9-E9C5-8029-67F42A797B3D}"/>
                </a:ext>
              </a:extLst>
            </p:cNvPr>
            <p:cNvGrpSpPr/>
            <p:nvPr/>
          </p:nvGrpSpPr>
          <p:grpSpPr>
            <a:xfrm>
              <a:off x="4273098" y="-1049927"/>
              <a:ext cx="441272" cy="342431"/>
              <a:chOff x="4273098" y="-1049927"/>
              <a:chExt cx="901562" cy="589683"/>
            </a:xfrm>
          </p:grpSpPr>
          <p:sp>
            <p:nvSpPr>
              <p:cNvPr id="558" name="타원 557">
                <a:extLst>
                  <a:ext uri="{FF2B5EF4-FFF2-40B4-BE49-F238E27FC236}">
                    <a16:creationId xmlns:a16="http://schemas.microsoft.com/office/drawing/2014/main" id="{A42435F7-C0C1-C7B2-4EBA-8890BA1213B9}"/>
                  </a:ext>
                </a:extLst>
              </p:cNvPr>
              <p:cNvSpPr/>
              <p:nvPr/>
            </p:nvSpPr>
            <p:spPr>
              <a:xfrm>
                <a:off x="4273098" y="-1048422"/>
                <a:ext cx="901562" cy="588178"/>
              </a:xfrm>
              <a:prstGeom prst="ellipse">
                <a:avLst/>
              </a:prstGeom>
              <a:solidFill>
                <a:srgbClr val="2B67D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559" name="도넛 516">
                <a:extLst>
                  <a:ext uri="{FF2B5EF4-FFF2-40B4-BE49-F238E27FC236}">
                    <a16:creationId xmlns:a16="http://schemas.microsoft.com/office/drawing/2014/main" id="{06CBE0A4-D835-CFE0-245A-7B756D97D056}"/>
                  </a:ext>
                </a:extLst>
              </p:cNvPr>
              <p:cNvSpPr/>
              <p:nvPr/>
            </p:nvSpPr>
            <p:spPr>
              <a:xfrm>
                <a:off x="4273098" y="-1049927"/>
                <a:ext cx="901562" cy="589683"/>
              </a:xfrm>
              <a:prstGeom prst="donut">
                <a:avLst>
                  <a:gd name="adj" fmla="val 8620"/>
                </a:avLst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557" name="타원 556">
              <a:extLst>
                <a:ext uri="{FF2B5EF4-FFF2-40B4-BE49-F238E27FC236}">
                  <a16:creationId xmlns:a16="http://schemas.microsoft.com/office/drawing/2014/main" id="{1EFE4A6A-47C6-193D-42CB-C356BB55F4A9}"/>
                </a:ext>
              </a:extLst>
            </p:cNvPr>
            <p:cNvSpPr/>
            <p:nvPr/>
          </p:nvSpPr>
          <p:spPr>
            <a:xfrm>
              <a:off x="4252454" y="-1024002"/>
              <a:ext cx="486464" cy="273200"/>
            </a:xfrm>
            <a:prstGeom prst="ellips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KoPubWorld돋움체 Medium" panose="00000600000000000000" pitchFamily="2" charset="-127"/>
                </a:rPr>
                <a:t>45</a:t>
              </a:r>
              <a:endParaRPr lang="ko-KR" altLang="en-US" sz="5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560" name="직사각형 559">
            <a:extLst>
              <a:ext uri="{FF2B5EF4-FFF2-40B4-BE49-F238E27FC236}">
                <a16:creationId xmlns:a16="http://schemas.microsoft.com/office/drawing/2014/main" id="{D62834AB-7463-C9A1-AD3A-724899C72D81}"/>
              </a:ext>
            </a:extLst>
          </p:cNvPr>
          <p:cNvSpPr/>
          <p:nvPr/>
        </p:nvSpPr>
        <p:spPr>
          <a:xfrm rot="19278024">
            <a:off x="5688596" y="5073244"/>
            <a:ext cx="412613" cy="19005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635" b="1" spc="-45" dirty="0">
                <a:latin typeface="+mn-ea"/>
                <a:cs typeface="KoPubWorld돋움체 Medium" panose="00000600000000000000" pitchFamily="2" charset="-127"/>
              </a:rPr>
              <a:t>삽교천</a:t>
            </a:r>
            <a:endParaRPr lang="en-US" altLang="ko-KR" sz="635" b="1" spc="-45" dirty="0">
              <a:latin typeface="+mn-ea"/>
              <a:cs typeface="KoPubWorld돋움체 Medium" panose="00000600000000000000" pitchFamily="2" charset="-127"/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875C889A-40E9-B1B7-42A3-17AA819EDB1C}"/>
              </a:ext>
            </a:extLst>
          </p:cNvPr>
          <p:cNvSpPr/>
          <p:nvPr/>
        </p:nvSpPr>
        <p:spPr>
          <a:xfrm>
            <a:off x="5805237" y="5372518"/>
            <a:ext cx="502638" cy="184666"/>
          </a:xfrm>
          <a:prstGeom prst="rect">
            <a:avLst/>
          </a:prstGeom>
          <a:noFill/>
          <a:scene3d>
            <a:camera prst="orthographicFront"/>
            <a:lightRig rig="threePt" dir="tl">
              <a:rot lat="0" lon="0" rev="0"/>
            </a:lightRig>
          </a:scene3d>
          <a:sp3d>
            <a:bevelT w="0"/>
          </a:sp3d>
        </p:spPr>
        <p:txBody>
          <a:bodyPr wrap="square">
            <a:spAutoFit/>
            <a:sp3d extrusionH="1270" contourW="19050" prstMaterial="matte">
              <a:bevelT w="0" h="1905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829544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600" spc="-70">
                <a:ln w="1143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>
                  <a:outerShdw blurRad="114300" algn="ct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장항선</a:t>
            </a:r>
            <a:endParaRPr lang="en-US" altLang="ko-KR" sz="600" spc="-70">
              <a:ln w="11430"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>
                <a:outerShdw blurRad="114300" algn="ctr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565" name="직사각형 564">
            <a:extLst>
              <a:ext uri="{FF2B5EF4-FFF2-40B4-BE49-F238E27FC236}">
                <a16:creationId xmlns:a16="http://schemas.microsoft.com/office/drawing/2014/main" id="{A8DDE9E4-8386-EA48-6893-CF9884C4F02A}"/>
              </a:ext>
            </a:extLst>
          </p:cNvPr>
          <p:cNvSpPr/>
          <p:nvPr/>
        </p:nvSpPr>
        <p:spPr>
          <a:xfrm rot="1105434">
            <a:off x="5275183" y="5573989"/>
            <a:ext cx="62173" cy="738664"/>
          </a:xfrm>
          <a:prstGeom prst="rect">
            <a:avLst/>
          </a:prstGeom>
          <a:noFill/>
          <a:scene3d>
            <a:camera prst="orthographicFront"/>
            <a:lightRig rig="threePt" dir="tl">
              <a:rot lat="0" lon="0" rev="0"/>
            </a:lightRig>
          </a:scene3d>
          <a:sp3d>
            <a:bevelT w="0"/>
          </a:sp3d>
        </p:spPr>
        <p:txBody>
          <a:bodyPr wrap="square">
            <a:spAutoFit/>
            <a:sp3d extrusionH="1270" contourW="19050" prstMaterial="matte">
              <a:bevelT w="0" h="19050"/>
              <a:bevelB w="0" h="0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829544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600" spc="-70">
                <a:ln w="1143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>
                  <a:outerShdw blurRad="114300" algn="ct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서해</a:t>
            </a:r>
            <a:endParaRPr lang="en-US" altLang="ko-KR" sz="600" spc="-70">
              <a:ln w="11430"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>
                <a:outerShdw blurRad="114300" algn="ctr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  <a:p>
            <a:pPr algn="ctr" defTabSz="829544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600" spc="-70">
                <a:ln w="11430"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>
                  <a:outerShdw blurRad="114300" algn="ctr" rotWithShape="0">
                    <a:prstClr val="black">
                      <a:alpha val="40000"/>
                    </a:prstClr>
                  </a:outerShdw>
                </a:effectLst>
                <a:latin typeface="+mn-ea"/>
              </a:rPr>
              <a:t>선 복선전철</a:t>
            </a:r>
            <a:endParaRPr lang="en-US" altLang="ko-KR" sz="600" spc="-70">
              <a:ln w="11430"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>
                <a:outerShdw blurRad="114300" algn="ctr" rotWithShape="0">
                  <a:prstClr val="black">
                    <a:alpha val="40000"/>
                  </a:prstClr>
                </a:outerShdw>
              </a:effectLst>
              <a:latin typeface="+mn-ea"/>
            </a:endParaRPr>
          </a:p>
        </p:txBody>
      </p:sp>
      <p:sp>
        <p:nvSpPr>
          <p:cNvPr id="566" name="직사각형 565">
            <a:extLst>
              <a:ext uri="{FF2B5EF4-FFF2-40B4-BE49-F238E27FC236}">
                <a16:creationId xmlns:a16="http://schemas.microsoft.com/office/drawing/2014/main" id="{23335230-6D09-B15D-A16A-D957950346B8}"/>
              </a:ext>
            </a:extLst>
          </p:cNvPr>
          <p:cNvSpPr/>
          <p:nvPr/>
        </p:nvSpPr>
        <p:spPr>
          <a:xfrm>
            <a:off x="5380063" y="5285782"/>
            <a:ext cx="349455" cy="174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635" b="1" spc="-45" dirty="0" err="1">
                <a:latin typeface="+mn-ea"/>
                <a:cs typeface="KoPubWorld돋움체 Medium" panose="00000600000000000000" pitchFamily="2" charset="-127"/>
              </a:rPr>
              <a:t>내포역</a:t>
            </a:r>
            <a:endParaRPr lang="en-US" altLang="ko-KR" sz="635" b="1" spc="-45" dirty="0">
              <a:latin typeface="+mn-ea"/>
              <a:cs typeface="KoPubWorld돋움체 Medium" panose="00000600000000000000" pitchFamily="2" charset="-127"/>
            </a:endParaRPr>
          </a:p>
          <a:p>
            <a:pPr algn="ctr" defTabSz="891086"/>
            <a:r>
              <a:rPr lang="en-US" altLang="ko-KR" sz="500" b="1" spc="-45" dirty="0">
                <a:latin typeface="+mn-ea"/>
                <a:cs typeface="KoPubWorld돋움체 Medium" panose="00000600000000000000" pitchFamily="2" charset="-127"/>
              </a:rPr>
              <a:t>(2025</a:t>
            </a:r>
            <a:r>
              <a:rPr lang="ko-KR" altLang="en-US" sz="500" b="1" spc="-45" dirty="0">
                <a:latin typeface="+mn-ea"/>
                <a:cs typeface="KoPubWorld돋움체 Medium" panose="00000600000000000000" pitchFamily="2" charset="-127"/>
              </a:rPr>
              <a:t>년 예정</a:t>
            </a:r>
            <a:r>
              <a:rPr lang="en-US" altLang="ko-KR" sz="500" b="1" spc="-45" dirty="0">
                <a:latin typeface="+mn-ea"/>
                <a:cs typeface="KoPubWorld돋움체 Medium" panose="00000600000000000000" pitchFamily="2" charset="-127"/>
              </a:rPr>
              <a:t>)</a:t>
            </a:r>
          </a:p>
        </p:txBody>
      </p:sp>
      <p:sp>
        <p:nvSpPr>
          <p:cNvPr id="567" name="타원 566">
            <a:extLst>
              <a:ext uri="{FF2B5EF4-FFF2-40B4-BE49-F238E27FC236}">
                <a16:creationId xmlns:a16="http://schemas.microsoft.com/office/drawing/2014/main" id="{736D04E6-2E6C-5E23-4578-56A695FB4459}"/>
              </a:ext>
            </a:extLst>
          </p:cNvPr>
          <p:cNvSpPr/>
          <p:nvPr/>
        </p:nvSpPr>
        <p:spPr>
          <a:xfrm>
            <a:off x="5526415" y="5201260"/>
            <a:ext cx="67800" cy="66946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  <a:headEnd type="none" w="med" len="sm"/>
            <a:tailEnd type="none" w="med" len="sm"/>
          </a:ln>
          <a:effectLst>
            <a:outerShdw blurRad="50800" dist="25400" dir="5400000" algn="ctr" rotWithShape="0">
              <a:schemeClr val="tx1">
                <a:lumMod val="65000"/>
                <a:lumOff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70" name="직사각형 569">
            <a:extLst>
              <a:ext uri="{FF2B5EF4-FFF2-40B4-BE49-F238E27FC236}">
                <a16:creationId xmlns:a16="http://schemas.microsoft.com/office/drawing/2014/main" id="{18BD4A7E-20A6-167F-AA53-3AC195D739D9}"/>
              </a:ext>
            </a:extLst>
          </p:cNvPr>
          <p:cNvSpPr/>
          <p:nvPr/>
        </p:nvSpPr>
        <p:spPr>
          <a:xfrm>
            <a:off x="6455532" y="4868132"/>
            <a:ext cx="488595" cy="28777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635" b="1" spc="-45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삽교</a:t>
            </a:r>
            <a:endParaRPr lang="en-US" altLang="ko-KR" sz="635" b="1" spc="-45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KoPubWorld돋움체 Medium" panose="00000600000000000000" pitchFamily="2" charset="-127"/>
            </a:endParaRPr>
          </a:p>
          <a:p>
            <a:pPr algn="ctr" defTabSz="891086"/>
            <a:r>
              <a:rPr lang="ko-KR" altLang="en-US" sz="635" b="1" spc="-45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농공단지</a:t>
            </a:r>
            <a:endParaRPr lang="en-US" altLang="ko-KR" sz="635" b="1" spc="-45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KoPubWorld돋움체 Medium" panose="00000600000000000000" pitchFamily="2" charset="-127"/>
            </a:endParaRPr>
          </a:p>
        </p:txBody>
      </p:sp>
      <p:pic>
        <p:nvPicPr>
          <p:cNvPr id="571" name="방위표">
            <a:extLst>
              <a:ext uri="{FF2B5EF4-FFF2-40B4-BE49-F238E27FC236}">
                <a16:creationId xmlns:a16="http://schemas.microsoft.com/office/drawing/2014/main" id="{2B53D83D-9A40-CEA4-58FB-E3EF0BE85EE9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83" y="4029279"/>
            <a:ext cx="278504" cy="404322"/>
          </a:xfrm>
          <a:prstGeom prst="rect">
            <a:avLst/>
          </a:prstGeom>
          <a:effectLst>
            <a:glow rad="12700">
              <a:schemeClr val="bg1"/>
            </a:glow>
          </a:effec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AA310F6E-D177-BCE0-9182-1565B5E8F67C}"/>
              </a:ext>
            </a:extLst>
          </p:cNvPr>
          <p:cNvSpPr/>
          <p:nvPr/>
        </p:nvSpPr>
        <p:spPr>
          <a:xfrm>
            <a:off x="4012367" y="5851710"/>
            <a:ext cx="640560" cy="38549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635" b="1" spc="-45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충남혁신도시</a:t>
            </a:r>
            <a:endParaRPr lang="en-US" altLang="ko-KR" sz="635" b="1" spc="-45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KoPubWorld돋움체 Medium" panose="00000600000000000000" pitchFamily="2" charset="-127"/>
            </a:endParaRPr>
          </a:p>
          <a:p>
            <a:pPr algn="ctr" defTabSz="891086"/>
            <a:r>
              <a:rPr lang="en-US" altLang="ko-KR" sz="635" b="1" spc="-45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(</a:t>
            </a:r>
            <a:r>
              <a:rPr lang="ko-KR" altLang="en-US" sz="635" b="1" spc="-45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내포신도시</a:t>
            </a:r>
            <a:r>
              <a:rPr lang="en-US" altLang="ko-KR" sz="635" b="1" spc="-45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KoPubWorld돋움체 Medium" panose="00000600000000000000" pitchFamily="2" charset="-127"/>
              </a:rPr>
              <a:t>)</a:t>
            </a:r>
          </a:p>
          <a:p>
            <a:pPr algn="ctr" defTabSz="891086"/>
            <a:endParaRPr lang="en-US" altLang="ko-KR" sz="635" b="1" spc="-45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KoPubWorld돋움체 Medium" panose="00000600000000000000" pitchFamily="2" charset="-127"/>
            </a:endParaRPr>
          </a:p>
        </p:txBody>
      </p:sp>
      <p:sp>
        <p:nvSpPr>
          <p:cNvPr id="46" name="모서리가 둥근 직사각형 442">
            <a:extLst>
              <a:ext uri="{FF2B5EF4-FFF2-40B4-BE49-F238E27FC236}">
                <a16:creationId xmlns:a16="http://schemas.microsoft.com/office/drawing/2014/main" id="{9A80C047-170A-CBD7-316A-A2061F943B67}"/>
              </a:ext>
            </a:extLst>
          </p:cNvPr>
          <p:cNvSpPr/>
          <p:nvPr/>
        </p:nvSpPr>
        <p:spPr>
          <a:xfrm>
            <a:off x="4432256" y="6193220"/>
            <a:ext cx="174363" cy="891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14772" latinLnBrk="0"/>
            <a:r>
              <a:rPr lang="en-US" altLang="ko-KR" sz="500">
                <a:solidFill>
                  <a:prstClr val="black"/>
                </a:solidFill>
                <a:latin typeface="+mn-ea"/>
              </a:rPr>
              <a:t>4km</a:t>
            </a:r>
            <a:endParaRPr lang="ko-KR" altLang="en-US" sz="50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8CBF501-C332-05B8-7672-8BF04D47585D}"/>
              </a:ext>
            </a:extLst>
          </p:cNvPr>
          <p:cNvSpPr/>
          <p:nvPr/>
        </p:nvSpPr>
        <p:spPr>
          <a:xfrm rot="10800000">
            <a:off x="984184" y="4025950"/>
            <a:ext cx="1668216" cy="2609058"/>
          </a:xfrm>
          <a:prstGeom prst="rect">
            <a:avLst/>
          </a:prstGeom>
          <a:gradFill>
            <a:gsLst>
              <a:gs pos="37000">
                <a:srgbClr val="FBFDFE">
                  <a:alpha val="19000"/>
                </a:srgbClr>
              </a:gs>
              <a:gs pos="0">
                <a:schemeClr val="accent1">
                  <a:lumMod val="5000"/>
                  <a:lumOff val="95000"/>
                  <a:alpha val="12000"/>
                </a:schemeClr>
              </a:gs>
              <a:gs pos="100000">
                <a:srgbClr val="FDFEFF"/>
              </a:gs>
              <a:gs pos="67000">
                <a:schemeClr val="bg1"/>
              </a:gs>
            </a:gsLst>
            <a:lin ang="0" scaled="0"/>
          </a:gra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/>
          </a:p>
        </p:txBody>
      </p:sp>
      <p:sp>
        <p:nvSpPr>
          <p:cNvPr id="522" name="사각형: 둥근 모서리 42">
            <a:extLst>
              <a:ext uri="{FF2B5EF4-FFF2-40B4-BE49-F238E27FC236}">
                <a16:creationId xmlns:a16="http://schemas.microsoft.com/office/drawing/2014/main" id="{AD40023B-483A-40AA-BDD5-E2A8AC7EB3AE}"/>
              </a:ext>
            </a:extLst>
          </p:cNvPr>
          <p:cNvSpPr/>
          <p:nvPr/>
        </p:nvSpPr>
        <p:spPr>
          <a:xfrm>
            <a:off x="1620650" y="4102899"/>
            <a:ext cx="2231459" cy="338050"/>
          </a:xfrm>
          <a:prstGeom prst="roundRect">
            <a:avLst>
              <a:gd name="adj" fmla="val 11186"/>
            </a:avLst>
          </a:prstGeom>
          <a:noFill/>
          <a:ln w="38100" cmpd="thickThin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20000"/>
              </a:lnSpc>
              <a:buClr>
                <a:schemeClr val="bg1">
                  <a:lumMod val="75000"/>
                </a:schemeClr>
              </a:buClr>
            </a:pPr>
            <a:endParaRPr lang="ko-KR" altLang="en-US" sz="100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30" name="그룹 529"/>
          <p:cNvGrpSpPr/>
          <p:nvPr/>
        </p:nvGrpSpPr>
        <p:grpSpPr>
          <a:xfrm>
            <a:off x="548995" y="4040063"/>
            <a:ext cx="506724" cy="469183"/>
            <a:chOff x="-90145" y="3232734"/>
            <a:chExt cx="400733" cy="241202"/>
          </a:xfrm>
        </p:grpSpPr>
        <p:sp>
          <p:nvSpPr>
            <p:cNvPr id="531" name="대각선 방향의 모서리가 둥근 사각형 530"/>
            <p:cNvSpPr/>
            <p:nvPr/>
          </p:nvSpPr>
          <p:spPr>
            <a:xfrm flipH="1" flipV="1">
              <a:off x="-90145" y="3235980"/>
              <a:ext cx="400733" cy="237956"/>
            </a:xfrm>
            <a:prstGeom prst="round2DiagRect">
              <a:avLst>
                <a:gd name="adj1" fmla="val 33908"/>
                <a:gd name="adj2" fmla="val 0"/>
              </a:avLst>
            </a:prstGeom>
            <a:pattFill prst="dkUpDiag">
              <a:fgClr>
                <a:srgbClr val="DB6413"/>
              </a:fgClr>
              <a:bgClr>
                <a:srgbClr val="F8E7D5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58">
                <a:solidFill>
                  <a:srgbClr val="FF0000"/>
                </a:solidFill>
              </a:endParaRPr>
            </a:p>
          </p:txBody>
        </p:sp>
        <p:sp>
          <p:nvSpPr>
            <p:cNvPr id="532" name="대각선 방향의 모서리가 둥근 사각형 531"/>
            <p:cNvSpPr/>
            <p:nvPr/>
          </p:nvSpPr>
          <p:spPr>
            <a:xfrm flipH="1" flipV="1">
              <a:off x="-90145" y="3232734"/>
              <a:ext cx="400733" cy="237956"/>
            </a:xfrm>
            <a:prstGeom prst="round2DiagRect">
              <a:avLst>
                <a:gd name="adj1" fmla="val 33908"/>
                <a:gd name="adj2" fmla="val 0"/>
              </a:avLst>
            </a:prstGeom>
            <a:gradFill>
              <a:gsLst>
                <a:gs pos="100000">
                  <a:schemeClr val="bg1">
                    <a:alpha val="80000"/>
                  </a:schemeClr>
                </a:gs>
                <a:gs pos="75000">
                  <a:schemeClr val="bg1">
                    <a:lumMod val="65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58">
                <a:solidFill>
                  <a:srgbClr val="FF0000"/>
                </a:solidFill>
              </a:endParaRPr>
            </a:p>
          </p:txBody>
        </p:sp>
      </p:grpSp>
      <p:sp>
        <p:nvSpPr>
          <p:cNvPr id="533" name="TextBox 532"/>
          <p:cNvSpPr txBox="1"/>
          <p:nvPr/>
        </p:nvSpPr>
        <p:spPr>
          <a:xfrm>
            <a:off x="568089" y="4136031"/>
            <a:ext cx="483752" cy="309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  <a:spcBef>
                <a:spcPts val="293"/>
              </a:spcBef>
              <a:buClr>
                <a:srgbClr val="8DC63F"/>
              </a:buClr>
            </a:pPr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사업의</a:t>
            </a:r>
            <a:endParaRPr lang="en-US" altLang="ko-KR" sz="11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80000"/>
              </a:lnSpc>
              <a:spcBef>
                <a:spcPts val="293"/>
              </a:spcBef>
              <a:buClr>
                <a:srgbClr val="8DC63F"/>
              </a:buClr>
            </a:pPr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   위</a:t>
            </a:r>
            <a:endParaRPr lang="en-US" altLang="ko-KR" sz="11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113250" y="4388588"/>
            <a:ext cx="2609074" cy="194732"/>
            <a:chOff x="1113250" y="4506461"/>
            <a:chExt cx="2609074" cy="194732"/>
          </a:xfrm>
        </p:grpSpPr>
        <p:grpSp>
          <p:nvGrpSpPr>
            <p:cNvPr id="534" name="그룹 533"/>
            <p:cNvGrpSpPr/>
            <p:nvPr/>
          </p:nvGrpSpPr>
          <p:grpSpPr>
            <a:xfrm>
              <a:off x="1113250" y="4506461"/>
              <a:ext cx="2609074" cy="191691"/>
              <a:chOff x="1113250" y="4513771"/>
              <a:chExt cx="2609074" cy="191691"/>
            </a:xfrm>
          </p:grpSpPr>
          <p:sp>
            <p:nvSpPr>
              <p:cNvPr id="535" name="사각형: 둥근 모서리 42">
                <a:extLst>
                  <a:ext uri="{FF2B5EF4-FFF2-40B4-BE49-F238E27FC236}">
                    <a16:creationId xmlns:a16="http://schemas.microsoft.com/office/drawing/2014/main" id="{AD40023B-483A-40AA-BDD5-E2A8AC7EB3AE}"/>
                  </a:ext>
                </a:extLst>
              </p:cNvPr>
              <p:cNvSpPr/>
              <p:nvPr/>
            </p:nvSpPr>
            <p:spPr>
              <a:xfrm>
                <a:off x="1113250" y="4524312"/>
                <a:ext cx="426327" cy="164258"/>
              </a:xfrm>
              <a:prstGeom prst="roundRect">
                <a:avLst>
                  <a:gd name="adj" fmla="val 11186"/>
                </a:avLst>
              </a:prstGeom>
              <a:solidFill>
                <a:srgbClr val="D4C8A8"/>
              </a:solidFill>
              <a:ln w="38100" cmpd="thickThin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위 치</a:t>
                </a:r>
              </a:p>
            </p:txBody>
          </p:sp>
          <p:sp>
            <p:nvSpPr>
              <p:cNvPr id="536" name="사각형: 둥근 모서리 42">
                <a:extLst>
                  <a:ext uri="{FF2B5EF4-FFF2-40B4-BE49-F238E27FC236}">
                    <a16:creationId xmlns:a16="http://schemas.microsoft.com/office/drawing/2014/main" id="{AD40023B-483A-40AA-BDD5-E2A8AC7EB3AE}"/>
                  </a:ext>
                </a:extLst>
              </p:cNvPr>
              <p:cNvSpPr/>
              <p:nvPr/>
            </p:nvSpPr>
            <p:spPr>
              <a:xfrm>
                <a:off x="1640370" y="4513771"/>
                <a:ext cx="2081954" cy="191691"/>
              </a:xfrm>
              <a:prstGeom prst="roundRect">
                <a:avLst>
                  <a:gd name="adj" fmla="val 11186"/>
                </a:avLst>
              </a:prstGeom>
              <a:noFill/>
              <a:ln w="38100" cmpd="thickThin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>
                <a:spAutoFit/>
              </a:bodyPr>
              <a:lstStyle/>
              <a:p>
                <a:pPr>
                  <a:lnSpc>
                    <a:spcPts val="1400"/>
                  </a:lnSpc>
                  <a:buClr>
                    <a:schemeClr val="bg1">
                      <a:lumMod val="75000"/>
                    </a:schemeClr>
                  </a:buClr>
                </a:pPr>
                <a:r>
                  <a:rPr lang="ko-KR" altLang="en-US" sz="1000" spc="-7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충청남도 예산군 </a:t>
                </a:r>
                <a:r>
                  <a:rPr lang="ko-KR" altLang="en-US" sz="1000" spc="-7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삽교읍</a:t>
                </a:r>
                <a:r>
                  <a:rPr lang="ko-KR" altLang="en-US" sz="1000" spc="-7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000" spc="-70" dirty="0" err="1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삽교리</a:t>
                </a:r>
                <a:r>
                  <a:rPr lang="ko-KR" altLang="en-US" sz="1000" spc="-7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일원</a:t>
                </a:r>
              </a:p>
            </p:txBody>
          </p:sp>
        </p:grpSp>
        <p:cxnSp>
          <p:nvCxnSpPr>
            <p:cNvPr id="544" name="직선 연결선 543"/>
            <p:cNvCxnSpPr/>
            <p:nvPr/>
          </p:nvCxnSpPr>
          <p:spPr>
            <a:xfrm>
              <a:off x="1610636" y="4701193"/>
              <a:ext cx="1908000" cy="0"/>
            </a:xfrm>
            <a:prstGeom prst="line">
              <a:avLst/>
            </a:prstGeom>
            <a:ln>
              <a:gradFill>
                <a:gsLst>
                  <a:gs pos="50000">
                    <a:schemeClr val="tx1">
                      <a:lumMod val="75000"/>
                      <a:lumOff val="2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0" scaled="0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1113250" y="4652527"/>
            <a:ext cx="2428155" cy="184845"/>
            <a:chOff x="1113250" y="4880737"/>
            <a:chExt cx="2428155" cy="184845"/>
          </a:xfrm>
        </p:grpSpPr>
        <p:grpSp>
          <p:nvGrpSpPr>
            <p:cNvPr id="537" name="그룹 536"/>
            <p:cNvGrpSpPr/>
            <p:nvPr/>
          </p:nvGrpSpPr>
          <p:grpSpPr>
            <a:xfrm>
              <a:off x="1113250" y="4880737"/>
              <a:ext cx="2428155" cy="184845"/>
              <a:chOff x="1113250" y="4779679"/>
              <a:chExt cx="2428155" cy="184845"/>
            </a:xfrm>
          </p:grpSpPr>
          <p:sp>
            <p:nvSpPr>
              <p:cNvPr id="538" name="사각형: 둥근 모서리 42">
                <a:extLst>
                  <a:ext uri="{FF2B5EF4-FFF2-40B4-BE49-F238E27FC236}">
                    <a16:creationId xmlns:a16="http://schemas.microsoft.com/office/drawing/2014/main" id="{AD40023B-483A-40AA-BDD5-E2A8AC7EB3AE}"/>
                  </a:ext>
                </a:extLst>
              </p:cNvPr>
              <p:cNvSpPr/>
              <p:nvPr/>
            </p:nvSpPr>
            <p:spPr>
              <a:xfrm>
                <a:off x="1113250" y="4785209"/>
                <a:ext cx="426327" cy="164258"/>
              </a:xfrm>
              <a:prstGeom prst="roundRect">
                <a:avLst>
                  <a:gd name="adj" fmla="val 11186"/>
                </a:avLst>
              </a:prstGeom>
              <a:solidFill>
                <a:srgbClr val="D4C8A8"/>
              </a:solidFill>
              <a:ln w="38100" cmpd="thickThin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기 간</a:t>
                </a:r>
              </a:p>
            </p:txBody>
          </p:sp>
          <p:sp>
            <p:nvSpPr>
              <p:cNvPr id="539" name="사각형: 둥근 모서리 42">
                <a:extLst>
                  <a:ext uri="{FF2B5EF4-FFF2-40B4-BE49-F238E27FC236}">
                    <a16:creationId xmlns:a16="http://schemas.microsoft.com/office/drawing/2014/main" id="{AD40023B-483A-40AA-BDD5-E2A8AC7EB3AE}"/>
                  </a:ext>
                </a:extLst>
              </p:cNvPr>
              <p:cNvSpPr/>
              <p:nvPr/>
            </p:nvSpPr>
            <p:spPr>
              <a:xfrm>
                <a:off x="1640370" y="4779679"/>
                <a:ext cx="1901035" cy="184845"/>
              </a:xfrm>
              <a:prstGeom prst="roundRect">
                <a:avLst>
                  <a:gd name="adj" fmla="val 11186"/>
                </a:avLst>
              </a:prstGeom>
              <a:noFill/>
              <a:ln w="38100" cmpd="thickThin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0">
                <a:spAutoFit/>
              </a:bodyPr>
              <a:lstStyle/>
              <a:p>
                <a:pPr>
                  <a:lnSpc>
                    <a:spcPts val="1400"/>
                  </a:lnSpc>
                  <a:buClr>
                    <a:schemeClr val="bg1">
                      <a:lumMod val="75000"/>
                    </a:schemeClr>
                  </a:buClr>
                </a:pPr>
                <a:r>
                  <a:rPr lang="ko-KR" altLang="en-US" sz="100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착수일로부터 </a:t>
                </a:r>
                <a:r>
                  <a:rPr lang="en-US" altLang="ko-KR" sz="1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36</a:t>
                </a:r>
                <a:r>
                  <a:rPr lang="ko-KR" altLang="en-US" sz="1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개월</a:t>
                </a:r>
                <a:endParaRPr lang="en-US" altLang="ko-KR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545" name="직선 연결선 544"/>
            <p:cNvCxnSpPr/>
            <p:nvPr/>
          </p:nvCxnSpPr>
          <p:spPr>
            <a:xfrm>
              <a:off x="1610636" y="5059136"/>
              <a:ext cx="1908000" cy="0"/>
            </a:xfrm>
            <a:prstGeom prst="line">
              <a:avLst/>
            </a:prstGeom>
            <a:ln>
              <a:gradFill>
                <a:gsLst>
                  <a:gs pos="50000">
                    <a:schemeClr val="tx1">
                      <a:lumMod val="75000"/>
                      <a:lumOff val="2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0" scaled="0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1116320" y="4143064"/>
            <a:ext cx="2627005" cy="203866"/>
            <a:chOff x="1116320" y="4143064"/>
            <a:chExt cx="2627005" cy="203866"/>
          </a:xfrm>
        </p:grpSpPr>
        <p:cxnSp>
          <p:nvCxnSpPr>
            <p:cNvPr id="543" name="직선 연결선 542"/>
            <p:cNvCxnSpPr/>
            <p:nvPr/>
          </p:nvCxnSpPr>
          <p:spPr>
            <a:xfrm>
              <a:off x="1613706" y="4346930"/>
              <a:ext cx="1908000" cy="0"/>
            </a:xfrm>
            <a:prstGeom prst="line">
              <a:avLst/>
            </a:prstGeom>
            <a:ln>
              <a:gradFill>
                <a:gsLst>
                  <a:gs pos="50000">
                    <a:schemeClr val="tx1">
                      <a:lumMod val="75000"/>
                      <a:lumOff val="2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0" scaled="0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7" name="그룹 546"/>
            <p:cNvGrpSpPr/>
            <p:nvPr/>
          </p:nvGrpSpPr>
          <p:grpSpPr>
            <a:xfrm>
              <a:off x="1116320" y="4143064"/>
              <a:ext cx="2627005" cy="190947"/>
              <a:chOff x="1116320" y="4143064"/>
              <a:chExt cx="2627005" cy="190947"/>
            </a:xfrm>
          </p:grpSpPr>
          <p:sp>
            <p:nvSpPr>
              <p:cNvPr id="548" name="사각형: 둥근 모서리 42">
                <a:extLst>
                  <a:ext uri="{FF2B5EF4-FFF2-40B4-BE49-F238E27FC236}">
                    <a16:creationId xmlns:a16="http://schemas.microsoft.com/office/drawing/2014/main" id="{AD40023B-483A-40AA-BDD5-E2A8AC7EB3AE}"/>
                  </a:ext>
                </a:extLst>
              </p:cNvPr>
              <p:cNvSpPr/>
              <p:nvPr/>
            </p:nvSpPr>
            <p:spPr>
              <a:xfrm>
                <a:off x="1116320" y="4143064"/>
                <a:ext cx="426327" cy="164258"/>
              </a:xfrm>
              <a:prstGeom prst="roundRect">
                <a:avLst>
                  <a:gd name="adj" fmla="val 11186"/>
                </a:avLst>
              </a:prstGeom>
              <a:solidFill>
                <a:srgbClr val="D4C8A8"/>
              </a:solidFill>
              <a:ln w="38100" cmpd="thickThin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명 칭</a:t>
                </a:r>
              </a:p>
            </p:txBody>
          </p:sp>
          <p:sp>
            <p:nvSpPr>
              <p:cNvPr id="549" name="직사각형 548"/>
              <p:cNvSpPr/>
              <p:nvPr/>
            </p:nvSpPr>
            <p:spPr>
              <a:xfrm>
                <a:off x="1640370" y="4154475"/>
                <a:ext cx="2102955" cy="179536"/>
              </a:xfrm>
              <a:prstGeom prst="rect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/>
              <a:p>
                <a:pPr fontAlgn="base" latinLnBrk="0">
                  <a:lnSpc>
                    <a:spcPts val="1400"/>
                  </a:lnSpc>
                </a:pPr>
                <a:r>
                  <a:rPr lang="ko-KR" altLang="en-US" sz="100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내포 역세권 도시개발사업 조사설계 용역</a:t>
                </a:r>
                <a:endParaRPr lang="ko-KR" altLang="en-US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D2D5BD02-9942-9BA8-034B-9B924F8F865F}"/>
              </a:ext>
            </a:extLst>
          </p:cNvPr>
          <p:cNvSpPr/>
          <p:nvPr/>
        </p:nvSpPr>
        <p:spPr>
          <a:xfrm>
            <a:off x="5222081" y="4924425"/>
            <a:ext cx="371475" cy="209550"/>
          </a:xfrm>
          <a:custGeom>
            <a:avLst/>
            <a:gdLst>
              <a:gd name="connsiteX0" fmla="*/ 0 w 371475"/>
              <a:gd name="connsiteY0" fmla="*/ 185738 h 209550"/>
              <a:gd name="connsiteX1" fmla="*/ 52388 w 371475"/>
              <a:gd name="connsiteY1" fmla="*/ 126206 h 209550"/>
              <a:gd name="connsiteX2" fmla="*/ 211932 w 371475"/>
              <a:gd name="connsiteY2" fmla="*/ 50006 h 209550"/>
              <a:gd name="connsiteX3" fmla="*/ 245269 w 371475"/>
              <a:gd name="connsiteY3" fmla="*/ 42863 h 209550"/>
              <a:gd name="connsiteX4" fmla="*/ 314325 w 371475"/>
              <a:gd name="connsiteY4" fmla="*/ 0 h 209550"/>
              <a:gd name="connsiteX5" fmla="*/ 371475 w 371475"/>
              <a:gd name="connsiteY5" fmla="*/ 97631 h 209550"/>
              <a:gd name="connsiteX6" fmla="*/ 147638 w 371475"/>
              <a:gd name="connsiteY6" fmla="*/ 204788 h 209550"/>
              <a:gd name="connsiteX7" fmla="*/ 116682 w 371475"/>
              <a:gd name="connsiteY7" fmla="*/ 209550 h 209550"/>
              <a:gd name="connsiteX8" fmla="*/ 0 w 371475"/>
              <a:gd name="connsiteY8" fmla="*/ 185738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475" h="209550">
                <a:moveTo>
                  <a:pt x="0" y="185738"/>
                </a:moveTo>
                <a:lnTo>
                  <a:pt x="52388" y="126206"/>
                </a:lnTo>
                <a:lnTo>
                  <a:pt x="211932" y="50006"/>
                </a:lnTo>
                <a:lnTo>
                  <a:pt x="245269" y="42863"/>
                </a:lnTo>
                <a:lnTo>
                  <a:pt x="314325" y="0"/>
                </a:lnTo>
                <a:lnTo>
                  <a:pt x="371475" y="97631"/>
                </a:lnTo>
                <a:lnTo>
                  <a:pt x="147638" y="204788"/>
                </a:lnTo>
                <a:lnTo>
                  <a:pt x="116682" y="209550"/>
                </a:lnTo>
                <a:lnTo>
                  <a:pt x="0" y="185738"/>
                </a:ln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>
            <a:solidFill>
              <a:schemeClr val="tx1">
                <a:lumMod val="75000"/>
                <a:lumOff val="25000"/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2" name="직사각형 481">
            <a:extLst>
              <a:ext uri="{FF2B5EF4-FFF2-40B4-BE49-F238E27FC236}">
                <a16:creationId xmlns:a16="http://schemas.microsoft.com/office/drawing/2014/main" id="{1D946F46-5797-4606-5EF2-514852F9C7F3}"/>
              </a:ext>
            </a:extLst>
          </p:cNvPr>
          <p:cNvSpPr/>
          <p:nvPr/>
        </p:nvSpPr>
        <p:spPr>
          <a:xfrm>
            <a:off x="5261117" y="5026703"/>
            <a:ext cx="54822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900" b="1" spc="-45" dirty="0">
                <a:latin typeface="+mn-ea"/>
                <a:cs typeface="KoPubWorld돋움체 Medium" panose="00000600000000000000" pitchFamily="2" charset="-127"/>
              </a:rPr>
              <a:t>사업대상지</a:t>
            </a:r>
            <a:endParaRPr lang="en-US" altLang="ko-KR" sz="900" b="1" spc="-45" dirty="0">
              <a:latin typeface="+mn-ea"/>
              <a:cs typeface="KoPubWorld돋움체 Medium" panose="00000600000000000000" pitchFamily="2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F96065C-FBA5-8222-CE02-A8EC88D6EBDF}"/>
              </a:ext>
            </a:extLst>
          </p:cNvPr>
          <p:cNvSpPr/>
          <p:nvPr/>
        </p:nvSpPr>
        <p:spPr>
          <a:xfrm>
            <a:off x="4495752" y="4662420"/>
            <a:ext cx="838691" cy="28777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12700" contourW="25400">
              <a:bevelT w="0" h="25400"/>
              <a:bevelB w="0" h="25400"/>
              <a:contourClr>
                <a:schemeClr val="bg1"/>
              </a:contourClr>
            </a:sp3d>
          </a:bodyPr>
          <a:lstStyle/>
          <a:p>
            <a:pPr algn="ctr" defTabSz="891086"/>
            <a:r>
              <a:rPr lang="ko-KR" altLang="en-US" sz="635" b="1" spc="-45" dirty="0">
                <a:latin typeface="+mn-ea"/>
                <a:cs typeface="KoPubWorld돋움체 Medium" panose="00000600000000000000" pitchFamily="2" charset="-127"/>
              </a:rPr>
              <a:t>내포 </a:t>
            </a:r>
            <a:r>
              <a:rPr lang="ko-KR" altLang="en-US" sz="635" b="1" spc="-45" dirty="0" err="1">
                <a:latin typeface="+mn-ea"/>
                <a:cs typeface="KoPubWorld돋움체 Medium" panose="00000600000000000000" pitchFamily="2" charset="-127"/>
              </a:rPr>
              <a:t>농생명</a:t>
            </a:r>
            <a:r>
              <a:rPr lang="ko-KR" altLang="en-US" sz="635" b="1" spc="-45" dirty="0">
                <a:latin typeface="+mn-ea"/>
                <a:cs typeface="KoPubWorld돋움체 Medium" panose="00000600000000000000" pitchFamily="2" charset="-127"/>
              </a:rPr>
              <a:t> 융복합</a:t>
            </a:r>
            <a:endParaRPr lang="en-US" altLang="ko-KR" sz="635" b="1" spc="-45" dirty="0">
              <a:latin typeface="+mn-ea"/>
              <a:cs typeface="KoPubWorld돋움체 Medium" panose="00000600000000000000" pitchFamily="2" charset="-127"/>
            </a:endParaRPr>
          </a:p>
          <a:p>
            <a:pPr algn="ctr" defTabSz="891086"/>
            <a:r>
              <a:rPr lang="ko-KR" altLang="en-US" sz="635" b="1" spc="-45" dirty="0">
                <a:latin typeface="+mn-ea"/>
                <a:cs typeface="KoPubWorld돋움체 Medium" panose="00000600000000000000" pitchFamily="2" charset="-127"/>
              </a:rPr>
              <a:t>산업클러스터</a:t>
            </a:r>
            <a:endParaRPr lang="en-US" altLang="ko-KR" sz="500" b="1" spc="-45" dirty="0">
              <a:latin typeface="+mn-ea"/>
              <a:cs typeface="KoPubWorld돋움체 Medium" panose="00000600000000000000" pitchFamily="2" charset="-127"/>
            </a:endParaRP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A5B424E3-A6BD-0A2C-7594-5B311180B1AE}"/>
              </a:ext>
            </a:extLst>
          </p:cNvPr>
          <p:cNvSpPr/>
          <p:nvPr/>
        </p:nvSpPr>
        <p:spPr>
          <a:xfrm>
            <a:off x="5274469" y="4748213"/>
            <a:ext cx="147637" cy="240506"/>
          </a:xfrm>
          <a:custGeom>
            <a:avLst/>
            <a:gdLst>
              <a:gd name="connsiteX0" fmla="*/ 147637 w 147637"/>
              <a:gd name="connsiteY0" fmla="*/ 240506 h 240506"/>
              <a:gd name="connsiteX1" fmla="*/ 147637 w 147637"/>
              <a:gd name="connsiteY1" fmla="*/ 0 h 240506"/>
              <a:gd name="connsiteX2" fmla="*/ 0 w 147637"/>
              <a:gd name="connsiteY2" fmla="*/ 0 h 24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637" h="240506">
                <a:moveTo>
                  <a:pt x="147637" y="240506"/>
                </a:moveTo>
                <a:lnTo>
                  <a:pt x="147637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headEnd type="oval" w="sm" len="sm"/>
            <a:tail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3" name="그룹 522"/>
          <p:cNvGrpSpPr/>
          <p:nvPr/>
        </p:nvGrpSpPr>
        <p:grpSpPr>
          <a:xfrm>
            <a:off x="542405" y="5200156"/>
            <a:ext cx="506724" cy="469187"/>
            <a:chOff x="-90145" y="3232732"/>
            <a:chExt cx="400733" cy="241204"/>
          </a:xfrm>
        </p:grpSpPr>
        <p:sp>
          <p:nvSpPr>
            <p:cNvPr id="524" name="대각선 방향의 모서리가 둥근 사각형 523"/>
            <p:cNvSpPr/>
            <p:nvPr/>
          </p:nvSpPr>
          <p:spPr>
            <a:xfrm flipH="1" flipV="1">
              <a:off x="-90145" y="3235980"/>
              <a:ext cx="400733" cy="237956"/>
            </a:xfrm>
            <a:prstGeom prst="round2DiagRect">
              <a:avLst>
                <a:gd name="adj1" fmla="val 33908"/>
                <a:gd name="adj2" fmla="val 0"/>
              </a:avLst>
            </a:prstGeom>
            <a:pattFill prst="dkUpDiag">
              <a:fgClr>
                <a:srgbClr val="DB6413"/>
              </a:fgClr>
              <a:bgClr>
                <a:srgbClr val="F8E7D5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58" dirty="0">
                <a:solidFill>
                  <a:srgbClr val="FF0000"/>
                </a:solidFill>
              </a:endParaRPr>
            </a:p>
          </p:txBody>
        </p:sp>
        <p:sp>
          <p:nvSpPr>
            <p:cNvPr id="525" name="대각선 방향의 모서리가 둥근 사각형 524"/>
            <p:cNvSpPr/>
            <p:nvPr/>
          </p:nvSpPr>
          <p:spPr>
            <a:xfrm flipH="1" flipV="1">
              <a:off x="-90145" y="3232732"/>
              <a:ext cx="400733" cy="237956"/>
            </a:xfrm>
            <a:prstGeom prst="round2DiagRect">
              <a:avLst>
                <a:gd name="adj1" fmla="val 33908"/>
                <a:gd name="adj2" fmla="val 0"/>
              </a:avLst>
            </a:prstGeom>
            <a:gradFill>
              <a:gsLst>
                <a:gs pos="100000">
                  <a:schemeClr val="bg1">
                    <a:alpha val="80000"/>
                  </a:schemeClr>
                </a:gs>
                <a:gs pos="75000">
                  <a:schemeClr val="bg1">
                    <a:lumMod val="65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758" dirty="0">
                <a:solidFill>
                  <a:srgbClr val="FF0000"/>
                </a:solidFill>
              </a:endParaRPr>
            </a:p>
          </p:txBody>
        </p:sp>
      </p:grpSp>
      <p:sp>
        <p:nvSpPr>
          <p:cNvPr id="526" name="TextBox 525"/>
          <p:cNvSpPr txBox="1"/>
          <p:nvPr/>
        </p:nvSpPr>
        <p:spPr>
          <a:xfrm>
            <a:off x="561499" y="5299297"/>
            <a:ext cx="483752" cy="309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  <a:spcBef>
                <a:spcPts val="293"/>
              </a:spcBef>
              <a:buClr>
                <a:srgbClr val="8DC63F"/>
              </a:buClr>
            </a:pPr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사업의</a:t>
            </a:r>
            <a:endParaRPr lang="en-US" altLang="ko-KR" sz="11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>
              <a:lnSpc>
                <a:spcPct val="80000"/>
              </a:lnSpc>
              <a:spcBef>
                <a:spcPts val="293"/>
              </a:spcBef>
              <a:buClr>
                <a:srgbClr val="8DC63F"/>
              </a:buClr>
            </a:pPr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   용</a:t>
            </a:r>
            <a:endParaRPr lang="en-US" altLang="ko-KR" sz="11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127684" y="5218550"/>
            <a:ext cx="1234746" cy="161795"/>
            <a:chOff x="1127684" y="5447150"/>
            <a:chExt cx="1234746" cy="161795"/>
          </a:xfrm>
        </p:grpSpPr>
        <p:sp>
          <p:nvSpPr>
            <p:cNvPr id="527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447150"/>
              <a:ext cx="1114813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9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도시개발구역 지정</a:t>
              </a:r>
            </a:p>
          </p:txBody>
        </p:sp>
        <p:sp>
          <p:nvSpPr>
            <p:cNvPr id="528" name="타원 527"/>
            <p:cNvSpPr/>
            <p:nvPr/>
          </p:nvSpPr>
          <p:spPr>
            <a:xfrm>
              <a:off x="1127684" y="5500962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95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529" name="사각형: 둥근 모서리 42">
            <a:extLst>
              <a:ext uri="{FF2B5EF4-FFF2-40B4-BE49-F238E27FC236}">
                <a16:creationId xmlns:a16="http://schemas.microsoft.com/office/drawing/2014/main" id="{AD40023B-483A-40AA-BDD5-E2A8AC7EB3AE}"/>
              </a:ext>
            </a:extLst>
          </p:cNvPr>
          <p:cNvSpPr/>
          <p:nvPr/>
        </p:nvSpPr>
        <p:spPr>
          <a:xfrm>
            <a:off x="1628956" y="4912955"/>
            <a:ext cx="2118892" cy="164258"/>
          </a:xfrm>
          <a:prstGeom prst="roundRect">
            <a:avLst>
              <a:gd name="adj" fmla="val 11186"/>
            </a:avLst>
          </a:prstGeom>
          <a:noFill/>
          <a:ln w="38100" cmpd="thickThin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ko-KR" altLang="en-US" sz="900" dirty="0"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112726" y="4894360"/>
            <a:ext cx="2406805" cy="191219"/>
            <a:chOff x="1112726" y="5139629"/>
            <a:chExt cx="2406805" cy="191219"/>
          </a:xfrm>
        </p:grpSpPr>
        <p:grpSp>
          <p:nvGrpSpPr>
            <p:cNvPr id="540" name="그룹 539"/>
            <p:cNvGrpSpPr/>
            <p:nvPr/>
          </p:nvGrpSpPr>
          <p:grpSpPr>
            <a:xfrm>
              <a:off x="1112726" y="5139629"/>
              <a:ext cx="1452674" cy="179536"/>
              <a:chOff x="1112726" y="5017769"/>
              <a:chExt cx="1452674" cy="179536"/>
            </a:xfrm>
          </p:grpSpPr>
          <p:sp>
            <p:nvSpPr>
              <p:cNvPr id="541" name="사각형: 둥근 모서리 42">
                <a:extLst>
                  <a:ext uri="{FF2B5EF4-FFF2-40B4-BE49-F238E27FC236}">
                    <a16:creationId xmlns:a16="http://schemas.microsoft.com/office/drawing/2014/main" id="{AD40023B-483A-40AA-BDD5-E2A8AC7EB3AE}"/>
                  </a:ext>
                </a:extLst>
              </p:cNvPr>
              <p:cNvSpPr/>
              <p:nvPr/>
            </p:nvSpPr>
            <p:spPr>
              <a:xfrm>
                <a:off x="1112726" y="5025408"/>
                <a:ext cx="426327" cy="164258"/>
              </a:xfrm>
              <a:prstGeom prst="roundRect">
                <a:avLst>
                  <a:gd name="adj" fmla="val 11186"/>
                </a:avLst>
              </a:prstGeom>
              <a:solidFill>
                <a:srgbClr val="D4C8A8"/>
              </a:solidFill>
              <a:ln w="38100" cmpd="thickThin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b="1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면 적</a:t>
                </a:r>
              </a:p>
            </p:txBody>
          </p:sp>
          <p:sp>
            <p:nvSpPr>
              <p:cNvPr id="542" name="TextBox 541"/>
              <p:cNvSpPr txBox="1"/>
              <p:nvPr/>
            </p:nvSpPr>
            <p:spPr>
              <a:xfrm>
                <a:off x="1640370" y="5017769"/>
                <a:ext cx="925030" cy="1795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>
                  <a:lnSpc>
                    <a:spcPts val="1400"/>
                  </a:lnSpc>
                  <a:buClr>
                    <a:schemeClr val="bg1">
                      <a:lumMod val="75000"/>
                    </a:schemeClr>
                  </a:buClr>
                </a:pPr>
                <a:r>
                  <a:rPr lang="en-US" altLang="ko-KR" sz="1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160,393</a:t>
                </a:r>
                <a:r>
                  <a:rPr lang="ko-KR" altLang="en-US" sz="1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㎡</a:t>
                </a:r>
                <a:endParaRPr lang="en-US" altLang="ko-KR" sz="10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cxnSp>
          <p:nvCxnSpPr>
            <p:cNvPr id="546" name="직선 연결선 545"/>
            <p:cNvCxnSpPr/>
            <p:nvPr/>
          </p:nvCxnSpPr>
          <p:spPr>
            <a:xfrm>
              <a:off x="1611531" y="5330848"/>
              <a:ext cx="1908000" cy="0"/>
            </a:xfrm>
            <a:prstGeom prst="line">
              <a:avLst/>
            </a:prstGeom>
            <a:ln>
              <a:gradFill>
                <a:gsLst>
                  <a:gs pos="50000">
                    <a:schemeClr val="tx1">
                      <a:lumMod val="75000"/>
                      <a:lumOff val="25000"/>
                    </a:schemeClr>
                  </a:gs>
                  <a:gs pos="0">
                    <a:schemeClr val="bg1">
                      <a:lumMod val="75000"/>
                    </a:schemeClr>
                  </a:gs>
                </a:gsLst>
                <a:lin ang="0" scaled="0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0" name="그룹 549"/>
          <p:cNvGrpSpPr/>
          <p:nvPr/>
        </p:nvGrpSpPr>
        <p:grpSpPr>
          <a:xfrm>
            <a:off x="1127684" y="5407006"/>
            <a:ext cx="1136830" cy="161795"/>
            <a:chOff x="1127684" y="5479939"/>
            <a:chExt cx="1136830" cy="161795"/>
          </a:xfrm>
        </p:grpSpPr>
        <p:sp>
          <p:nvSpPr>
            <p:cNvPr id="551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479939"/>
              <a:ext cx="1016897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도시개발계획 수립</a:t>
              </a:r>
            </a:p>
          </p:txBody>
        </p:sp>
        <p:sp>
          <p:nvSpPr>
            <p:cNvPr id="552" name="타원 551"/>
            <p:cNvSpPr/>
            <p:nvPr/>
          </p:nvSpPr>
          <p:spPr>
            <a:xfrm>
              <a:off x="1127684" y="5527943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553" name="그룹 552"/>
          <p:cNvGrpSpPr/>
          <p:nvPr/>
        </p:nvGrpSpPr>
        <p:grpSpPr>
          <a:xfrm>
            <a:off x="1127684" y="5783918"/>
            <a:ext cx="1693299" cy="161795"/>
            <a:chOff x="1127684" y="5889153"/>
            <a:chExt cx="1693299" cy="161795"/>
          </a:xfrm>
        </p:grpSpPr>
        <p:sp>
          <p:nvSpPr>
            <p:cNvPr id="554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889153"/>
              <a:ext cx="1573366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교통성검토</a:t>
              </a:r>
              <a:endParaRPr lang="ko-KR" altLang="en-US" sz="1000" spc="-7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55" name="타원 554"/>
            <p:cNvSpPr/>
            <p:nvPr/>
          </p:nvSpPr>
          <p:spPr>
            <a:xfrm>
              <a:off x="1127684" y="5937157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562" name="그룹 561"/>
          <p:cNvGrpSpPr/>
          <p:nvPr/>
        </p:nvGrpSpPr>
        <p:grpSpPr>
          <a:xfrm>
            <a:off x="1127684" y="5595462"/>
            <a:ext cx="1631983" cy="161795"/>
            <a:chOff x="1127684" y="5685918"/>
            <a:chExt cx="1631983" cy="161795"/>
          </a:xfrm>
        </p:grpSpPr>
        <p:sp>
          <p:nvSpPr>
            <p:cNvPr id="563" name="타원 562"/>
            <p:cNvSpPr/>
            <p:nvPr/>
          </p:nvSpPr>
          <p:spPr>
            <a:xfrm>
              <a:off x="1127684" y="5733922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64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685918"/>
              <a:ext cx="1512050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개발사업경관계획</a:t>
              </a:r>
            </a:p>
          </p:txBody>
        </p:sp>
      </p:grpSp>
      <p:grpSp>
        <p:nvGrpSpPr>
          <p:cNvPr id="246" name="그룹 245"/>
          <p:cNvGrpSpPr/>
          <p:nvPr/>
        </p:nvGrpSpPr>
        <p:grpSpPr>
          <a:xfrm>
            <a:off x="1127684" y="5972376"/>
            <a:ext cx="1693299" cy="161795"/>
            <a:chOff x="1127684" y="5889153"/>
            <a:chExt cx="1693299" cy="161795"/>
          </a:xfrm>
        </p:grpSpPr>
        <p:sp>
          <p:nvSpPr>
            <p:cNvPr id="249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889153"/>
              <a:ext cx="1573366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토지 및 </a:t>
              </a:r>
              <a:r>
                <a:rPr lang="ko-KR" altLang="en-US" sz="1000" spc="-7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지장물건</a:t>
              </a: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조사</a:t>
              </a:r>
            </a:p>
          </p:txBody>
        </p:sp>
        <p:sp>
          <p:nvSpPr>
            <p:cNvPr id="251" name="타원 250"/>
            <p:cNvSpPr/>
            <p:nvPr/>
          </p:nvSpPr>
          <p:spPr>
            <a:xfrm>
              <a:off x="1127684" y="5937157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53" name="그룹 252"/>
          <p:cNvGrpSpPr/>
          <p:nvPr/>
        </p:nvGrpSpPr>
        <p:grpSpPr>
          <a:xfrm>
            <a:off x="2346696" y="5218550"/>
            <a:ext cx="1234746" cy="161795"/>
            <a:chOff x="1127684" y="5447150"/>
            <a:chExt cx="1234746" cy="161795"/>
          </a:xfrm>
        </p:grpSpPr>
        <p:sp>
          <p:nvSpPr>
            <p:cNvPr id="254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447150"/>
              <a:ext cx="1114813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9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실시계획 인가</a:t>
              </a:r>
            </a:p>
          </p:txBody>
        </p:sp>
        <p:sp>
          <p:nvSpPr>
            <p:cNvPr id="255" name="타원 254"/>
            <p:cNvSpPr/>
            <p:nvPr/>
          </p:nvSpPr>
          <p:spPr>
            <a:xfrm>
              <a:off x="1127684" y="5500962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95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56" name="그룹 255"/>
          <p:cNvGrpSpPr/>
          <p:nvPr/>
        </p:nvGrpSpPr>
        <p:grpSpPr>
          <a:xfrm>
            <a:off x="2346696" y="5407006"/>
            <a:ext cx="1136830" cy="161795"/>
            <a:chOff x="1127684" y="5479939"/>
            <a:chExt cx="1136830" cy="161795"/>
          </a:xfrm>
        </p:grpSpPr>
        <p:sp>
          <p:nvSpPr>
            <p:cNvPr id="257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479939"/>
              <a:ext cx="1016897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지형도면고시</a:t>
              </a:r>
            </a:p>
          </p:txBody>
        </p:sp>
        <p:sp>
          <p:nvSpPr>
            <p:cNvPr id="258" name="타원 257"/>
            <p:cNvSpPr/>
            <p:nvPr/>
          </p:nvSpPr>
          <p:spPr>
            <a:xfrm>
              <a:off x="1127684" y="5527943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68" name="그룹 267"/>
          <p:cNvGrpSpPr/>
          <p:nvPr/>
        </p:nvGrpSpPr>
        <p:grpSpPr>
          <a:xfrm>
            <a:off x="1127684" y="6158916"/>
            <a:ext cx="1693299" cy="161795"/>
            <a:chOff x="1127684" y="5889153"/>
            <a:chExt cx="1693299" cy="161795"/>
          </a:xfrm>
        </p:grpSpPr>
        <p:sp>
          <p:nvSpPr>
            <p:cNvPr id="269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889153"/>
              <a:ext cx="1573366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기본 및 실시설계</a:t>
              </a:r>
              <a:endParaRPr lang="ko-KR" altLang="en-US" sz="1000" spc="-7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70" name="타원 269"/>
            <p:cNvSpPr/>
            <p:nvPr/>
          </p:nvSpPr>
          <p:spPr>
            <a:xfrm>
              <a:off x="1127684" y="5937157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59" name="그룹 258"/>
          <p:cNvGrpSpPr/>
          <p:nvPr/>
        </p:nvGrpSpPr>
        <p:grpSpPr>
          <a:xfrm>
            <a:off x="2346696" y="5783918"/>
            <a:ext cx="1693299" cy="161795"/>
            <a:chOff x="1127684" y="5889153"/>
            <a:chExt cx="1693299" cy="161795"/>
          </a:xfrm>
        </p:grpSpPr>
        <p:sp>
          <p:nvSpPr>
            <p:cNvPr id="260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889153"/>
              <a:ext cx="1573366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농지</a:t>
              </a:r>
              <a:r>
                <a:rPr lang="en-US" altLang="ko-KR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산지 </a:t>
              </a:r>
              <a:r>
                <a:rPr lang="ko-KR" altLang="en-US" sz="1000" spc="-7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전용협의</a:t>
              </a:r>
              <a:endParaRPr lang="ko-KR" altLang="en-US" sz="1000" spc="-7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61" name="타원 260"/>
            <p:cNvSpPr/>
            <p:nvPr/>
          </p:nvSpPr>
          <p:spPr>
            <a:xfrm>
              <a:off x="1127684" y="5937157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62" name="그룹 261"/>
          <p:cNvGrpSpPr/>
          <p:nvPr/>
        </p:nvGrpSpPr>
        <p:grpSpPr>
          <a:xfrm>
            <a:off x="2346696" y="5595462"/>
            <a:ext cx="1631983" cy="161795"/>
            <a:chOff x="1127684" y="5685918"/>
            <a:chExt cx="1631983" cy="161795"/>
          </a:xfrm>
        </p:grpSpPr>
        <p:sp>
          <p:nvSpPr>
            <p:cNvPr id="263" name="타원 262"/>
            <p:cNvSpPr/>
            <p:nvPr/>
          </p:nvSpPr>
          <p:spPr>
            <a:xfrm>
              <a:off x="1127684" y="5733922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64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685918"/>
              <a:ext cx="1512050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지구단위계획 수립</a:t>
              </a:r>
            </a:p>
          </p:txBody>
        </p:sp>
      </p:grpSp>
      <p:grpSp>
        <p:nvGrpSpPr>
          <p:cNvPr id="265" name="그룹 264"/>
          <p:cNvGrpSpPr/>
          <p:nvPr/>
        </p:nvGrpSpPr>
        <p:grpSpPr>
          <a:xfrm>
            <a:off x="2346696" y="5972376"/>
            <a:ext cx="1693299" cy="161795"/>
            <a:chOff x="1127684" y="5889153"/>
            <a:chExt cx="1693299" cy="161795"/>
          </a:xfrm>
        </p:grpSpPr>
        <p:sp>
          <p:nvSpPr>
            <p:cNvPr id="266" name="사각형: 둥근 모서리 42">
              <a:extLst>
                <a:ext uri="{FF2B5EF4-FFF2-40B4-BE49-F238E27FC236}">
                  <a16:creationId xmlns:a16="http://schemas.microsoft.com/office/drawing/2014/main" id="{AD40023B-483A-40AA-BDD5-E2A8AC7EB3AE}"/>
                </a:ext>
              </a:extLst>
            </p:cNvPr>
            <p:cNvSpPr/>
            <p:nvPr/>
          </p:nvSpPr>
          <p:spPr>
            <a:xfrm>
              <a:off x="1247617" y="5889153"/>
              <a:ext cx="1573366" cy="161795"/>
            </a:xfrm>
            <a:prstGeom prst="roundRect">
              <a:avLst>
                <a:gd name="adj" fmla="val 0"/>
              </a:avLst>
            </a:prstGeom>
            <a:noFill/>
            <a:ln w="38100" cmpd="thickThin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Clr>
                  <a:schemeClr val="bg1">
                    <a:lumMod val="75000"/>
                  </a:schemeClr>
                </a:buClr>
              </a:pP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국</a:t>
              </a:r>
              <a:r>
                <a:rPr lang="en-US" altLang="ko-KR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·</a:t>
              </a: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공유지 </a:t>
              </a:r>
              <a:r>
                <a:rPr lang="ko-KR" altLang="en-US" sz="1000" spc="-7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무상귀속</a:t>
              </a:r>
              <a:r>
                <a:rPr lang="ko-KR" altLang="en-US" sz="1000" spc="-7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협의</a:t>
              </a:r>
            </a:p>
          </p:txBody>
        </p:sp>
        <p:sp>
          <p:nvSpPr>
            <p:cNvPr id="267" name="타원 266"/>
            <p:cNvSpPr/>
            <p:nvPr/>
          </p:nvSpPr>
          <p:spPr>
            <a:xfrm>
              <a:off x="1127684" y="5937157"/>
              <a:ext cx="51955" cy="5195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6843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00"/>
                </a:lnSpc>
              </a:pPr>
              <a:endParaRPr lang="ko-KR" altLang="en-US" sz="1000" spc="-70" dirty="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670" y="1715219"/>
            <a:ext cx="1919390" cy="205871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78" y="2181225"/>
            <a:ext cx="6379284" cy="13794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2436" y="2432754"/>
            <a:ext cx="2532670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lvl="0" indent="-108000" defTabSz="457200" latinLnBrk="0">
              <a:lnSpc>
                <a:spcPts val="1500"/>
              </a:lnSpc>
              <a:spcBef>
                <a:spcPts val="400"/>
              </a:spcBef>
              <a:buClr>
                <a:prstClr val="white">
                  <a:lumMod val="75000"/>
                </a:prstClr>
              </a:buClr>
              <a:buFont typeface="Arial" panose="020B0604020202020204" pitchFamily="34" charset="0"/>
              <a:buChar char="•"/>
              <a:defRPr sz="1000" b="1" spc="-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pc="-60" dirty="0"/>
              <a:t>청년층 유입과 지역 활성화</a:t>
            </a:r>
            <a:r>
              <a:rPr lang="ko-KR" altLang="en-US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</a:t>
            </a:r>
            <a:r>
              <a:rPr lang="ko-KR" altLang="en-US" spc="-60" dirty="0"/>
              <a:t> </a:t>
            </a:r>
            <a:r>
              <a:rPr lang="ko-KR" altLang="en-US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중점을 둔 주거</a:t>
            </a:r>
            <a:r>
              <a:rPr lang="en-US" altLang="ko-KR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br>
              <a:rPr lang="en-US" altLang="ko-KR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b="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역세권 복합</a:t>
            </a:r>
            <a:r>
              <a:rPr lang="en-US" altLang="ko-KR" b="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b="0" spc="-11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자족기능을 통한 </a:t>
            </a:r>
            <a:r>
              <a:rPr lang="ko-KR" altLang="en-US" spc="-110" dirty="0"/>
              <a:t>지방소멸위기 극복</a:t>
            </a:r>
            <a:endParaRPr lang="en-US" altLang="ko-KR" spc="-110" dirty="0"/>
          </a:p>
        </p:txBody>
      </p:sp>
      <p:sp>
        <p:nvSpPr>
          <p:cNvPr id="12" name="TextBox 11"/>
          <p:cNvSpPr txBox="1"/>
          <p:nvPr/>
        </p:nvSpPr>
        <p:spPr>
          <a:xfrm>
            <a:off x="4662436" y="2920333"/>
            <a:ext cx="2300337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lvl="0" indent="-108000" defTabSz="457200" latinLnBrk="0">
              <a:lnSpc>
                <a:spcPts val="1500"/>
              </a:lnSpc>
              <a:spcBef>
                <a:spcPts val="400"/>
              </a:spcBef>
              <a:buClr>
                <a:prstClr val="white">
                  <a:lumMod val="75000"/>
                </a:prstClr>
              </a:buClr>
              <a:buFont typeface="Arial" panose="020B0604020202020204" pitchFamily="34" charset="0"/>
              <a:buChar char="•"/>
              <a:defRPr sz="1000" b="0" spc="-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b="1" spc="-60" dirty="0">
                <a:solidFill>
                  <a:schemeClr val="accent2">
                    <a:lumMod val="50000"/>
                  </a:schemeClr>
                </a:solidFill>
              </a:rPr>
              <a:t>내포 </a:t>
            </a:r>
            <a:r>
              <a:rPr lang="ko-KR" altLang="en-US" b="1" spc="-60" dirty="0" err="1">
                <a:solidFill>
                  <a:schemeClr val="accent2">
                    <a:lumMod val="50000"/>
                  </a:schemeClr>
                </a:solidFill>
              </a:rPr>
              <a:t>농생명</a:t>
            </a:r>
            <a:r>
              <a:rPr lang="ko-KR" altLang="en-US" b="1" spc="-6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b="1" spc="-60" dirty="0" err="1">
                <a:solidFill>
                  <a:schemeClr val="accent2">
                    <a:lumMod val="50000"/>
                  </a:schemeClr>
                </a:solidFill>
              </a:rPr>
              <a:t>융복합산업</a:t>
            </a:r>
            <a:r>
              <a:rPr lang="ko-KR" altLang="en-US" b="1" spc="-60" dirty="0">
                <a:solidFill>
                  <a:schemeClr val="accent2">
                    <a:lumMod val="50000"/>
                  </a:schemeClr>
                </a:solidFill>
              </a:rPr>
              <a:t> 클러스터</a:t>
            </a:r>
            <a:r>
              <a:rPr lang="ko-KR" altLang="en-US" spc="-80" dirty="0"/>
              <a:t>와 유기적인 </a:t>
            </a:r>
            <a:r>
              <a:rPr lang="ko-KR" altLang="en-US" spc="-90" dirty="0"/>
              <a:t>연결로 </a:t>
            </a:r>
            <a:r>
              <a:rPr lang="ko-KR" altLang="en-US" spc="-90" dirty="0" err="1"/>
              <a:t>도시확장을</a:t>
            </a:r>
            <a:r>
              <a:rPr lang="ko-KR" altLang="en-US" spc="-90" dirty="0"/>
              <a:t> 고려한 </a:t>
            </a:r>
            <a:r>
              <a:rPr lang="ko-KR" altLang="en-US" b="1" spc="-90" dirty="0">
                <a:solidFill>
                  <a:schemeClr val="accent2">
                    <a:lumMod val="50000"/>
                  </a:schemeClr>
                </a:solidFill>
              </a:rPr>
              <a:t>복합개발계획안 제시</a:t>
            </a:r>
            <a:endParaRPr lang="en-US" altLang="ko-KR" b="1" spc="-9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자유형 240"/>
          <p:cNvSpPr/>
          <p:nvPr/>
        </p:nvSpPr>
        <p:spPr>
          <a:xfrm>
            <a:off x="755401" y="2889884"/>
            <a:ext cx="2241957" cy="45719"/>
          </a:xfrm>
          <a:custGeom>
            <a:avLst/>
            <a:gdLst>
              <a:gd name="connsiteX0" fmla="*/ 0 w 2148840"/>
              <a:gd name="connsiteY0" fmla="*/ 0 h 0"/>
              <a:gd name="connsiteX1" fmla="*/ 0 w 2148840"/>
              <a:gd name="connsiteY1" fmla="*/ 0 h 0"/>
              <a:gd name="connsiteX2" fmla="*/ 2148840 w 214884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8840">
                <a:moveTo>
                  <a:pt x="0" y="0"/>
                </a:moveTo>
                <a:lnTo>
                  <a:pt x="0" y="0"/>
                </a:lnTo>
                <a:lnTo>
                  <a:pt x="2148840" y="0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241"/>
          <p:cNvSpPr/>
          <p:nvPr/>
        </p:nvSpPr>
        <p:spPr>
          <a:xfrm>
            <a:off x="4723368" y="2889884"/>
            <a:ext cx="2187958" cy="45719"/>
          </a:xfrm>
          <a:custGeom>
            <a:avLst/>
            <a:gdLst>
              <a:gd name="connsiteX0" fmla="*/ 0 w 2148840"/>
              <a:gd name="connsiteY0" fmla="*/ 0 h 0"/>
              <a:gd name="connsiteX1" fmla="*/ 0 w 2148840"/>
              <a:gd name="connsiteY1" fmla="*/ 0 h 0"/>
              <a:gd name="connsiteX2" fmla="*/ 2148840 w 214884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8840">
                <a:moveTo>
                  <a:pt x="0" y="0"/>
                </a:moveTo>
                <a:lnTo>
                  <a:pt x="0" y="0"/>
                </a:lnTo>
                <a:lnTo>
                  <a:pt x="2148840" y="0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242"/>
          <p:cNvSpPr/>
          <p:nvPr/>
        </p:nvSpPr>
        <p:spPr>
          <a:xfrm>
            <a:off x="726826" y="2190750"/>
            <a:ext cx="2095500" cy="174625"/>
          </a:xfrm>
          <a:custGeom>
            <a:avLst/>
            <a:gdLst>
              <a:gd name="connsiteX0" fmla="*/ 2089150 w 2095500"/>
              <a:gd name="connsiteY0" fmla="*/ 139700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  <a:gd name="connsiteX8" fmla="*/ 2089150 w 2095500"/>
              <a:gd name="connsiteY8" fmla="*/ 139700 h 142875"/>
              <a:gd name="connsiteX0" fmla="*/ 2095500 w 2095500"/>
              <a:gd name="connsiteY0" fmla="*/ 142875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42875">
                <a:moveTo>
                  <a:pt x="2095500" y="142875"/>
                </a:moveTo>
                <a:lnTo>
                  <a:pt x="2025650" y="9525"/>
                </a:lnTo>
                <a:lnTo>
                  <a:pt x="2000250" y="0"/>
                </a:lnTo>
                <a:lnTo>
                  <a:pt x="28575" y="0"/>
                </a:lnTo>
                <a:lnTo>
                  <a:pt x="3175" y="15875"/>
                </a:lnTo>
                <a:lnTo>
                  <a:pt x="0" y="34925"/>
                </a:lnTo>
                <a:lnTo>
                  <a:pt x="0" y="142875"/>
                </a:lnTo>
                <a:lnTo>
                  <a:pt x="2095500" y="142875"/>
                </a:lnTo>
                <a:close/>
              </a:path>
            </a:pathLst>
          </a:custGeom>
          <a:solidFill>
            <a:srgbClr val="AFA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 243"/>
          <p:cNvSpPr/>
          <p:nvPr/>
        </p:nvSpPr>
        <p:spPr>
          <a:xfrm flipH="1">
            <a:off x="4796872" y="2190750"/>
            <a:ext cx="2095500" cy="174625"/>
          </a:xfrm>
          <a:custGeom>
            <a:avLst/>
            <a:gdLst>
              <a:gd name="connsiteX0" fmla="*/ 2089150 w 2095500"/>
              <a:gd name="connsiteY0" fmla="*/ 139700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  <a:gd name="connsiteX8" fmla="*/ 2089150 w 2095500"/>
              <a:gd name="connsiteY8" fmla="*/ 139700 h 142875"/>
              <a:gd name="connsiteX0" fmla="*/ 2095500 w 2095500"/>
              <a:gd name="connsiteY0" fmla="*/ 142875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42875">
                <a:moveTo>
                  <a:pt x="2095500" y="142875"/>
                </a:moveTo>
                <a:lnTo>
                  <a:pt x="2025650" y="9525"/>
                </a:lnTo>
                <a:lnTo>
                  <a:pt x="2000250" y="0"/>
                </a:lnTo>
                <a:lnTo>
                  <a:pt x="28575" y="0"/>
                </a:lnTo>
                <a:lnTo>
                  <a:pt x="3175" y="15875"/>
                </a:lnTo>
                <a:lnTo>
                  <a:pt x="0" y="34925"/>
                </a:lnTo>
                <a:lnTo>
                  <a:pt x="0" y="142875"/>
                </a:lnTo>
                <a:lnTo>
                  <a:pt x="2095500" y="142875"/>
                </a:lnTo>
                <a:close/>
              </a:path>
            </a:pathLst>
          </a:custGeom>
          <a:solidFill>
            <a:srgbClr val="AFA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 244"/>
          <p:cNvSpPr/>
          <p:nvPr/>
        </p:nvSpPr>
        <p:spPr>
          <a:xfrm rot="10800000" flipH="1">
            <a:off x="719926" y="3376846"/>
            <a:ext cx="2095500" cy="174625"/>
          </a:xfrm>
          <a:custGeom>
            <a:avLst/>
            <a:gdLst>
              <a:gd name="connsiteX0" fmla="*/ 2089150 w 2095500"/>
              <a:gd name="connsiteY0" fmla="*/ 139700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  <a:gd name="connsiteX8" fmla="*/ 2089150 w 2095500"/>
              <a:gd name="connsiteY8" fmla="*/ 139700 h 142875"/>
              <a:gd name="connsiteX0" fmla="*/ 2095500 w 2095500"/>
              <a:gd name="connsiteY0" fmla="*/ 142875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42875">
                <a:moveTo>
                  <a:pt x="2095500" y="142875"/>
                </a:moveTo>
                <a:lnTo>
                  <a:pt x="2025650" y="9525"/>
                </a:lnTo>
                <a:lnTo>
                  <a:pt x="2000250" y="0"/>
                </a:lnTo>
                <a:lnTo>
                  <a:pt x="28575" y="0"/>
                </a:lnTo>
                <a:lnTo>
                  <a:pt x="3175" y="15875"/>
                </a:lnTo>
                <a:lnTo>
                  <a:pt x="0" y="34925"/>
                </a:lnTo>
                <a:lnTo>
                  <a:pt x="0" y="142875"/>
                </a:lnTo>
                <a:lnTo>
                  <a:pt x="2095500" y="142875"/>
                </a:lnTo>
                <a:close/>
              </a:path>
            </a:pathLst>
          </a:custGeom>
          <a:solidFill>
            <a:srgbClr val="AFA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246"/>
          <p:cNvSpPr/>
          <p:nvPr/>
        </p:nvSpPr>
        <p:spPr>
          <a:xfrm rot="10800000">
            <a:off x="4785691" y="3376846"/>
            <a:ext cx="2095500" cy="174625"/>
          </a:xfrm>
          <a:custGeom>
            <a:avLst/>
            <a:gdLst>
              <a:gd name="connsiteX0" fmla="*/ 2089150 w 2095500"/>
              <a:gd name="connsiteY0" fmla="*/ 139700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  <a:gd name="connsiteX8" fmla="*/ 2089150 w 2095500"/>
              <a:gd name="connsiteY8" fmla="*/ 139700 h 142875"/>
              <a:gd name="connsiteX0" fmla="*/ 2095500 w 2095500"/>
              <a:gd name="connsiteY0" fmla="*/ 142875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42875">
                <a:moveTo>
                  <a:pt x="2095500" y="142875"/>
                </a:moveTo>
                <a:lnTo>
                  <a:pt x="2025650" y="9525"/>
                </a:lnTo>
                <a:lnTo>
                  <a:pt x="2000250" y="0"/>
                </a:lnTo>
                <a:lnTo>
                  <a:pt x="28575" y="0"/>
                </a:lnTo>
                <a:lnTo>
                  <a:pt x="3175" y="15875"/>
                </a:lnTo>
                <a:lnTo>
                  <a:pt x="0" y="34925"/>
                </a:lnTo>
                <a:lnTo>
                  <a:pt x="0" y="142875"/>
                </a:lnTo>
                <a:lnTo>
                  <a:pt x="2095500" y="142875"/>
                </a:lnTo>
                <a:close/>
              </a:path>
            </a:pathLst>
          </a:custGeom>
          <a:solidFill>
            <a:srgbClr val="AFA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844321" y="2203616"/>
            <a:ext cx="198758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algn="r" defTabSz="457200" fontAlgn="auto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C63F"/>
              </a:buClr>
              <a:buSzTx/>
              <a:buFontTx/>
              <a:buNone/>
              <a:tabLst/>
              <a:defRPr kumimoji="0" sz="1000" b="1" i="0" u="none" strike="noStrike" cap="none" spc="-70" normalizeH="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 err="1"/>
              <a:t>지방소멸</a:t>
            </a:r>
            <a:r>
              <a:rPr lang="ko-KR" altLang="en-US" dirty="0"/>
              <a:t> 대응을 위한 계획적 </a:t>
            </a:r>
            <a:r>
              <a:rPr lang="ko-KR" altLang="en-US" dirty="0" err="1"/>
              <a:t>개발유도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810024" y="3335920"/>
            <a:ext cx="2101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C63F"/>
              </a:buClr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 algn="r"/>
            <a:r>
              <a:rPr lang="ko-KR" altLang="en-US" sz="1000" spc="-3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청년어민</a:t>
            </a:r>
            <a:r>
              <a:rPr lang="ko-KR" altLang="en-US" sz="1000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양성 및 핵심선도기업 유치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048" y="3335920"/>
            <a:ext cx="22318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C63F"/>
              </a:buClr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z="1000" spc="-3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지역특화산업을 선도하는 농공단지 조성</a:t>
            </a:r>
            <a:endParaRPr lang="ko-KR" altLang="en-US" sz="1000" b="0" spc="-3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7056" y="2208160"/>
            <a:ext cx="19365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C63F"/>
              </a:buClr>
              <a:buSzTx/>
              <a:buFontTx/>
              <a:buNone/>
              <a:tabLst/>
              <a:defRPr kumimoji="0" sz="1000" b="1" i="0" u="none" strike="noStrike" cap="none" spc="-70" normalizeH="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민선 </a:t>
            </a:r>
            <a:r>
              <a:rPr lang="en-US" altLang="ko-KR" dirty="0"/>
              <a:t>8</a:t>
            </a:r>
            <a:r>
              <a:rPr lang="ko-KR" altLang="en-US" dirty="0"/>
              <a:t>기 공약사항 을 고려한 도시개발</a:t>
            </a:r>
          </a:p>
        </p:txBody>
      </p:sp>
      <p:sp>
        <p:nvSpPr>
          <p:cNvPr id="23" name="자유형 328"/>
          <p:cNvSpPr/>
          <p:nvPr/>
        </p:nvSpPr>
        <p:spPr>
          <a:xfrm rot="10800000" flipH="1">
            <a:off x="719926" y="3376846"/>
            <a:ext cx="2095500" cy="174625"/>
          </a:xfrm>
          <a:custGeom>
            <a:avLst/>
            <a:gdLst>
              <a:gd name="connsiteX0" fmla="*/ 2089150 w 2095500"/>
              <a:gd name="connsiteY0" fmla="*/ 139700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  <a:gd name="connsiteX8" fmla="*/ 2089150 w 2095500"/>
              <a:gd name="connsiteY8" fmla="*/ 139700 h 142875"/>
              <a:gd name="connsiteX0" fmla="*/ 2095500 w 2095500"/>
              <a:gd name="connsiteY0" fmla="*/ 142875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42875">
                <a:moveTo>
                  <a:pt x="2095500" y="142875"/>
                </a:moveTo>
                <a:lnTo>
                  <a:pt x="2025650" y="9525"/>
                </a:lnTo>
                <a:lnTo>
                  <a:pt x="2000250" y="0"/>
                </a:lnTo>
                <a:lnTo>
                  <a:pt x="28575" y="0"/>
                </a:lnTo>
                <a:lnTo>
                  <a:pt x="3175" y="15875"/>
                </a:lnTo>
                <a:lnTo>
                  <a:pt x="0" y="34925"/>
                </a:lnTo>
                <a:lnTo>
                  <a:pt x="0" y="142875"/>
                </a:lnTo>
                <a:lnTo>
                  <a:pt x="2095500" y="142875"/>
                </a:lnTo>
                <a:close/>
              </a:path>
            </a:pathLst>
          </a:custGeom>
          <a:solidFill>
            <a:srgbClr val="AFA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자유형 329"/>
          <p:cNvSpPr/>
          <p:nvPr/>
        </p:nvSpPr>
        <p:spPr>
          <a:xfrm rot="10800000">
            <a:off x="4785691" y="3376846"/>
            <a:ext cx="2095500" cy="174625"/>
          </a:xfrm>
          <a:custGeom>
            <a:avLst/>
            <a:gdLst>
              <a:gd name="connsiteX0" fmla="*/ 2089150 w 2095500"/>
              <a:gd name="connsiteY0" fmla="*/ 139700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  <a:gd name="connsiteX8" fmla="*/ 2089150 w 2095500"/>
              <a:gd name="connsiteY8" fmla="*/ 139700 h 142875"/>
              <a:gd name="connsiteX0" fmla="*/ 2095500 w 2095500"/>
              <a:gd name="connsiteY0" fmla="*/ 142875 h 142875"/>
              <a:gd name="connsiteX1" fmla="*/ 2025650 w 2095500"/>
              <a:gd name="connsiteY1" fmla="*/ 9525 h 142875"/>
              <a:gd name="connsiteX2" fmla="*/ 2000250 w 2095500"/>
              <a:gd name="connsiteY2" fmla="*/ 0 h 142875"/>
              <a:gd name="connsiteX3" fmla="*/ 28575 w 2095500"/>
              <a:gd name="connsiteY3" fmla="*/ 0 h 142875"/>
              <a:gd name="connsiteX4" fmla="*/ 3175 w 2095500"/>
              <a:gd name="connsiteY4" fmla="*/ 15875 h 142875"/>
              <a:gd name="connsiteX5" fmla="*/ 0 w 2095500"/>
              <a:gd name="connsiteY5" fmla="*/ 34925 h 142875"/>
              <a:gd name="connsiteX6" fmla="*/ 0 w 2095500"/>
              <a:gd name="connsiteY6" fmla="*/ 142875 h 142875"/>
              <a:gd name="connsiteX7" fmla="*/ 2095500 w 2095500"/>
              <a:gd name="connsiteY7" fmla="*/ 142875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142875">
                <a:moveTo>
                  <a:pt x="2095500" y="142875"/>
                </a:moveTo>
                <a:lnTo>
                  <a:pt x="2025650" y="9525"/>
                </a:lnTo>
                <a:lnTo>
                  <a:pt x="2000250" y="0"/>
                </a:lnTo>
                <a:lnTo>
                  <a:pt x="28575" y="0"/>
                </a:lnTo>
                <a:lnTo>
                  <a:pt x="3175" y="15875"/>
                </a:lnTo>
                <a:lnTo>
                  <a:pt x="0" y="34925"/>
                </a:lnTo>
                <a:lnTo>
                  <a:pt x="0" y="142875"/>
                </a:lnTo>
                <a:lnTo>
                  <a:pt x="2095500" y="142875"/>
                </a:lnTo>
                <a:close/>
              </a:path>
            </a:pathLst>
          </a:custGeom>
          <a:solidFill>
            <a:srgbClr val="AFA6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4499029" y="3380031"/>
            <a:ext cx="233793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C63F"/>
              </a:buClr>
              <a:buSzTx/>
              <a:buFontTx/>
              <a:buNone/>
              <a:tabLst/>
              <a:defRPr kumimoji="0" sz="1100" b="1" i="0" u="none" strike="noStrike" cap="none" spc="0" normalizeH="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 algn="r"/>
            <a:r>
              <a:rPr lang="ko-KR" altLang="en-US" sz="1000" spc="-7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개발사업과 연계한 유기적인 복합개발계획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885" y="3380031"/>
            <a:ext cx="20289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defTabSz="457200" fontAlgn="auto" latinLnBrk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DC63F"/>
              </a:buClr>
              <a:buSzTx/>
              <a:buFontTx/>
              <a:buNone/>
              <a:tabLst/>
              <a:defRPr kumimoji="0" sz="1000" b="1" i="0" u="none" strike="noStrike" cap="none" spc="-70" normalizeH="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공공 주도의 체계적 역세권 개발추진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916978" y="2928120"/>
            <a:ext cx="1746628" cy="3385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bg1">
                  <a:lumMod val="75000"/>
                </a:schemeClr>
              </a:buClr>
            </a:pPr>
            <a:r>
              <a:rPr lang="en-US" altLang="ko-KR" sz="11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“</a:t>
            </a:r>
            <a:r>
              <a:rPr lang="ko-KR" altLang="en-US" sz="11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내포를 여는 도시의門</a:t>
            </a:r>
            <a:br>
              <a:rPr lang="en-US" altLang="ko-KR" sz="1100" dirty="0">
                <a:latin typeface="휴먼옛체" panose="02030504000101010101" pitchFamily="18" charset="-127"/>
                <a:ea typeface="휴먼옛체" panose="02030504000101010101" pitchFamily="18" charset="-127"/>
              </a:rPr>
            </a:br>
            <a:r>
              <a:rPr lang="en-US" altLang="ko-KR" sz="11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     </a:t>
            </a:r>
            <a:r>
              <a:rPr lang="ko-KR" altLang="en-US" sz="11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내일을 잇는 관문도시</a:t>
            </a:r>
            <a:r>
              <a:rPr lang="en-US" altLang="ko-KR" sz="1100" dirty="0">
                <a:latin typeface="휴먼옛체" panose="02030504000101010101" pitchFamily="18" charset="-127"/>
                <a:ea typeface="휴먼옛체" panose="02030504000101010101" pitchFamily="18" charset="-127"/>
              </a:rPr>
              <a:t>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8585D-2964-3205-9A86-0C49E45725D6}"/>
              </a:ext>
            </a:extLst>
          </p:cNvPr>
          <p:cNvSpPr/>
          <p:nvPr/>
        </p:nvSpPr>
        <p:spPr>
          <a:xfrm>
            <a:off x="2776444" y="2447922"/>
            <a:ext cx="2012413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 defTabSz="457200" latinLnBrk="0">
              <a:buClr>
                <a:srgbClr val="8DC63F"/>
              </a:buClr>
              <a:defRPr/>
            </a:pPr>
            <a:r>
              <a:rPr lang="ko-KR" altLang="en-US" sz="3600" b="1" spc="10" dirty="0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01600">
                    <a:prstClr val="white">
                      <a:alpha val="70000"/>
                    </a:prstClr>
                  </a:glow>
                </a:effectLst>
                <a:latin typeface="나눔손글씨 펜" panose="03040600000000000000" pitchFamily="66" charset="-127"/>
                <a:ea typeface="나눔손글씨 펜" panose="03040600000000000000" pitchFamily="66" charset="-127"/>
              </a:rPr>
              <a:t>내포역세권</a:t>
            </a:r>
            <a:endParaRPr lang="en-US" altLang="ko-KR" sz="3600" b="1" spc="1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01600">
                  <a:prstClr val="white">
                    <a:alpha val="70000"/>
                  </a:prstClr>
                </a:glow>
              </a:effectLst>
              <a:latin typeface="MarigoldPS" panose="03020702040402020504" pitchFamily="66" charset="0"/>
              <a:ea typeface="KoPub돋움체 Bold" panose="02020603020101020101" pitchFamily="18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C529BB2-D587-3E15-7366-3D762A562396}"/>
              </a:ext>
            </a:extLst>
          </p:cNvPr>
          <p:cNvGrpSpPr/>
          <p:nvPr/>
        </p:nvGrpSpPr>
        <p:grpSpPr>
          <a:xfrm>
            <a:off x="1288253" y="8243645"/>
            <a:ext cx="1827314" cy="960669"/>
            <a:chOff x="-4166251" y="3975179"/>
            <a:chExt cx="1752481" cy="921329"/>
          </a:xfrm>
        </p:grpSpPr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471AF073-6DB6-32CF-8CCB-D0CE2B81FF71}"/>
                </a:ext>
              </a:extLst>
            </p:cNvPr>
            <p:cNvSpPr/>
            <p:nvPr/>
          </p:nvSpPr>
          <p:spPr>
            <a:xfrm>
              <a:off x="-4166251" y="4107151"/>
              <a:ext cx="889434" cy="654163"/>
            </a:xfrm>
            <a:custGeom>
              <a:avLst/>
              <a:gdLst>
                <a:gd name="connsiteX0" fmla="*/ 125 w 771579"/>
                <a:gd name="connsiteY0" fmla="*/ 438757 h 557703"/>
                <a:gd name="connsiteX1" fmla="*/ 312545 w 771579"/>
                <a:gd name="connsiteY1" fmla="*/ 27277 h 557703"/>
                <a:gd name="connsiteX2" fmla="*/ 495425 w 771579"/>
                <a:gd name="connsiteY2" fmla="*/ 42517 h 557703"/>
                <a:gd name="connsiteX3" fmla="*/ 769745 w 771579"/>
                <a:gd name="connsiteY3" fmla="*/ 72997 h 557703"/>
                <a:gd name="connsiteX4" fmla="*/ 602105 w 771579"/>
                <a:gd name="connsiteY4" fmla="*/ 530197 h 557703"/>
                <a:gd name="connsiteX5" fmla="*/ 350645 w 771579"/>
                <a:gd name="connsiteY5" fmla="*/ 499717 h 557703"/>
                <a:gd name="connsiteX6" fmla="*/ 125 w 771579"/>
                <a:gd name="connsiteY6" fmla="*/ 438757 h 557703"/>
                <a:gd name="connsiteX0" fmla="*/ 138 w 746192"/>
                <a:gd name="connsiteY0" fmla="*/ 414896 h 556942"/>
                <a:gd name="connsiteX1" fmla="*/ 287158 w 746192"/>
                <a:gd name="connsiteY1" fmla="*/ 25641 h 556942"/>
                <a:gd name="connsiteX2" fmla="*/ 470038 w 746192"/>
                <a:gd name="connsiteY2" fmla="*/ 40881 h 556942"/>
                <a:gd name="connsiteX3" fmla="*/ 744358 w 746192"/>
                <a:gd name="connsiteY3" fmla="*/ 71361 h 556942"/>
                <a:gd name="connsiteX4" fmla="*/ 576718 w 746192"/>
                <a:gd name="connsiteY4" fmla="*/ 528561 h 556942"/>
                <a:gd name="connsiteX5" fmla="*/ 325258 w 746192"/>
                <a:gd name="connsiteY5" fmla="*/ 498081 h 556942"/>
                <a:gd name="connsiteX6" fmla="*/ 138 w 746192"/>
                <a:gd name="connsiteY6" fmla="*/ 414896 h 556942"/>
                <a:gd name="connsiteX0" fmla="*/ 138 w 733689"/>
                <a:gd name="connsiteY0" fmla="*/ 415836 h 557882"/>
                <a:gd name="connsiteX1" fmla="*/ 287158 w 733689"/>
                <a:gd name="connsiteY1" fmla="*/ 26581 h 557882"/>
                <a:gd name="connsiteX2" fmla="*/ 470038 w 733689"/>
                <a:gd name="connsiteY2" fmla="*/ 41821 h 557882"/>
                <a:gd name="connsiteX3" fmla="*/ 731658 w 733689"/>
                <a:gd name="connsiteY3" fmla="*/ 100876 h 557882"/>
                <a:gd name="connsiteX4" fmla="*/ 576718 w 733689"/>
                <a:gd name="connsiteY4" fmla="*/ 529501 h 557882"/>
                <a:gd name="connsiteX5" fmla="*/ 325258 w 733689"/>
                <a:gd name="connsiteY5" fmla="*/ 499021 h 557882"/>
                <a:gd name="connsiteX6" fmla="*/ 138 w 733689"/>
                <a:gd name="connsiteY6" fmla="*/ 415836 h 557882"/>
                <a:gd name="connsiteX0" fmla="*/ 49306 w 782857"/>
                <a:gd name="connsiteY0" fmla="*/ 495522 h 637568"/>
                <a:gd name="connsiteX1" fmla="*/ 50576 w 782857"/>
                <a:gd name="connsiteY1" fmla="*/ 15780 h 637568"/>
                <a:gd name="connsiteX2" fmla="*/ 519206 w 782857"/>
                <a:gd name="connsiteY2" fmla="*/ 121507 h 637568"/>
                <a:gd name="connsiteX3" fmla="*/ 780826 w 782857"/>
                <a:gd name="connsiteY3" fmla="*/ 180562 h 637568"/>
                <a:gd name="connsiteX4" fmla="*/ 625886 w 782857"/>
                <a:gd name="connsiteY4" fmla="*/ 609187 h 637568"/>
                <a:gd name="connsiteX5" fmla="*/ 374426 w 782857"/>
                <a:gd name="connsiteY5" fmla="*/ 578707 h 637568"/>
                <a:gd name="connsiteX6" fmla="*/ 49306 w 782857"/>
                <a:gd name="connsiteY6" fmla="*/ 495522 h 637568"/>
                <a:gd name="connsiteX0" fmla="*/ 13863 w 911720"/>
                <a:gd name="connsiteY0" fmla="*/ 475334 h 637012"/>
                <a:gd name="connsiteX1" fmla="*/ 179439 w 911720"/>
                <a:gd name="connsiteY1" fmla="*/ 14642 h 637012"/>
                <a:gd name="connsiteX2" fmla="*/ 648069 w 911720"/>
                <a:gd name="connsiteY2" fmla="*/ 120369 h 637012"/>
                <a:gd name="connsiteX3" fmla="*/ 909689 w 911720"/>
                <a:gd name="connsiteY3" fmla="*/ 179424 h 637012"/>
                <a:gd name="connsiteX4" fmla="*/ 754749 w 911720"/>
                <a:gd name="connsiteY4" fmla="*/ 608049 h 637012"/>
                <a:gd name="connsiteX5" fmla="*/ 503289 w 911720"/>
                <a:gd name="connsiteY5" fmla="*/ 577569 h 637012"/>
                <a:gd name="connsiteX6" fmla="*/ 13863 w 911720"/>
                <a:gd name="connsiteY6" fmla="*/ 475334 h 637012"/>
                <a:gd name="connsiteX0" fmla="*/ 13153 w 911010"/>
                <a:gd name="connsiteY0" fmla="*/ 475334 h 642342"/>
                <a:gd name="connsiteX1" fmla="*/ 178729 w 911010"/>
                <a:gd name="connsiteY1" fmla="*/ 14642 h 642342"/>
                <a:gd name="connsiteX2" fmla="*/ 647359 w 911010"/>
                <a:gd name="connsiteY2" fmla="*/ 120369 h 642342"/>
                <a:gd name="connsiteX3" fmla="*/ 908979 w 911010"/>
                <a:gd name="connsiteY3" fmla="*/ 179424 h 642342"/>
                <a:gd name="connsiteX4" fmla="*/ 754039 w 911010"/>
                <a:gd name="connsiteY4" fmla="*/ 608049 h 642342"/>
                <a:gd name="connsiteX5" fmla="*/ 490673 w 911010"/>
                <a:gd name="connsiteY5" fmla="*/ 599000 h 642342"/>
                <a:gd name="connsiteX6" fmla="*/ 13153 w 911010"/>
                <a:gd name="connsiteY6" fmla="*/ 475334 h 642342"/>
                <a:gd name="connsiteX0" fmla="*/ 9046 w 906903"/>
                <a:gd name="connsiteY0" fmla="*/ 475334 h 642342"/>
                <a:gd name="connsiteX1" fmla="*/ 174622 w 906903"/>
                <a:gd name="connsiteY1" fmla="*/ 14642 h 642342"/>
                <a:gd name="connsiteX2" fmla="*/ 643252 w 906903"/>
                <a:gd name="connsiteY2" fmla="*/ 120369 h 642342"/>
                <a:gd name="connsiteX3" fmla="*/ 904872 w 906903"/>
                <a:gd name="connsiteY3" fmla="*/ 179424 h 642342"/>
                <a:gd name="connsiteX4" fmla="*/ 749932 w 906903"/>
                <a:gd name="connsiteY4" fmla="*/ 608049 h 642342"/>
                <a:gd name="connsiteX5" fmla="*/ 486566 w 906903"/>
                <a:gd name="connsiteY5" fmla="*/ 599000 h 642342"/>
                <a:gd name="connsiteX6" fmla="*/ 9046 w 906903"/>
                <a:gd name="connsiteY6" fmla="*/ 475334 h 642342"/>
                <a:gd name="connsiteX0" fmla="*/ 7812 w 931863"/>
                <a:gd name="connsiteY0" fmla="*/ 477856 h 642386"/>
                <a:gd name="connsiteX1" fmla="*/ 199582 w 931863"/>
                <a:gd name="connsiteY1" fmla="*/ 14783 h 642386"/>
                <a:gd name="connsiteX2" fmla="*/ 668212 w 931863"/>
                <a:gd name="connsiteY2" fmla="*/ 120510 h 642386"/>
                <a:gd name="connsiteX3" fmla="*/ 929832 w 931863"/>
                <a:gd name="connsiteY3" fmla="*/ 179565 h 642386"/>
                <a:gd name="connsiteX4" fmla="*/ 774892 w 931863"/>
                <a:gd name="connsiteY4" fmla="*/ 608190 h 642386"/>
                <a:gd name="connsiteX5" fmla="*/ 511526 w 931863"/>
                <a:gd name="connsiteY5" fmla="*/ 599141 h 642386"/>
                <a:gd name="connsiteX6" fmla="*/ 7812 w 931863"/>
                <a:gd name="connsiteY6" fmla="*/ 477856 h 642386"/>
                <a:gd name="connsiteX0" fmla="*/ 7704 w 931755"/>
                <a:gd name="connsiteY0" fmla="*/ 466074 h 630604"/>
                <a:gd name="connsiteX1" fmla="*/ 199474 w 931755"/>
                <a:gd name="connsiteY1" fmla="*/ 3001 h 630604"/>
                <a:gd name="connsiteX2" fmla="*/ 668104 w 931755"/>
                <a:gd name="connsiteY2" fmla="*/ 108728 h 630604"/>
                <a:gd name="connsiteX3" fmla="*/ 929724 w 931755"/>
                <a:gd name="connsiteY3" fmla="*/ 167783 h 630604"/>
                <a:gd name="connsiteX4" fmla="*/ 774784 w 931755"/>
                <a:gd name="connsiteY4" fmla="*/ 596408 h 630604"/>
                <a:gd name="connsiteX5" fmla="*/ 511418 w 931755"/>
                <a:gd name="connsiteY5" fmla="*/ 587359 h 630604"/>
                <a:gd name="connsiteX6" fmla="*/ 7704 w 931755"/>
                <a:gd name="connsiteY6" fmla="*/ 466074 h 630604"/>
                <a:gd name="connsiteX0" fmla="*/ 5738 w 929789"/>
                <a:gd name="connsiteY0" fmla="*/ 466074 h 630604"/>
                <a:gd name="connsiteX1" fmla="*/ 197508 w 929789"/>
                <a:gd name="connsiteY1" fmla="*/ 3001 h 630604"/>
                <a:gd name="connsiteX2" fmla="*/ 666138 w 929789"/>
                <a:gd name="connsiteY2" fmla="*/ 108728 h 630604"/>
                <a:gd name="connsiteX3" fmla="*/ 927758 w 929789"/>
                <a:gd name="connsiteY3" fmla="*/ 167783 h 630604"/>
                <a:gd name="connsiteX4" fmla="*/ 772818 w 929789"/>
                <a:gd name="connsiteY4" fmla="*/ 596408 h 630604"/>
                <a:gd name="connsiteX5" fmla="*/ 509452 w 929789"/>
                <a:gd name="connsiteY5" fmla="*/ 587359 h 630604"/>
                <a:gd name="connsiteX6" fmla="*/ 5738 w 929789"/>
                <a:gd name="connsiteY6" fmla="*/ 466074 h 630604"/>
                <a:gd name="connsiteX0" fmla="*/ 7886 w 931632"/>
                <a:gd name="connsiteY0" fmla="*/ 481189 h 645719"/>
                <a:gd name="connsiteX1" fmla="*/ 199656 w 931632"/>
                <a:gd name="connsiteY1" fmla="*/ 18116 h 645719"/>
                <a:gd name="connsiteX2" fmla="*/ 677811 w 931632"/>
                <a:gd name="connsiteY2" fmla="*/ 102412 h 645719"/>
                <a:gd name="connsiteX3" fmla="*/ 929906 w 931632"/>
                <a:gd name="connsiteY3" fmla="*/ 182898 h 645719"/>
                <a:gd name="connsiteX4" fmla="*/ 774966 w 931632"/>
                <a:gd name="connsiteY4" fmla="*/ 611523 h 645719"/>
                <a:gd name="connsiteX5" fmla="*/ 511600 w 931632"/>
                <a:gd name="connsiteY5" fmla="*/ 602474 h 645719"/>
                <a:gd name="connsiteX6" fmla="*/ 7886 w 931632"/>
                <a:gd name="connsiteY6" fmla="*/ 481189 h 645719"/>
                <a:gd name="connsiteX0" fmla="*/ 7886 w 930834"/>
                <a:gd name="connsiteY0" fmla="*/ 481189 h 645719"/>
                <a:gd name="connsiteX1" fmla="*/ 199656 w 930834"/>
                <a:gd name="connsiteY1" fmla="*/ 18116 h 645719"/>
                <a:gd name="connsiteX2" fmla="*/ 677811 w 930834"/>
                <a:gd name="connsiteY2" fmla="*/ 102412 h 645719"/>
                <a:gd name="connsiteX3" fmla="*/ 929906 w 930834"/>
                <a:gd name="connsiteY3" fmla="*/ 182898 h 645719"/>
                <a:gd name="connsiteX4" fmla="*/ 774966 w 930834"/>
                <a:gd name="connsiteY4" fmla="*/ 611523 h 645719"/>
                <a:gd name="connsiteX5" fmla="*/ 511600 w 930834"/>
                <a:gd name="connsiteY5" fmla="*/ 602474 h 645719"/>
                <a:gd name="connsiteX6" fmla="*/ 7886 w 930834"/>
                <a:gd name="connsiteY6" fmla="*/ 481189 h 645719"/>
                <a:gd name="connsiteX0" fmla="*/ 7886 w 932249"/>
                <a:gd name="connsiteY0" fmla="*/ 481189 h 653023"/>
                <a:gd name="connsiteX1" fmla="*/ 199656 w 932249"/>
                <a:gd name="connsiteY1" fmla="*/ 18116 h 653023"/>
                <a:gd name="connsiteX2" fmla="*/ 677811 w 932249"/>
                <a:gd name="connsiteY2" fmla="*/ 102412 h 653023"/>
                <a:gd name="connsiteX3" fmla="*/ 929906 w 932249"/>
                <a:gd name="connsiteY3" fmla="*/ 182898 h 653023"/>
                <a:gd name="connsiteX4" fmla="*/ 786872 w 932249"/>
                <a:gd name="connsiteY4" fmla="*/ 621048 h 653023"/>
                <a:gd name="connsiteX5" fmla="*/ 511600 w 932249"/>
                <a:gd name="connsiteY5" fmla="*/ 602474 h 653023"/>
                <a:gd name="connsiteX6" fmla="*/ 7886 w 932249"/>
                <a:gd name="connsiteY6" fmla="*/ 481189 h 653023"/>
                <a:gd name="connsiteX0" fmla="*/ 7886 w 931942"/>
                <a:gd name="connsiteY0" fmla="*/ 481189 h 653023"/>
                <a:gd name="connsiteX1" fmla="*/ 199656 w 931942"/>
                <a:gd name="connsiteY1" fmla="*/ 18116 h 653023"/>
                <a:gd name="connsiteX2" fmla="*/ 677811 w 931942"/>
                <a:gd name="connsiteY2" fmla="*/ 102412 h 653023"/>
                <a:gd name="connsiteX3" fmla="*/ 929906 w 931942"/>
                <a:gd name="connsiteY3" fmla="*/ 182898 h 653023"/>
                <a:gd name="connsiteX4" fmla="*/ 786872 w 931942"/>
                <a:gd name="connsiteY4" fmla="*/ 621048 h 653023"/>
                <a:gd name="connsiteX5" fmla="*/ 511600 w 931942"/>
                <a:gd name="connsiteY5" fmla="*/ 602474 h 653023"/>
                <a:gd name="connsiteX6" fmla="*/ 7886 w 931942"/>
                <a:gd name="connsiteY6" fmla="*/ 481189 h 653023"/>
                <a:gd name="connsiteX0" fmla="*/ 6329 w 930385"/>
                <a:gd name="connsiteY0" fmla="*/ 478454 h 650288"/>
                <a:gd name="connsiteX1" fmla="*/ 198099 w 930385"/>
                <a:gd name="connsiteY1" fmla="*/ 15381 h 650288"/>
                <a:gd name="connsiteX2" fmla="*/ 676254 w 930385"/>
                <a:gd name="connsiteY2" fmla="*/ 99677 h 650288"/>
                <a:gd name="connsiteX3" fmla="*/ 928349 w 930385"/>
                <a:gd name="connsiteY3" fmla="*/ 180163 h 650288"/>
                <a:gd name="connsiteX4" fmla="*/ 785315 w 930385"/>
                <a:gd name="connsiteY4" fmla="*/ 618313 h 650288"/>
                <a:gd name="connsiteX5" fmla="*/ 510043 w 930385"/>
                <a:gd name="connsiteY5" fmla="*/ 599739 h 650288"/>
                <a:gd name="connsiteX6" fmla="*/ 6329 w 930385"/>
                <a:gd name="connsiteY6" fmla="*/ 478454 h 650288"/>
                <a:gd name="connsiteX0" fmla="*/ 9833 w 933889"/>
                <a:gd name="connsiteY0" fmla="*/ 493846 h 665680"/>
                <a:gd name="connsiteX1" fmla="*/ 199222 w 933889"/>
                <a:gd name="connsiteY1" fmla="*/ 14105 h 665680"/>
                <a:gd name="connsiteX2" fmla="*/ 679758 w 933889"/>
                <a:gd name="connsiteY2" fmla="*/ 115069 h 665680"/>
                <a:gd name="connsiteX3" fmla="*/ 931853 w 933889"/>
                <a:gd name="connsiteY3" fmla="*/ 195555 h 665680"/>
                <a:gd name="connsiteX4" fmla="*/ 788819 w 933889"/>
                <a:gd name="connsiteY4" fmla="*/ 633705 h 665680"/>
                <a:gd name="connsiteX5" fmla="*/ 513547 w 933889"/>
                <a:gd name="connsiteY5" fmla="*/ 615131 h 665680"/>
                <a:gd name="connsiteX6" fmla="*/ 9833 w 933889"/>
                <a:gd name="connsiteY6" fmla="*/ 493846 h 665680"/>
                <a:gd name="connsiteX0" fmla="*/ 8240 w 932296"/>
                <a:gd name="connsiteY0" fmla="*/ 490503 h 662337"/>
                <a:gd name="connsiteX1" fmla="*/ 197629 w 932296"/>
                <a:gd name="connsiteY1" fmla="*/ 10762 h 662337"/>
                <a:gd name="connsiteX2" fmla="*/ 678165 w 932296"/>
                <a:gd name="connsiteY2" fmla="*/ 111726 h 662337"/>
                <a:gd name="connsiteX3" fmla="*/ 930260 w 932296"/>
                <a:gd name="connsiteY3" fmla="*/ 192212 h 662337"/>
                <a:gd name="connsiteX4" fmla="*/ 787226 w 932296"/>
                <a:gd name="connsiteY4" fmla="*/ 630362 h 662337"/>
                <a:gd name="connsiteX5" fmla="*/ 511954 w 932296"/>
                <a:gd name="connsiteY5" fmla="*/ 611788 h 662337"/>
                <a:gd name="connsiteX6" fmla="*/ 8240 w 932296"/>
                <a:gd name="connsiteY6" fmla="*/ 490503 h 662337"/>
                <a:gd name="connsiteX0" fmla="*/ 9498 w 933554"/>
                <a:gd name="connsiteY0" fmla="*/ 490503 h 662337"/>
                <a:gd name="connsiteX1" fmla="*/ 198887 w 933554"/>
                <a:gd name="connsiteY1" fmla="*/ 10762 h 662337"/>
                <a:gd name="connsiteX2" fmla="*/ 679423 w 933554"/>
                <a:gd name="connsiteY2" fmla="*/ 111726 h 662337"/>
                <a:gd name="connsiteX3" fmla="*/ 931518 w 933554"/>
                <a:gd name="connsiteY3" fmla="*/ 192212 h 662337"/>
                <a:gd name="connsiteX4" fmla="*/ 788484 w 933554"/>
                <a:gd name="connsiteY4" fmla="*/ 630362 h 662337"/>
                <a:gd name="connsiteX5" fmla="*/ 513212 w 933554"/>
                <a:gd name="connsiteY5" fmla="*/ 611788 h 662337"/>
                <a:gd name="connsiteX6" fmla="*/ 9498 w 933554"/>
                <a:gd name="connsiteY6" fmla="*/ 490503 h 662337"/>
                <a:gd name="connsiteX0" fmla="*/ 12275 w 941593"/>
                <a:gd name="connsiteY0" fmla="*/ 501485 h 673319"/>
                <a:gd name="connsiteX1" fmla="*/ 201664 w 941593"/>
                <a:gd name="connsiteY1" fmla="*/ 21744 h 673319"/>
                <a:gd name="connsiteX2" fmla="*/ 555994 w 941593"/>
                <a:gd name="connsiteY2" fmla="*/ 94133 h 673319"/>
                <a:gd name="connsiteX3" fmla="*/ 934295 w 941593"/>
                <a:gd name="connsiteY3" fmla="*/ 203194 h 673319"/>
                <a:gd name="connsiteX4" fmla="*/ 791261 w 941593"/>
                <a:gd name="connsiteY4" fmla="*/ 641344 h 673319"/>
                <a:gd name="connsiteX5" fmla="*/ 515989 w 941593"/>
                <a:gd name="connsiteY5" fmla="*/ 622770 h 673319"/>
                <a:gd name="connsiteX6" fmla="*/ 12275 w 941593"/>
                <a:gd name="connsiteY6" fmla="*/ 501485 h 673319"/>
                <a:gd name="connsiteX0" fmla="*/ 10946 w 940264"/>
                <a:gd name="connsiteY0" fmla="*/ 504418 h 676252"/>
                <a:gd name="connsiteX1" fmla="*/ 200335 w 940264"/>
                <a:gd name="connsiteY1" fmla="*/ 24677 h 676252"/>
                <a:gd name="connsiteX2" fmla="*/ 554665 w 940264"/>
                <a:gd name="connsiteY2" fmla="*/ 97066 h 676252"/>
                <a:gd name="connsiteX3" fmla="*/ 932966 w 940264"/>
                <a:gd name="connsiteY3" fmla="*/ 206127 h 676252"/>
                <a:gd name="connsiteX4" fmla="*/ 789932 w 940264"/>
                <a:gd name="connsiteY4" fmla="*/ 644277 h 676252"/>
                <a:gd name="connsiteX5" fmla="*/ 514660 w 940264"/>
                <a:gd name="connsiteY5" fmla="*/ 625703 h 676252"/>
                <a:gd name="connsiteX6" fmla="*/ 10946 w 940264"/>
                <a:gd name="connsiteY6" fmla="*/ 504418 h 676252"/>
                <a:gd name="connsiteX0" fmla="*/ 9950 w 939268"/>
                <a:gd name="connsiteY0" fmla="*/ 495743 h 667577"/>
                <a:gd name="connsiteX1" fmla="*/ 199339 w 939268"/>
                <a:gd name="connsiteY1" fmla="*/ 16002 h 667577"/>
                <a:gd name="connsiteX2" fmla="*/ 553669 w 939268"/>
                <a:gd name="connsiteY2" fmla="*/ 88391 h 667577"/>
                <a:gd name="connsiteX3" fmla="*/ 931970 w 939268"/>
                <a:gd name="connsiteY3" fmla="*/ 197452 h 667577"/>
                <a:gd name="connsiteX4" fmla="*/ 788936 w 939268"/>
                <a:gd name="connsiteY4" fmla="*/ 635602 h 667577"/>
                <a:gd name="connsiteX5" fmla="*/ 513664 w 939268"/>
                <a:gd name="connsiteY5" fmla="*/ 617028 h 667577"/>
                <a:gd name="connsiteX6" fmla="*/ 9950 w 939268"/>
                <a:gd name="connsiteY6" fmla="*/ 495743 h 667577"/>
                <a:gd name="connsiteX0" fmla="*/ 9950 w 925689"/>
                <a:gd name="connsiteY0" fmla="*/ 495827 h 667661"/>
                <a:gd name="connsiteX1" fmla="*/ 199339 w 925689"/>
                <a:gd name="connsiteY1" fmla="*/ 16086 h 667661"/>
                <a:gd name="connsiteX2" fmla="*/ 553669 w 925689"/>
                <a:gd name="connsiteY2" fmla="*/ 88475 h 667661"/>
                <a:gd name="connsiteX3" fmla="*/ 917683 w 925689"/>
                <a:gd name="connsiteY3" fmla="*/ 202298 h 667661"/>
                <a:gd name="connsiteX4" fmla="*/ 788936 w 925689"/>
                <a:gd name="connsiteY4" fmla="*/ 635686 h 667661"/>
                <a:gd name="connsiteX5" fmla="*/ 513664 w 925689"/>
                <a:gd name="connsiteY5" fmla="*/ 617112 h 667661"/>
                <a:gd name="connsiteX6" fmla="*/ 9950 w 925689"/>
                <a:gd name="connsiteY6" fmla="*/ 495827 h 667661"/>
                <a:gd name="connsiteX0" fmla="*/ 14102 w 898091"/>
                <a:gd name="connsiteY0" fmla="*/ 501581 h 673415"/>
                <a:gd name="connsiteX1" fmla="*/ 171741 w 898091"/>
                <a:gd name="connsiteY1" fmla="*/ 21840 h 673415"/>
                <a:gd name="connsiteX2" fmla="*/ 526071 w 898091"/>
                <a:gd name="connsiteY2" fmla="*/ 94229 h 673415"/>
                <a:gd name="connsiteX3" fmla="*/ 890085 w 898091"/>
                <a:gd name="connsiteY3" fmla="*/ 208052 h 673415"/>
                <a:gd name="connsiteX4" fmla="*/ 761338 w 898091"/>
                <a:gd name="connsiteY4" fmla="*/ 641440 h 673415"/>
                <a:gd name="connsiteX5" fmla="*/ 486066 w 898091"/>
                <a:gd name="connsiteY5" fmla="*/ 622866 h 673415"/>
                <a:gd name="connsiteX6" fmla="*/ 14102 w 898091"/>
                <a:gd name="connsiteY6" fmla="*/ 501581 h 673415"/>
                <a:gd name="connsiteX0" fmla="*/ 14102 w 896838"/>
                <a:gd name="connsiteY0" fmla="*/ 501581 h 666111"/>
                <a:gd name="connsiteX1" fmla="*/ 171741 w 896838"/>
                <a:gd name="connsiteY1" fmla="*/ 21840 h 666111"/>
                <a:gd name="connsiteX2" fmla="*/ 526071 w 896838"/>
                <a:gd name="connsiteY2" fmla="*/ 94229 h 666111"/>
                <a:gd name="connsiteX3" fmla="*/ 890085 w 896838"/>
                <a:gd name="connsiteY3" fmla="*/ 208052 h 666111"/>
                <a:gd name="connsiteX4" fmla="*/ 748638 w 896838"/>
                <a:gd name="connsiteY4" fmla="*/ 631915 h 666111"/>
                <a:gd name="connsiteX5" fmla="*/ 486066 w 896838"/>
                <a:gd name="connsiteY5" fmla="*/ 622866 h 666111"/>
                <a:gd name="connsiteX6" fmla="*/ 14102 w 896838"/>
                <a:gd name="connsiteY6" fmla="*/ 501581 h 666111"/>
                <a:gd name="connsiteX0" fmla="*/ 14102 w 896838"/>
                <a:gd name="connsiteY0" fmla="*/ 501264 h 665794"/>
                <a:gd name="connsiteX1" fmla="*/ 171741 w 896838"/>
                <a:gd name="connsiteY1" fmla="*/ 21523 h 665794"/>
                <a:gd name="connsiteX2" fmla="*/ 526071 w 896838"/>
                <a:gd name="connsiteY2" fmla="*/ 93912 h 665794"/>
                <a:gd name="connsiteX3" fmla="*/ 890085 w 896838"/>
                <a:gd name="connsiteY3" fmla="*/ 191860 h 665794"/>
                <a:gd name="connsiteX4" fmla="*/ 748638 w 896838"/>
                <a:gd name="connsiteY4" fmla="*/ 631598 h 665794"/>
                <a:gd name="connsiteX5" fmla="*/ 486066 w 896838"/>
                <a:gd name="connsiteY5" fmla="*/ 622549 h 665794"/>
                <a:gd name="connsiteX6" fmla="*/ 14102 w 896838"/>
                <a:gd name="connsiteY6" fmla="*/ 501264 h 665794"/>
                <a:gd name="connsiteX0" fmla="*/ 5843 w 888579"/>
                <a:gd name="connsiteY0" fmla="*/ 501264 h 658452"/>
                <a:gd name="connsiteX1" fmla="*/ 163482 w 888579"/>
                <a:gd name="connsiteY1" fmla="*/ 21523 h 658452"/>
                <a:gd name="connsiteX2" fmla="*/ 517812 w 888579"/>
                <a:gd name="connsiteY2" fmla="*/ 93912 h 658452"/>
                <a:gd name="connsiteX3" fmla="*/ 881826 w 888579"/>
                <a:gd name="connsiteY3" fmla="*/ 191860 h 658452"/>
                <a:gd name="connsiteX4" fmla="*/ 740379 w 888579"/>
                <a:gd name="connsiteY4" fmla="*/ 631598 h 658452"/>
                <a:gd name="connsiteX5" fmla="*/ 353982 w 888579"/>
                <a:gd name="connsiteY5" fmla="*/ 590799 h 658452"/>
                <a:gd name="connsiteX6" fmla="*/ 5843 w 888579"/>
                <a:gd name="connsiteY6" fmla="*/ 501264 h 658452"/>
                <a:gd name="connsiteX0" fmla="*/ 8745 w 891481"/>
                <a:gd name="connsiteY0" fmla="*/ 501264 h 658452"/>
                <a:gd name="connsiteX1" fmla="*/ 166384 w 891481"/>
                <a:gd name="connsiteY1" fmla="*/ 21523 h 658452"/>
                <a:gd name="connsiteX2" fmla="*/ 520714 w 891481"/>
                <a:gd name="connsiteY2" fmla="*/ 93912 h 658452"/>
                <a:gd name="connsiteX3" fmla="*/ 884728 w 891481"/>
                <a:gd name="connsiteY3" fmla="*/ 191860 h 658452"/>
                <a:gd name="connsiteX4" fmla="*/ 743281 w 891481"/>
                <a:gd name="connsiteY4" fmla="*/ 631598 h 658452"/>
                <a:gd name="connsiteX5" fmla="*/ 356884 w 891481"/>
                <a:gd name="connsiteY5" fmla="*/ 590799 h 658452"/>
                <a:gd name="connsiteX6" fmla="*/ 8745 w 891481"/>
                <a:gd name="connsiteY6" fmla="*/ 501264 h 658452"/>
                <a:gd name="connsiteX0" fmla="*/ 8891 w 890877"/>
                <a:gd name="connsiteY0" fmla="*/ 503942 h 661130"/>
                <a:gd name="connsiteX1" fmla="*/ 166530 w 890877"/>
                <a:gd name="connsiteY1" fmla="*/ 24201 h 661130"/>
                <a:gd name="connsiteX2" fmla="*/ 536735 w 890877"/>
                <a:gd name="connsiteY2" fmla="*/ 83890 h 661130"/>
                <a:gd name="connsiteX3" fmla="*/ 884874 w 890877"/>
                <a:gd name="connsiteY3" fmla="*/ 194538 h 661130"/>
                <a:gd name="connsiteX4" fmla="*/ 743427 w 890877"/>
                <a:gd name="connsiteY4" fmla="*/ 634276 h 661130"/>
                <a:gd name="connsiteX5" fmla="*/ 357030 w 890877"/>
                <a:gd name="connsiteY5" fmla="*/ 593477 h 661130"/>
                <a:gd name="connsiteX6" fmla="*/ 8891 w 890877"/>
                <a:gd name="connsiteY6" fmla="*/ 503942 h 661130"/>
                <a:gd name="connsiteX0" fmla="*/ 8891 w 891156"/>
                <a:gd name="connsiteY0" fmla="*/ 503942 h 674726"/>
                <a:gd name="connsiteX1" fmla="*/ 166530 w 891156"/>
                <a:gd name="connsiteY1" fmla="*/ 24201 h 674726"/>
                <a:gd name="connsiteX2" fmla="*/ 536735 w 891156"/>
                <a:gd name="connsiteY2" fmla="*/ 83890 h 674726"/>
                <a:gd name="connsiteX3" fmla="*/ 884874 w 891156"/>
                <a:gd name="connsiteY3" fmla="*/ 194538 h 674726"/>
                <a:gd name="connsiteX4" fmla="*/ 746602 w 891156"/>
                <a:gd name="connsiteY4" fmla="*/ 650151 h 674726"/>
                <a:gd name="connsiteX5" fmla="*/ 357030 w 891156"/>
                <a:gd name="connsiteY5" fmla="*/ 593477 h 674726"/>
                <a:gd name="connsiteX6" fmla="*/ 8891 w 891156"/>
                <a:gd name="connsiteY6" fmla="*/ 503942 h 674726"/>
                <a:gd name="connsiteX0" fmla="*/ 7169 w 889434"/>
                <a:gd name="connsiteY0" fmla="*/ 483706 h 654490"/>
                <a:gd name="connsiteX1" fmla="*/ 152902 w 889434"/>
                <a:gd name="connsiteY1" fmla="*/ 27778 h 654490"/>
                <a:gd name="connsiteX2" fmla="*/ 535013 w 889434"/>
                <a:gd name="connsiteY2" fmla="*/ 63654 h 654490"/>
                <a:gd name="connsiteX3" fmla="*/ 883152 w 889434"/>
                <a:gd name="connsiteY3" fmla="*/ 174302 h 654490"/>
                <a:gd name="connsiteX4" fmla="*/ 744880 w 889434"/>
                <a:gd name="connsiteY4" fmla="*/ 629915 h 654490"/>
                <a:gd name="connsiteX5" fmla="*/ 355308 w 889434"/>
                <a:gd name="connsiteY5" fmla="*/ 573241 h 654490"/>
                <a:gd name="connsiteX6" fmla="*/ 7169 w 889434"/>
                <a:gd name="connsiteY6" fmla="*/ 483706 h 654490"/>
                <a:gd name="connsiteX0" fmla="*/ 7169 w 889434"/>
                <a:gd name="connsiteY0" fmla="*/ 484205 h 654989"/>
                <a:gd name="connsiteX1" fmla="*/ 152902 w 889434"/>
                <a:gd name="connsiteY1" fmla="*/ 28277 h 654989"/>
                <a:gd name="connsiteX2" fmla="*/ 535013 w 889434"/>
                <a:gd name="connsiteY2" fmla="*/ 64153 h 654989"/>
                <a:gd name="connsiteX3" fmla="*/ 883152 w 889434"/>
                <a:gd name="connsiteY3" fmla="*/ 191470 h 654989"/>
                <a:gd name="connsiteX4" fmla="*/ 744880 w 889434"/>
                <a:gd name="connsiteY4" fmla="*/ 630414 h 654989"/>
                <a:gd name="connsiteX5" fmla="*/ 355308 w 889434"/>
                <a:gd name="connsiteY5" fmla="*/ 573740 h 654989"/>
                <a:gd name="connsiteX6" fmla="*/ 7169 w 889434"/>
                <a:gd name="connsiteY6" fmla="*/ 484205 h 654989"/>
                <a:gd name="connsiteX0" fmla="*/ 7169 w 889434"/>
                <a:gd name="connsiteY0" fmla="*/ 466317 h 654163"/>
                <a:gd name="connsiteX1" fmla="*/ 152902 w 889434"/>
                <a:gd name="connsiteY1" fmla="*/ 27058 h 654163"/>
                <a:gd name="connsiteX2" fmla="*/ 535013 w 889434"/>
                <a:gd name="connsiteY2" fmla="*/ 62934 h 654163"/>
                <a:gd name="connsiteX3" fmla="*/ 883152 w 889434"/>
                <a:gd name="connsiteY3" fmla="*/ 190251 h 654163"/>
                <a:gd name="connsiteX4" fmla="*/ 744880 w 889434"/>
                <a:gd name="connsiteY4" fmla="*/ 629195 h 654163"/>
                <a:gd name="connsiteX5" fmla="*/ 355308 w 889434"/>
                <a:gd name="connsiteY5" fmla="*/ 572521 h 654163"/>
                <a:gd name="connsiteX6" fmla="*/ 7169 w 889434"/>
                <a:gd name="connsiteY6" fmla="*/ 466317 h 654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9434" h="654163">
                  <a:moveTo>
                    <a:pt x="7169" y="466317"/>
                  </a:moveTo>
                  <a:cubicBezTo>
                    <a:pt x="-26565" y="375406"/>
                    <a:pt x="64928" y="94289"/>
                    <a:pt x="152902" y="27058"/>
                  </a:cubicBezTo>
                  <a:cubicBezTo>
                    <a:pt x="240876" y="-40173"/>
                    <a:pt x="413305" y="35735"/>
                    <a:pt x="535013" y="62934"/>
                  </a:cubicBezTo>
                  <a:cubicBezTo>
                    <a:pt x="656721" y="90133"/>
                    <a:pt x="848174" y="95874"/>
                    <a:pt x="883152" y="190251"/>
                  </a:cubicBezTo>
                  <a:cubicBezTo>
                    <a:pt x="918130" y="284628"/>
                    <a:pt x="798061" y="560457"/>
                    <a:pt x="744880" y="629195"/>
                  </a:cubicBezTo>
                  <a:cubicBezTo>
                    <a:pt x="675030" y="700315"/>
                    <a:pt x="478260" y="599667"/>
                    <a:pt x="355308" y="572521"/>
                  </a:cubicBezTo>
                  <a:cubicBezTo>
                    <a:pt x="232356" y="545375"/>
                    <a:pt x="40903" y="557228"/>
                    <a:pt x="7169" y="466317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40000"/>
              </a:schemeClr>
            </a:solidFill>
            <a:ln w="6350">
              <a:solidFill>
                <a:schemeClr val="tx1">
                  <a:alpha val="90000"/>
                </a:schemeClr>
              </a:solidFill>
              <a:prstDash val="solid"/>
              <a:headEnd type="none" w="med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7EB847F6-BF40-BCDF-3C38-1613CDB0E29F}"/>
                </a:ext>
              </a:extLst>
            </p:cNvPr>
            <p:cNvSpPr/>
            <p:nvPr/>
          </p:nvSpPr>
          <p:spPr>
            <a:xfrm>
              <a:off x="-3539505" y="3975179"/>
              <a:ext cx="563454" cy="207726"/>
            </a:xfrm>
            <a:custGeom>
              <a:avLst/>
              <a:gdLst>
                <a:gd name="connsiteX0" fmla="*/ 73 w 425933"/>
                <a:gd name="connsiteY0" fmla="*/ 128982 h 193475"/>
                <a:gd name="connsiteX1" fmla="*/ 374723 w 425933"/>
                <a:gd name="connsiteY1" fmla="*/ 17857 h 193475"/>
                <a:gd name="connsiteX2" fmla="*/ 419173 w 425933"/>
                <a:gd name="connsiteY2" fmla="*/ 17857 h 193475"/>
                <a:gd name="connsiteX3" fmla="*/ 342973 w 425933"/>
                <a:gd name="connsiteY3" fmla="*/ 189307 h 193475"/>
                <a:gd name="connsiteX4" fmla="*/ 73 w 425933"/>
                <a:gd name="connsiteY4" fmla="*/ 128982 h 193475"/>
                <a:gd name="connsiteX0" fmla="*/ 67 w 425927"/>
                <a:gd name="connsiteY0" fmla="*/ 128982 h 193475"/>
                <a:gd name="connsiteX1" fmla="*/ 374717 w 425927"/>
                <a:gd name="connsiteY1" fmla="*/ 17857 h 193475"/>
                <a:gd name="connsiteX2" fmla="*/ 419167 w 425927"/>
                <a:gd name="connsiteY2" fmla="*/ 17857 h 193475"/>
                <a:gd name="connsiteX3" fmla="*/ 342967 w 425927"/>
                <a:gd name="connsiteY3" fmla="*/ 189307 h 193475"/>
                <a:gd name="connsiteX4" fmla="*/ 67 w 425927"/>
                <a:gd name="connsiteY4" fmla="*/ 128982 h 193475"/>
                <a:gd name="connsiteX0" fmla="*/ 68 w 425928"/>
                <a:gd name="connsiteY0" fmla="*/ 128982 h 189734"/>
                <a:gd name="connsiteX1" fmla="*/ 374718 w 425928"/>
                <a:gd name="connsiteY1" fmla="*/ 17857 h 189734"/>
                <a:gd name="connsiteX2" fmla="*/ 419168 w 425928"/>
                <a:gd name="connsiteY2" fmla="*/ 17857 h 189734"/>
                <a:gd name="connsiteX3" fmla="*/ 342968 w 425928"/>
                <a:gd name="connsiteY3" fmla="*/ 189307 h 189734"/>
                <a:gd name="connsiteX4" fmla="*/ 68 w 425928"/>
                <a:gd name="connsiteY4" fmla="*/ 128982 h 189734"/>
                <a:gd name="connsiteX0" fmla="*/ 145 w 419609"/>
                <a:gd name="connsiteY0" fmla="*/ 124655 h 185407"/>
                <a:gd name="connsiteX1" fmla="*/ 301770 w 419609"/>
                <a:gd name="connsiteY1" fmla="*/ 26230 h 185407"/>
                <a:gd name="connsiteX2" fmla="*/ 419245 w 419609"/>
                <a:gd name="connsiteY2" fmla="*/ 13530 h 185407"/>
                <a:gd name="connsiteX3" fmla="*/ 343045 w 419609"/>
                <a:gd name="connsiteY3" fmla="*/ 184980 h 185407"/>
                <a:gd name="connsiteX4" fmla="*/ 145 w 419609"/>
                <a:gd name="connsiteY4" fmla="*/ 124655 h 185407"/>
                <a:gd name="connsiteX0" fmla="*/ 1718 w 421182"/>
                <a:gd name="connsiteY0" fmla="*/ 124655 h 185407"/>
                <a:gd name="connsiteX1" fmla="*/ 303343 w 421182"/>
                <a:gd name="connsiteY1" fmla="*/ 26230 h 185407"/>
                <a:gd name="connsiteX2" fmla="*/ 420818 w 421182"/>
                <a:gd name="connsiteY2" fmla="*/ 13530 h 185407"/>
                <a:gd name="connsiteX3" fmla="*/ 344618 w 421182"/>
                <a:gd name="connsiteY3" fmla="*/ 184980 h 185407"/>
                <a:gd name="connsiteX4" fmla="*/ 1718 w 421182"/>
                <a:gd name="connsiteY4" fmla="*/ 124655 h 185407"/>
                <a:gd name="connsiteX0" fmla="*/ 1918 w 405492"/>
                <a:gd name="connsiteY0" fmla="*/ 114771 h 187571"/>
                <a:gd name="connsiteX1" fmla="*/ 287668 w 405492"/>
                <a:gd name="connsiteY1" fmla="*/ 25871 h 187571"/>
                <a:gd name="connsiteX2" fmla="*/ 405143 w 405492"/>
                <a:gd name="connsiteY2" fmla="*/ 13171 h 187571"/>
                <a:gd name="connsiteX3" fmla="*/ 328943 w 405492"/>
                <a:gd name="connsiteY3" fmla="*/ 184621 h 187571"/>
                <a:gd name="connsiteX4" fmla="*/ 1918 w 405492"/>
                <a:gd name="connsiteY4" fmla="*/ 114771 h 187571"/>
                <a:gd name="connsiteX0" fmla="*/ 1757 w 405331"/>
                <a:gd name="connsiteY0" fmla="*/ 114771 h 187571"/>
                <a:gd name="connsiteX1" fmla="*/ 287507 w 405331"/>
                <a:gd name="connsiteY1" fmla="*/ 25871 h 187571"/>
                <a:gd name="connsiteX2" fmla="*/ 404982 w 405331"/>
                <a:gd name="connsiteY2" fmla="*/ 13171 h 187571"/>
                <a:gd name="connsiteX3" fmla="*/ 328782 w 405331"/>
                <a:gd name="connsiteY3" fmla="*/ 184621 h 187571"/>
                <a:gd name="connsiteX4" fmla="*/ 1757 w 405331"/>
                <a:gd name="connsiteY4" fmla="*/ 114771 h 187571"/>
                <a:gd name="connsiteX0" fmla="*/ 1694 w 405268"/>
                <a:gd name="connsiteY0" fmla="*/ 114771 h 189471"/>
                <a:gd name="connsiteX1" fmla="*/ 287444 w 405268"/>
                <a:gd name="connsiteY1" fmla="*/ 25871 h 189471"/>
                <a:gd name="connsiteX2" fmla="*/ 404919 w 405268"/>
                <a:gd name="connsiteY2" fmla="*/ 13171 h 189471"/>
                <a:gd name="connsiteX3" fmla="*/ 328719 w 405268"/>
                <a:gd name="connsiteY3" fmla="*/ 184621 h 189471"/>
                <a:gd name="connsiteX4" fmla="*/ 1694 w 405268"/>
                <a:gd name="connsiteY4" fmla="*/ 114771 h 189471"/>
                <a:gd name="connsiteX0" fmla="*/ 290 w 403864"/>
                <a:gd name="connsiteY0" fmla="*/ 114771 h 195536"/>
                <a:gd name="connsiteX1" fmla="*/ 286040 w 403864"/>
                <a:gd name="connsiteY1" fmla="*/ 25871 h 195536"/>
                <a:gd name="connsiteX2" fmla="*/ 403515 w 403864"/>
                <a:gd name="connsiteY2" fmla="*/ 13171 h 195536"/>
                <a:gd name="connsiteX3" fmla="*/ 343190 w 403864"/>
                <a:gd name="connsiteY3" fmla="*/ 190971 h 195536"/>
                <a:gd name="connsiteX4" fmla="*/ 290 w 403864"/>
                <a:gd name="connsiteY4" fmla="*/ 114771 h 195536"/>
                <a:gd name="connsiteX0" fmla="*/ 323 w 375297"/>
                <a:gd name="connsiteY0" fmla="*/ 127952 h 195376"/>
                <a:gd name="connsiteX1" fmla="*/ 257498 w 375297"/>
                <a:gd name="connsiteY1" fmla="*/ 26352 h 195376"/>
                <a:gd name="connsiteX2" fmla="*/ 374973 w 375297"/>
                <a:gd name="connsiteY2" fmla="*/ 13652 h 195376"/>
                <a:gd name="connsiteX3" fmla="*/ 314648 w 375297"/>
                <a:gd name="connsiteY3" fmla="*/ 191452 h 195376"/>
                <a:gd name="connsiteX4" fmla="*/ 323 w 375297"/>
                <a:gd name="connsiteY4" fmla="*/ 127952 h 195376"/>
                <a:gd name="connsiteX0" fmla="*/ 323 w 375297"/>
                <a:gd name="connsiteY0" fmla="*/ 127952 h 196403"/>
                <a:gd name="connsiteX1" fmla="*/ 257498 w 375297"/>
                <a:gd name="connsiteY1" fmla="*/ 26352 h 196403"/>
                <a:gd name="connsiteX2" fmla="*/ 374973 w 375297"/>
                <a:gd name="connsiteY2" fmla="*/ 13652 h 196403"/>
                <a:gd name="connsiteX3" fmla="*/ 314648 w 375297"/>
                <a:gd name="connsiteY3" fmla="*/ 191452 h 196403"/>
                <a:gd name="connsiteX4" fmla="*/ 323 w 375297"/>
                <a:gd name="connsiteY4" fmla="*/ 127952 h 196403"/>
                <a:gd name="connsiteX0" fmla="*/ 4509 w 504188"/>
                <a:gd name="connsiteY0" fmla="*/ 127952 h 234793"/>
                <a:gd name="connsiteX1" fmla="*/ 261684 w 504188"/>
                <a:gd name="connsiteY1" fmla="*/ 26352 h 234793"/>
                <a:gd name="connsiteX2" fmla="*/ 379159 w 504188"/>
                <a:gd name="connsiteY2" fmla="*/ 13652 h 234793"/>
                <a:gd name="connsiteX3" fmla="*/ 500208 w 504188"/>
                <a:gd name="connsiteY3" fmla="*/ 231354 h 234793"/>
                <a:gd name="connsiteX4" fmla="*/ 4509 w 504188"/>
                <a:gd name="connsiteY4" fmla="*/ 127952 h 234793"/>
                <a:gd name="connsiteX0" fmla="*/ 5081 w 566799"/>
                <a:gd name="connsiteY0" fmla="*/ 106638 h 211310"/>
                <a:gd name="connsiteX1" fmla="*/ 262256 w 566799"/>
                <a:gd name="connsiteY1" fmla="*/ 5038 h 211310"/>
                <a:gd name="connsiteX2" fmla="*/ 564732 w 566799"/>
                <a:gd name="connsiteY2" fmla="*/ 32240 h 211310"/>
                <a:gd name="connsiteX3" fmla="*/ 500780 w 566799"/>
                <a:gd name="connsiteY3" fmla="*/ 210040 h 211310"/>
                <a:gd name="connsiteX4" fmla="*/ 5081 w 566799"/>
                <a:gd name="connsiteY4" fmla="*/ 106638 h 211310"/>
                <a:gd name="connsiteX0" fmla="*/ 3707 w 563454"/>
                <a:gd name="connsiteY0" fmla="*/ 106638 h 207726"/>
                <a:gd name="connsiteX1" fmla="*/ 260882 w 563454"/>
                <a:gd name="connsiteY1" fmla="*/ 5038 h 207726"/>
                <a:gd name="connsiteX2" fmla="*/ 563358 w 563454"/>
                <a:gd name="connsiteY2" fmla="*/ 32240 h 207726"/>
                <a:gd name="connsiteX3" fmla="*/ 459504 w 563454"/>
                <a:gd name="connsiteY3" fmla="*/ 206413 h 207726"/>
                <a:gd name="connsiteX4" fmla="*/ 3707 w 563454"/>
                <a:gd name="connsiteY4" fmla="*/ 106638 h 207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454" h="207726">
                  <a:moveTo>
                    <a:pt x="3707" y="106638"/>
                  </a:moveTo>
                  <a:cubicBezTo>
                    <a:pt x="-29397" y="73076"/>
                    <a:pt x="167607" y="17438"/>
                    <a:pt x="260882" y="5038"/>
                  </a:cubicBezTo>
                  <a:cubicBezTo>
                    <a:pt x="354157" y="-7362"/>
                    <a:pt x="568650" y="3665"/>
                    <a:pt x="563358" y="32240"/>
                  </a:cubicBezTo>
                  <a:cubicBezTo>
                    <a:pt x="558066" y="60815"/>
                    <a:pt x="552779" y="194013"/>
                    <a:pt x="459504" y="206413"/>
                  </a:cubicBezTo>
                  <a:cubicBezTo>
                    <a:pt x="366229" y="218813"/>
                    <a:pt x="36811" y="140200"/>
                    <a:pt x="3707" y="106638"/>
                  </a:cubicBezTo>
                  <a:close/>
                </a:path>
              </a:pathLst>
            </a:custGeom>
            <a:solidFill>
              <a:schemeClr val="bg1">
                <a:lumMod val="50000"/>
                <a:alpha val="50000"/>
              </a:schemeClr>
            </a:solidFill>
            <a:ln w="6350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 w="med" len="sm"/>
              <a:tailEnd type="none" w="sm" len="sm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2C6E839C-AC73-E9A9-9CB7-16289E8ED011}"/>
                </a:ext>
              </a:extLst>
            </p:cNvPr>
            <p:cNvSpPr/>
            <p:nvPr/>
          </p:nvSpPr>
          <p:spPr>
            <a:xfrm>
              <a:off x="-2946446" y="4029428"/>
              <a:ext cx="265805" cy="260714"/>
            </a:xfrm>
            <a:custGeom>
              <a:avLst/>
              <a:gdLst>
                <a:gd name="connsiteX0" fmla="*/ 219274 w 251975"/>
                <a:gd name="connsiteY0" fmla="*/ 255128 h 259795"/>
                <a:gd name="connsiteX1" fmla="*/ 9724 w 251975"/>
                <a:gd name="connsiteY1" fmla="*/ 207503 h 259795"/>
                <a:gd name="connsiteX2" fmla="*/ 54174 w 251975"/>
                <a:gd name="connsiteY2" fmla="*/ 10653 h 259795"/>
                <a:gd name="connsiteX3" fmla="*/ 225624 w 251975"/>
                <a:gd name="connsiteY3" fmla="*/ 36053 h 259795"/>
                <a:gd name="connsiteX4" fmla="*/ 251024 w 251975"/>
                <a:gd name="connsiteY4" fmla="*/ 118603 h 259795"/>
                <a:gd name="connsiteX5" fmla="*/ 219274 w 251975"/>
                <a:gd name="connsiteY5" fmla="*/ 255128 h 259795"/>
                <a:gd name="connsiteX0" fmla="*/ 219274 w 246063"/>
                <a:gd name="connsiteY0" fmla="*/ 255128 h 258155"/>
                <a:gd name="connsiteX1" fmla="*/ 9724 w 246063"/>
                <a:gd name="connsiteY1" fmla="*/ 207503 h 258155"/>
                <a:gd name="connsiteX2" fmla="*/ 54174 w 246063"/>
                <a:gd name="connsiteY2" fmla="*/ 10653 h 258155"/>
                <a:gd name="connsiteX3" fmla="*/ 225624 w 246063"/>
                <a:gd name="connsiteY3" fmla="*/ 36053 h 258155"/>
                <a:gd name="connsiteX4" fmla="*/ 241499 w 246063"/>
                <a:gd name="connsiteY4" fmla="*/ 144003 h 258155"/>
                <a:gd name="connsiteX5" fmla="*/ 219274 w 246063"/>
                <a:gd name="connsiteY5" fmla="*/ 255128 h 258155"/>
                <a:gd name="connsiteX0" fmla="*/ 219807 w 262407"/>
                <a:gd name="connsiteY0" fmla="*/ 255128 h 258155"/>
                <a:gd name="connsiteX1" fmla="*/ 10257 w 262407"/>
                <a:gd name="connsiteY1" fmla="*/ 207503 h 258155"/>
                <a:gd name="connsiteX2" fmla="*/ 54707 w 262407"/>
                <a:gd name="connsiteY2" fmla="*/ 10653 h 258155"/>
                <a:gd name="connsiteX3" fmla="*/ 248382 w 262407"/>
                <a:gd name="connsiteY3" fmla="*/ 36053 h 258155"/>
                <a:gd name="connsiteX4" fmla="*/ 242032 w 262407"/>
                <a:gd name="connsiteY4" fmla="*/ 144003 h 258155"/>
                <a:gd name="connsiteX5" fmla="*/ 219807 w 262407"/>
                <a:gd name="connsiteY5" fmla="*/ 255128 h 258155"/>
                <a:gd name="connsiteX0" fmla="*/ 219807 w 266173"/>
                <a:gd name="connsiteY0" fmla="*/ 255128 h 257762"/>
                <a:gd name="connsiteX1" fmla="*/ 10257 w 266173"/>
                <a:gd name="connsiteY1" fmla="*/ 207503 h 257762"/>
                <a:gd name="connsiteX2" fmla="*/ 54707 w 266173"/>
                <a:gd name="connsiteY2" fmla="*/ 10653 h 257762"/>
                <a:gd name="connsiteX3" fmla="*/ 248382 w 266173"/>
                <a:gd name="connsiteY3" fmla="*/ 36053 h 257762"/>
                <a:gd name="connsiteX4" fmla="*/ 254732 w 266173"/>
                <a:gd name="connsiteY4" fmla="*/ 150353 h 257762"/>
                <a:gd name="connsiteX5" fmla="*/ 219807 w 266173"/>
                <a:gd name="connsiteY5" fmla="*/ 255128 h 257762"/>
                <a:gd name="connsiteX0" fmla="*/ 199407 w 265805"/>
                <a:gd name="connsiteY0" fmla="*/ 258303 h 260714"/>
                <a:gd name="connsiteX1" fmla="*/ 8907 w 265805"/>
                <a:gd name="connsiteY1" fmla="*/ 207503 h 260714"/>
                <a:gd name="connsiteX2" fmla="*/ 53357 w 265805"/>
                <a:gd name="connsiteY2" fmla="*/ 10653 h 260714"/>
                <a:gd name="connsiteX3" fmla="*/ 247032 w 265805"/>
                <a:gd name="connsiteY3" fmla="*/ 36053 h 260714"/>
                <a:gd name="connsiteX4" fmla="*/ 253382 w 265805"/>
                <a:gd name="connsiteY4" fmla="*/ 150353 h 260714"/>
                <a:gd name="connsiteX5" fmla="*/ 199407 w 265805"/>
                <a:gd name="connsiteY5" fmla="*/ 258303 h 260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805" h="260714">
                  <a:moveTo>
                    <a:pt x="199407" y="258303"/>
                  </a:moveTo>
                  <a:cubicBezTo>
                    <a:pt x="158661" y="267828"/>
                    <a:pt x="33249" y="248778"/>
                    <a:pt x="8907" y="207503"/>
                  </a:cubicBezTo>
                  <a:cubicBezTo>
                    <a:pt x="-15435" y="166228"/>
                    <a:pt x="13670" y="39228"/>
                    <a:pt x="53357" y="10653"/>
                  </a:cubicBezTo>
                  <a:cubicBezTo>
                    <a:pt x="93045" y="-17922"/>
                    <a:pt x="214224" y="18061"/>
                    <a:pt x="247032" y="36053"/>
                  </a:cubicBezTo>
                  <a:cubicBezTo>
                    <a:pt x="279840" y="54045"/>
                    <a:pt x="261320" y="113311"/>
                    <a:pt x="253382" y="150353"/>
                  </a:cubicBezTo>
                  <a:cubicBezTo>
                    <a:pt x="245445" y="187395"/>
                    <a:pt x="240153" y="248778"/>
                    <a:pt x="199407" y="258303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0000"/>
              </a:schemeClr>
            </a:solidFill>
            <a:ln w="6350">
              <a:solidFill>
                <a:schemeClr val="tx1">
                  <a:alpha val="90000"/>
                </a:schemeClr>
              </a:solidFill>
              <a:prstDash val="solid"/>
              <a:headEnd type="none" w="med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43B4D5FA-93D9-A096-5782-6CE63D54299F}"/>
                </a:ext>
              </a:extLst>
            </p:cNvPr>
            <p:cNvSpPr/>
            <p:nvPr/>
          </p:nvSpPr>
          <p:spPr>
            <a:xfrm>
              <a:off x="-2680815" y="4085967"/>
              <a:ext cx="267045" cy="263536"/>
            </a:xfrm>
            <a:custGeom>
              <a:avLst/>
              <a:gdLst>
                <a:gd name="connsiteX0" fmla="*/ 229320 w 249894"/>
                <a:gd name="connsiteY0" fmla="*/ 50069 h 249437"/>
                <a:gd name="connsiteX1" fmla="*/ 32470 w 249894"/>
                <a:gd name="connsiteY1" fmla="*/ 2444 h 249437"/>
                <a:gd name="connsiteX2" fmla="*/ 32470 w 249894"/>
                <a:gd name="connsiteY2" fmla="*/ 119919 h 249437"/>
                <a:gd name="connsiteX3" fmla="*/ 10245 w 249894"/>
                <a:gd name="connsiteY3" fmla="*/ 218344 h 249437"/>
                <a:gd name="connsiteX4" fmla="*/ 219795 w 249894"/>
                <a:gd name="connsiteY4" fmla="*/ 246919 h 249437"/>
                <a:gd name="connsiteX5" fmla="*/ 238845 w 249894"/>
                <a:gd name="connsiteY5" fmla="*/ 164369 h 249437"/>
                <a:gd name="connsiteX6" fmla="*/ 229320 w 249894"/>
                <a:gd name="connsiteY6" fmla="*/ 50069 h 249437"/>
                <a:gd name="connsiteX0" fmla="*/ 276945 w 287129"/>
                <a:gd name="connsiteY0" fmla="*/ 55807 h 248825"/>
                <a:gd name="connsiteX1" fmla="*/ 32470 w 287129"/>
                <a:gd name="connsiteY1" fmla="*/ 1832 h 248825"/>
                <a:gd name="connsiteX2" fmla="*/ 32470 w 287129"/>
                <a:gd name="connsiteY2" fmla="*/ 119307 h 248825"/>
                <a:gd name="connsiteX3" fmla="*/ 10245 w 287129"/>
                <a:gd name="connsiteY3" fmla="*/ 217732 h 248825"/>
                <a:gd name="connsiteX4" fmla="*/ 219795 w 287129"/>
                <a:gd name="connsiteY4" fmla="*/ 246307 h 248825"/>
                <a:gd name="connsiteX5" fmla="*/ 238845 w 287129"/>
                <a:gd name="connsiteY5" fmla="*/ 163757 h 248825"/>
                <a:gd name="connsiteX6" fmla="*/ 276945 w 287129"/>
                <a:gd name="connsiteY6" fmla="*/ 55807 h 248825"/>
                <a:gd name="connsiteX0" fmla="*/ 276945 w 287129"/>
                <a:gd name="connsiteY0" fmla="*/ 56073 h 249091"/>
                <a:gd name="connsiteX1" fmla="*/ 32470 w 287129"/>
                <a:gd name="connsiteY1" fmla="*/ 2098 h 249091"/>
                <a:gd name="connsiteX2" fmla="*/ 32470 w 287129"/>
                <a:gd name="connsiteY2" fmla="*/ 119573 h 249091"/>
                <a:gd name="connsiteX3" fmla="*/ 10245 w 287129"/>
                <a:gd name="connsiteY3" fmla="*/ 217998 h 249091"/>
                <a:gd name="connsiteX4" fmla="*/ 219795 w 287129"/>
                <a:gd name="connsiteY4" fmla="*/ 246573 h 249091"/>
                <a:gd name="connsiteX5" fmla="*/ 238845 w 287129"/>
                <a:gd name="connsiteY5" fmla="*/ 202123 h 249091"/>
                <a:gd name="connsiteX6" fmla="*/ 276945 w 287129"/>
                <a:gd name="connsiteY6" fmla="*/ 56073 h 249091"/>
                <a:gd name="connsiteX0" fmla="*/ 277384 w 287458"/>
                <a:gd name="connsiteY0" fmla="*/ 56073 h 270244"/>
                <a:gd name="connsiteX1" fmla="*/ 32909 w 287458"/>
                <a:gd name="connsiteY1" fmla="*/ 2098 h 270244"/>
                <a:gd name="connsiteX2" fmla="*/ 32909 w 287458"/>
                <a:gd name="connsiteY2" fmla="*/ 119573 h 270244"/>
                <a:gd name="connsiteX3" fmla="*/ 10684 w 287458"/>
                <a:gd name="connsiteY3" fmla="*/ 217998 h 270244"/>
                <a:gd name="connsiteX4" fmla="*/ 226584 w 287458"/>
                <a:gd name="connsiteY4" fmla="*/ 268798 h 270244"/>
                <a:gd name="connsiteX5" fmla="*/ 239284 w 287458"/>
                <a:gd name="connsiteY5" fmla="*/ 202123 h 270244"/>
                <a:gd name="connsiteX6" fmla="*/ 277384 w 287458"/>
                <a:gd name="connsiteY6" fmla="*/ 56073 h 270244"/>
                <a:gd name="connsiteX0" fmla="*/ 281449 w 291523"/>
                <a:gd name="connsiteY0" fmla="*/ 56073 h 270244"/>
                <a:gd name="connsiteX1" fmla="*/ 36974 w 291523"/>
                <a:gd name="connsiteY1" fmla="*/ 2098 h 270244"/>
                <a:gd name="connsiteX2" fmla="*/ 21099 w 291523"/>
                <a:gd name="connsiteY2" fmla="*/ 119573 h 270244"/>
                <a:gd name="connsiteX3" fmla="*/ 14749 w 291523"/>
                <a:gd name="connsiteY3" fmla="*/ 217998 h 270244"/>
                <a:gd name="connsiteX4" fmla="*/ 230649 w 291523"/>
                <a:gd name="connsiteY4" fmla="*/ 268798 h 270244"/>
                <a:gd name="connsiteX5" fmla="*/ 243349 w 291523"/>
                <a:gd name="connsiteY5" fmla="*/ 202123 h 270244"/>
                <a:gd name="connsiteX6" fmla="*/ 281449 w 291523"/>
                <a:gd name="connsiteY6" fmla="*/ 56073 h 270244"/>
                <a:gd name="connsiteX0" fmla="*/ 282110 w 290949"/>
                <a:gd name="connsiteY0" fmla="*/ 56073 h 270244"/>
                <a:gd name="connsiteX1" fmla="*/ 56685 w 290949"/>
                <a:gd name="connsiteY1" fmla="*/ 2098 h 270244"/>
                <a:gd name="connsiteX2" fmla="*/ 21760 w 290949"/>
                <a:gd name="connsiteY2" fmla="*/ 119573 h 270244"/>
                <a:gd name="connsiteX3" fmla="*/ 15410 w 290949"/>
                <a:gd name="connsiteY3" fmla="*/ 217998 h 270244"/>
                <a:gd name="connsiteX4" fmla="*/ 231310 w 290949"/>
                <a:gd name="connsiteY4" fmla="*/ 268798 h 270244"/>
                <a:gd name="connsiteX5" fmla="*/ 244010 w 290949"/>
                <a:gd name="connsiteY5" fmla="*/ 202123 h 270244"/>
                <a:gd name="connsiteX6" fmla="*/ 282110 w 290949"/>
                <a:gd name="connsiteY6" fmla="*/ 56073 h 270244"/>
                <a:gd name="connsiteX0" fmla="*/ 266235 w 276758"/>
                <a:gd name="connsiteY0" fmla="*/ 61863 h 269684"/>
                <a:gd name="connsiteX1" fmla="*/ 56685 w 276758"/>
                <a:gd name="connsiteY1" fmla="*/ 1538 h 269684"/>
                <a:gd name="connsiteX2" fmla="*/ 21760 w 276758"/>
                <a:gd name="connsiteY2" fmla="*/ 119013 h 269684"/>
                <a:gd name="connsiteX3" fmla="*/ 15410 w 276758"/>
                <a:gd name="connsiteY3" fmla="*/ 217438 h 269684"/>
                <a:gd name="connsiteX4" fmla="*/ 231310 w 276758"/>
                <a:gd name="connsiteY4" fmla="*/ 268238 h 269684"/>
                <a:gd name="connsiteX5" fmla="*/ 244010 w 276758"/>
                <a:gd name="connsiteY5" fmla="*/ 201563 h 269684"/>
                <a:gd name="connsiteX6" fmla="*/ 266235 w 276758"/>
                <a:gd name="connsiteY6" fmla="*/ 61863 h 269684"/>
                <a:gd name="connsiteX0" fmla="*/ 266820 w 276242"/>
                <a:gd name="connsiteY0" fmla="*/ 55715 h 263536"/>
                <a:gd name="connsiteX1" fmla="*/ 73145 w 276242"/>
                <a:gd name="connsiteY1" fmla="*/ 1740 h 263536"/>
                <a:gd name="connsiteX2" fmla="*/ 22345 w 276242"/>
                <a:gd name="connsiteY2" fmla="*/ 112865 h 263536"/>
                <a:gd name="connsiteX3" fmla="*/ 15995 w 276242"/>
                <a:gd name="connsiteY3" fmla="*/ 211290 h 263536"/>
                <a:gd name="connsiteX4" fmla="*/ 231895 w 276242"/>
                <a:gd name="connsiteY4" fmla="*/ 262090 h 263536"/>
                <a:gd name="connsiteX5" fmla="*/ 244595 w 276242"/>
                <a:gd name="connsiteY5" fmla="*/ 195415 h 263536"/>
                <a:gd name="connsiteX6" fmla="*/ 266820 w 276242"/>
                <a:gd name="connsiteY6" fmla="*/ 55715 h 263536"/>
                <a:gd name="connsiteX0" fmla="*/ 257623 w 267045"/>
                <a:gd name="connsiteY0" fmla="*/ 55715 h 263536"/>
                <a:gd name="connsiteX1" fmla="*/ 63948 w 267045"/>
                <a:gd name="connsiteY1" fmla="*/ 1740 h 263536"/>
                <a:gd name="connsiteX2" fmla="*/ 13148 w 267045"/>
                <a:gd name="connsiteY2" fmla="*/ 112865 h 263536"/>
                <a:gd name="connsiteX3" fmla="*/ 19498 w 267045"/>
                <a:gd name="connsiteY3" fmla="*/ 211290 h 263536"/>
                <a:gd name="connsiteX4" fmla="*/ 222698 w 267045"/>
                <a:gd name="connsiteY4" fmla="*/ 262090 h 263536"/>
                <a:gd name="connsiteX5" fmla="*/ 235398 w 267045"/>
                <a:gd name="connsiteY5" fmla="*/ 195415 h 263536"/>
                <a:gd name="connsiteX6" fmla="*/ 257623 w 267045"/>
                <a:gd name="connsiteY6" fmla="*/ 55715 h 263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045" h="263536">
                  <a:moveTo>
                    <a:pt x="257623" y="55715"/>
                  </a:moveTo>
                  <a:cubicBezTo>
                    <a:pt x="229048" y="23436"/>
                    <a:pt x="104694" y="-7785"/>
                    <a:pt x="63948" y="1740"/>
                  </a:cubicBezTo>
                  <a:cubicBezTo>
                    <a:pt x="23202" y="11265"/>
                    <a:pt x="20556" y="77940"/>
                    <a:pt x="13148" y="112865"/>
                  </a:cubicBezTo>
                  <a:cubicBezTo>
                    <a:pt x="5740" y="147790"/>
                    <a:pt x="-15427" y="186419"/>
                    <a:pt x="19498" y="211290"/>
                  </a:cubicBezTo>
                  <a:cubicBezTo>
                    <a:pt x="54423" y="236161"/>
                    <a:pt x="184598" y="271086"/>
                    <a:pt x="222698" y="262090"/>
                  </a:cubicBezTo>
                  <a:cubicBezTo>
                    <a:pt x="260798" y="253094"/>
                    <a:pt x="229577" y="229811"/>
                    <a:pt x="235398" y="195415"/>
                  </a:cubicBezTo>
                  <a:cubicBezTo>
                    <a:pt x="241219" y="161019"/>
                    <a:pt x="286198" y="87994"/>
                    <a:pt x="257623" y="55715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40000"/>
              </a:schemeClr>
            </a:solidFill>
            <a:ln w="6350">
              <a:solidFill>
                <a:schemeClr val="tx1">
                  <a:alpha val="90000"/>
                </a:schemeClr>
              </a:solidFill>
              <a:prstDash val="solid"/>
              <a:headEnd type="none" w="med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8FDADE22-A72A-86A0-5798-4EC32A0EEA3D}"/>
                </a:ext>
              </a:extLst>
            </p:cNvPr>
            <p:cNvSpPr/>
            <p:nvPr/>
          </p:nvSpPr>
          <p:spPr>
            <a:xfrm rot="629803">
              <a:off x="-2908577" y="4392634"/>
              <a:ext cx="193355" cy="503874"/>
            </a:xfrm>
            <a:custGeom>
              <a:avLst/>
              <a:gdLst>
                <a:gd name="connsiteX0" fmla="*/ 37954 w 214482"/>
                <a:gd name="connsiteY0" fmla="*/ 2545 h 208934"/>
                <a:gd name="connsiteX1" fmla="*/ 9379 w 214482"/>
                <a:gd name="connsiteY1" fmla="*/ 116845 h 208934"/>
                <a:gd name="connsiteX2" fmla="*/ 14141 w 214482"/>
                <a:gd name="connsiteY2" fmla="*/ 173995 h 208934"/>
                <a:gd name="connsiteX3" fmla="*/ 166541 w 214482"/>
                <a:gd name="connsiteY3" fmla="*/ 202570 h 208934"/>
                <a:gd name="connsiteX4" fmla="*/ 209404 w 214482"/>
                <a:gd name="connsiteY4" fmla="*/ 50170 h 208934"/>
                <a:gd name="connsiteX5" fmla="*/ 37954 w 214482"/>
                <a:gd name="connsiteY5" fmla="*/ 2545 h 208934"/>
                <a:gd name="connsiteX0" fmla="*/ 52970 w 216157"/>
                <a:gd name="connsiteY0" fmla="*/ 1710 h 231912"/>
                <a:gd name="connsiteX1" fmla="*/ 10108 w 216157"/>
                <a:gd name="connsiteY1" fmla="*/ 139823 h 231912"/>
                <a:gd name="connsiteX2" fmla="*/ 14870 w 216157"/>
                <a:gd name="connsiteY2" fmla="*/ 196973 h 231912"/>
                <a:gd name="connsiteX3" fmla="*/ 167270 w 216157"/>
                <a:gd name="connsiteY3" fmla="*/ 225548 h 231912"/>
                <a:gd name="connsiteX4" fmla="*/ 210133 w 216157"/>
                <a:gd name="connsiteY4" fmla="*/ 73148 h 231912"/>
                <a:gd name="connsiteX5" fmla="*/ 52970 w 216157"/>
                <a:gd name="connsiteY5" fmla="*/ 1710 h 231912"/>
                <a:gd name="connsiteX0" fmla="*/ 52970 w 218257"/>
                <a:gd name="connsiteY0" fmla="*/ 6331 h 236533"/>
                <a:gd name="connsiteX1" fmla="*/ 10108 w 218257"/>
                <a:gd name="connsiteY1" fmla="*/ 144444 h 236533"/>
                <a:gd name="connsiteX2" fmla="*/ 14870 w 218257"/>
                <a:gd name="connsiteY2" fmla="*/ 201594 h 236533"/>
                <a:gd name="connsiteX3" fmla="*/ 167270 w 218257"/>
                <a:gd name="connsiteY3" fmla="*/ 230169 h 236533"/>
                <a:gd name="connsiteX4" fmla="*/ 212514 w 218257"/>
                <a:gd name="connsiteY4" fmla="*/ 44431 h 236533"/>
                <a:gd name="connsiteX5" fmla="*/ 52970 w 218257"/>
                <a:gd name="connsiteY5" fmla="*/ 6331 h 236533"/>
                <a:gd name="connsiteX0" fmla="*/ 52970 w 219200"/>
                <a:gd name="connsiteY0" fmla="*/ 4070 h 234272"/>
                <a:gd name="connsiteX1" fmla="*/ 10108 w 219200"/>
                <a:gd name="connsiteY1" fmla="*/ 142183 h 234272"/>
                <a:gd name="connsiteX2" fmla="*/ 14870 w 219200"/>
                <a:gd name="connsiteY2" fmla="*/ 199333 h 234272"/>
                <a:gd name="connsiteX3" fmla="*/ 167270 w 219200"/>
                <a:gd name="connsiteY3" fmla="*/ 227908 h 234272"/>
                <a:gd name="connsiteX4" fmla="*/ 212514 w 219200"/>
                <a:gd name="connsiteY4" fmla="*/ 42170 h 234272"/>
                <a:gd name="connsiteX5" fmla="*/ 52970 w 219200"/>
                <a:gd name="connsiteY5" fmla="*/ 4070 h 234272"/>
                <a:gd name="connsiteX0" fmla="*/ 52970 w 217119"/>
                <a:gd name="connsiteY0" fmla="*/ 5163 h 235365"/>
                <a:gd name="connsiteX1" fmla="*/ 10108 w 217119"/>
                <a:gd name="connsiteY1" fmla="*/ 143276 h 235365"/>
                <a:gd name="connsiteX2" fmla="*/ 14870 w 217119"/>
                <a:gd name="connsiteY2" fmla="*/ 200426 h 235365"/>
                <a:gd name="connsiteX3" fmla="*/ 167270 w 217119"/>
                <a:gd name="connsiteY3" fmla="*/ 229001 h 235365"/>
                <a:gd name="connsiteX4" fmla="*/ 210133 w 217119"/>
                <a:gd name="connsiteY4" fmla="*/ 36119 h 235365"/>
                <a:gd name="connsiteX5" fmla="*/ 52970 w 217119"/>
                <a:gd name="connsiteY5" fmla="*/ 5163 h 235365"/>
                <a:gd name="connsiteX0" fmla="*/ 54120 w 218269"/>
                <a:gd name="connsiteY0" fmla="*/ 4404 h 234835"/>
                <a:gd name="connsiteX1" fmla="*/ 8877 w 218269"/>
                <a:gd name="connsiteY1" fmla="*/ 130610 h 234835"/>
                <a:gd name="connsiteX2" fmla="*/ 16020 w 218269"/>
                <a:gd name="connsiteY2" fmla="*/ 199667 h 234835"/>
                <a:gd name="connsiteX3" fmla="*/ 168420 w 218269"/>
                <a:gd name="connsiteY3" fmla="*/ 228242 h 234835"/>
                <a:gd name="connsiteX4" fmla="*/ 211283 w 218269"/>
                <a:gd name="connsiteY4" fmla="*/ 35360 h 234835"/>
                <a:gd name="connsiteX5" fmla="*/ 54120 w 218269"/>
                <a:gd name="connsiteY5" fmla="*/ 4404 h 23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8269" h="234835">
                  <a:moveTo>
                    <a:pt x="54120" y="4404"/>
                  </a:moveTo>
                  <a:cubicBezTo>
                    <a:pt x="20386" y="20279"/>
                    <a:pt x="15227" y="98066"/>
                    <a:pt x="8877" y="130610"/>
                  </a:cubicBezTo>
                  <a:cubicBezTo>
                    <a:pt x="2527" y="163154"/>
                    <a:pt x="-10570" y="183395"/>
                    <a:pt x="16020" y="199667"/>
                  </a:cubicBezTo>
                  <a:cubicBezTo>
                    <a:pt x="42610" y="215939"/>
                    <a:pt x="135876" y="248879"/>
                    <a:pt x="168420" y="228242"/>
                  </a:cubicBezTo>
                  <a:cubicBezTo>
                    <a:pt x="200964" y="207605"/>
                    <a:pt x="232714" y="51235"/>
                    <a:pt x="211283" y="35360"/>
                  </a:cubicBezTo>
                  <a:cubicBezTo>
                    <a:pt x="189852" y="19485"/>
                    <a:pt x="87854" y="-11471"/>
                    <a:pt x="54120" y="4404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0000"/>
              </a:schemeClr>
            </a:solidFill>
            <a:ln w="6350">
              <a:solidFill>
                <a:schemeClr val="tx1">
                  <a:alpha val="90000"/>
                </a:schemeClr>
              </a:solidFill>
              <a:prstDash val="solid"/>
              <a:headEnd type="none" w="med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679E2FD3-E7B0-04EC-7811-B521B1CD0264}"/>
                </a:ext>
              </a:extLst>
            </p:cNvPr>
            <p:cNvSpPr/>
            <p:nvPr/>
          </p:nvSpPr>
          <p:spPr>
            <a:xfrm rot="520055">
              <a:off x="-3307548" y="4282886"/>
              <a:ext cx="141978" cy="511280"/>
            </a:xfrm>
            <a:custGeom>
              <a:avLst/>
              <a:gdLst>
                <a:gd name="connsiteX0" fmla="*/ 142893 w 142910"/>
                <a:gd name="connsiteY0" fmla="*/ 39983 h 275371"/>
                <a:gd name="connsiteX1" fmla="*/ 66693 w 142910"/>
                <a:gd name="connsiteY1" fmla="*/ 17758 h 275371"/>
                <a:gd name="connsiteX2" fmla="*/ 18 w 142910"/>
                <a:gd name="connsiteY2" fmla="*/ 233658 h 275371"/>
                <a:gd name="connsiteX3" fmla="*/ 73043 w 142910"/>
                <a:gd name="connsiteY3" fmla="*/ 259058 h 275371"/>
                <a:gd name="connsiteX4" fmla="*/ 142893 w 142910"/>
                <a:gd name="connsiteY4" fmla="*/ 39983 h 275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910" h="275371">
                  <a:moveTo>
                    <a:pt x="142893" y="39983"/>
                  </a:moveTo>
                  <a:cubicBezTo>
                    <a:pt x="141835" y="-234"/>
                    <a:pt x="90505" y="-14521"/>
                    <a:pt x="66693" y="17758"/>
                  </a:cubicBezTo>
                  <a:cubicBezTo>
                    <a:pt x="42880" y="50037"/>
                    <a:pt x="-1040" y="193441"/>
                    <a:pt x="18" y="233658"/>
                  </a:cubicBezTo>
                  <a:cubicBezTo>
                    <a:pt x="1076" y="273875"/>
                    <a:pt x="48172" y="290279"/>
                    <a:pt x="73043" y="259058"/>
                  </a:cubicBezTo>
                  <a:cubicBezTo>
                    <a:pt x="97914" y="227837"/>
                    <a:pt x="143951" y="80200"/>
                    <a:pt x="142893" y="39983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0000"/>
              </a:schemeClr>
            </a:solidFill>
            <a:ln w="6350">
              <a:solidFill>
                <a:schemeClr val="tx1">
                  <a:alpha val="90000"/>
                </a:schemeClr>
              </a:solidFill>
              <a:prstDash val="solid"/>
              <a:headEnd type="none" w="med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552F7FDD-AA8A-0CEE-959C-FE4A9DF4A210}"/>
                </a:ext>
              </a:extLst>
            </p:cNvPr>
            <p:cNvSpPr/>
            <p:nvPr/>
          </p:nvSpPr>
          <p:spPr>
            <a:xfrm rot="520055">
              <a:off x="-3060924" y="4348435"/>
              <a:ext cx="141978" cy="511280"/>
            </a:xfrm>
            <a:custGeom>
              <a:avLst/>
              <a:gdLst>
                <a:gd name="connsiteX0" fmla="*/ 142893 w 142910"/>
                <a:gd name="connsiteY0" fmla="*/ 39983 h 275371"/>
                <a:gd name="connsiteX1" fmla="*/ 66693 w 142910"/>
                <a:gd name="connsiteY1" fmla="*/ 17758 h 275371"/>
                <a:gd name="connsiteX2" fmla="*/ 18 w 142910"/>
                <a:gd name="connsiteY2" fmla="*/ 233658 h 275371"/>
                <a:gd name="connsiteX3" fmla="*/ 73043 w 142910"/>
                <a:gd name="connsiteY3" fmla="*/ 259058 h 275371"/>
                <a:gd name="connsiteX4" fmla="*/ 142893 w 142910"/>
                <a:gd name="connsiteY4" fmla="*/ 39983 h 275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910" h="275371">
                  <a:moveTo>
                    <a:pt x="142893" y="39983"/>
                  </a:moveTo>
                  <a:cubicBezTo>
                    <a:pt x="141835" y="-234"/>
                    <a:pt x="90505" y="-14521"/>
                    <a:pt x="66693" y="17758"/>
                  </a:cubicBezTo>
                  <a:cubicBezTo>
                    <a:pt x="42880" y="50037"/>
                    <a:pt x="-1040" y="193441"/>
                    <a:pt x="18" y="233658"/>
                  </a:cubicBezTo>
                  <a:cubicBezTo>
                    <a:pt x="1076" y="273875"/>
                    <a:pt x="48172" y="290279"/>
                    <a:pt x="73043" y="259058"/>
                  </a:cubicBezTo>
                  <a:cubicBezTo>
                    <a:pt x="97914" y="227837"/>
                    <a:pt x="143951" y="80200"/>
                    <a:pt x="142893" y="39983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  <a:alpha val="40000"/>
              </a:schemeClr>
            </a:solidFill>
            <a:ln w="6350">
              <a:solidFill>
                <a:schemeClr val="tx1">
                  <a:alpha val="90000"/>
                </a:schemeClr>
              </a:solidFill>
              <a:prstDash val="solid"/>
              <a:headEnd type="none" w="med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7" name="그림 46">
            <a:extLst>
              <a:ext uri="{FF2B5EF4-FFF2-40B4-BE49-F238E27FC236}">
                <a16:creationId xmlns:a16="http://schemas.microsoft.com/office/drawing/2014/main" id="{79ED09DF-6BEC-03F6-2FD2-99138460941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9140"/>
                    </a14:imgEffect>
                    <a14:imgEffect>
                      <a14:brightnessContrast bright="89000" contrast="-7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666" t="19100"/>
          <a:stretch/>
        </p:blipFill>
        <p:spPr>
          <a:xfrm rot="16724948">
            <a:off x="3172733" y="7550987"/>
            <a:ext cx="852575" cy="857576"/>
          </a:xfrm>
          <a:prstGeom prst="rect">
            <a:avLst/>
          </a:prstGeom>
        </p:spPr>
      </p:pic>
      <p:grpSp>
        <p:nvGrpSpPr>
          <p:cNvPr id="448" name="그룹 447">
            <a:extLst>
              <a:ext uri="{FF2B5EF4-FFF2-40B4-BE49-F238E27FC236}">
                <a16:creationId xmlns:a16="http://schemas.microsoft.com/office/drawing/2014/main" id="{5E292E8D-E26D-7C22-33B3-8432753797BF}"/>
              </a:ext>
            </a:extLst>
          </p:cNvPr>
          <p:cNvGrpSpPr/>
          <p:nvPr/>
        </p:nvGrpSpPr>
        <p:grpSpPr>
          <a:xfrm>
            <a:off x="2328196" y="7255429"/>
            <a:ext cx="207665" cy="125462"/>
            <a:chOff x="4245543" y="-1049927"/>
            <a:chExt cx="486463" cy="342431"/>
          </a:xfrm>
        </p:grpSpPr>
        <p:grpSp>
          <p:nvGrpSpPr>
            <p:cNvPr id="453" name="그룹 452">
              <a:extLst>
                <a:ext uri="{FF2B5EF4-FFF2-40B4-BE49-F238E27FC236}">
                  <a16:creationId xmlns:a16="http://schemas.microsoft.com/office/drawing/2014/main" id="{E7F0B074-8D32-D2CA-4DA0-86134CDB5EC1}"/>
                </a:ext>
              </a:extLst>
            </p:cNvPr>
            <p:cNvGrpSpPr/>
            <p:nvPr/>
          </p:nvGrpSpPr>
          <p:grpSpPr>
            <a:xfrm>
              <a:off x="4273104" y="-1049927"/>
              <a:ext cx="441275" cy="342431"/>
              <a:chOff x="4273095" y="-1049928"/>
              <a:chExt cx="901565" cy="589684"/>
            </a:xfrm>
          </p:grpSpPr>
          <p:sp>
            <p:nvSpPr>
              <p:cNvPr id="483" name="타원 482">
                <a:extLst>
                  <a:ext uri="{FF2B5EF4-FFF2-40B4-BE49-F238E27FC236}">
                    <a16:creationId xmlns:a16="http://schemas.microsoft.com/office/drawing/2014/main" id="{678F8797-6DA9-7083-8244-612CC5BCDA86}"/>
                  </a:ext>
                </a:extLst>
              </p:cNvPr>
              <p:cNvSpPr/>
              <p:nvPr/>
            </p:nvSpPr>
            <p:spPr>
              <a:xfrm>
                <a:off x="4273098" y="-1048422"/>
                <a:ext cx="901562" cy="588178"/>
              </a:xfrm>
              <a:prstGeom prst="ellipse">
                <a:avLst/>
              </a:prstGeom>
              <a:solidFill>
                <a:srgbClr val="2B67D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84" name="도넛 516">
                <a:extLst>
                  <a:ext uri="{FF2B5EF4-FFF2-40B4-BE49-F238E27FC236}">
                    <a16:creationId xmlns:a16="http://schemas.microsoft.com/office/drawing/2014/main" id="{D4B51F6B-1412-0676-BC41-1FC08FDA392E}"/>
                  </a:ext>
                </a:extLst>
              </p:cNvPr>
              <p:cNvSpPr/>
              <p:nvPr/>
            </p:nvSpPr>
            <p:spPr>
              <a:xfrm>
                <a:off x="4273095" y="-1049928"/>
                <a:ext cx="901562" cy="589683"/>
              </a:xfrm>
              <a:prstGeom prst="donut">
                <a:avLst>
                  <a:gd name="adj" fmla="val 8620"/>
                </a:avLst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460" name="타원 459">
              <a:extLst>
                <a:ext uri="{FF2B5EF4-FFF2-40B4-BE49-F238E27FC236}">
                  <a16:creationId xmlns:a16="http://schemas.microsoft.com/office/drawing/2014/main" id="{5EE047DF-3E79-A161-158A-15D708D5A92D}"/>
                </a:ext>
              </a:extLst>
            </p:cNvPr>
            <p:cNvSpPr/>
            <p:nvPr/>
          </p:nvSpPr>
          <p:spPr>
            <a:xfrm>
              <a:off x="4245543" y="-981499"/>
              <a:ext cx="486463" cy="273201"/>
            </a:xfrm>
            <a:prstGeom prst="ellips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45</a:t>
              </a:r>
              <a:endParaRPr lang="ko-KR" altLang="en-US" sz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485" name="자유형: 도형 484">
            <a:extLst>
              <a:ext uri="{FF2B5EF4-FFF2-40B4-BE49-F238E27FC236}">
                <a16:creationId xmlns:a16="http://schemas.microsoft.com/office/drawing/2014/main" id="{EFE2795B-4ADE-D51C-C3B9-9C159BC883F4}"/>
              </a:ext>
            </a:extLst>
          </p:cNvPr>
          <p:cNvSpPr/>
          <p:nvPr/>
        </p:nvSpPr>
        <p:spPr>
          <a:xfrm>
            <a:off x="1187952" y="8263013"/>
            <a:ext cx="2008909" cy="444500"/>
          </a:xfrm>
          <a:custGeom>
            <a:avLst/>
            <a:gdLst>
              <a:gd name="connsiteX0" fmla="*/ 0 w 2209800"/>
              <a:gd name="connsiteY0" fmla="*/ 0 h 488950"/>
              <a:gd name="connsiteX1" fmla="*/ 2209800 w 2209800"/>
              <a:gd name="connsiteY1" fmla="*/ 488950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09800" h="488950">
                <a:moveTo>
                  <a:pt x="0" y="0"/>
                </a:moveTo>
                <a:lnTo>
                  <a:pt x="2209800" y="488950"/>
                </a:lnTo>
              </a:path>
            </a:pathLst>
          </a:custGeom>
          <a:noFill/>
          <a:ln w="31750">
            <a:solidFill>
              <a:schemeClr val="bg1"/>
            </a:solidFill>
            <a:prstDash val="solid"/>
            <a:headEnd type="arrow" w="med" len="med"/>
            <a:tailEnd type="arrow" w="med" len="med"/>
          </a:ln>
          <a:effectLst>
            <a:glow rad="25400">
              <a:schemeClr val="tx1">
                <a:alpha val="5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C164C38A-6BD0-BBEC-1727-C2E9AD67C698}"/>
              </a:ext>
            </a:extLst>
          </p:cNvPr>
          <p:cNvSpPr txBox="1"/>
          <p:nvPr/>
        </p:nvSpPr>
        <p:spPr>
          <a:xfrm>
            <a:off x="3160537" y="8015849"/>
            <a:ext cx="486215" cy="246221"/>
          </a:xfrm>
          <a:prstGeom prst="rect">
            <a:avLst/>
          </a:prstGeom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z="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유동인구</a:t>
            </a:r>
            <a:endParaRPr lang="en-US" altLang="ko-KR" sz="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sz="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유입</a:t>
            </a:r>
            <a:endParaRPr lang="en-US" altLang="ko-KR" sz="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F6D49473-F3A2-1D04-72B4-783E62B9FDB4}"/>
              </a:ext>
            </a:extLst>
          </p:cNvPr>
          <p:cNvGrpSpPr/>
          <p:nvPr/>
        </p:nvGrpSpPr>
        <p:grpSpPr>
          <a:xfrm>
            <a:off x="2988579" y="7714392"/>
            <a:ext cx="207665" cy="101024"/>
            <a:chOff x="3915845" y="8735619"/>
            <a:chExt cx="304041" cy="147910"/>
          </a:xfrm>
        </p:grpSpPr>
        <p:sp>
          <p:nvSpPr>
            <p:cNvPr id="488" name="사각형: 둥근 모서리 487">
              <a:extLst>
                <a:ext uri="{FF2B5EF4-FFF2-40B4-BE49-F238E27FC236}">
                  <a16:creationId xmlns:a16="http://schemas.microsoft.com/office/drawing/2014/main" id="{CD68C1C7-F15B-4585-5E4E-46AB2223A15E}"/>
                </a:ext>
              </a:extLst>
            </p:cNvPr>
            <p:cNvSpPr/>
            <p:nvPr/>
          </p:nvSpPr>
          <p:spPr>
            <a:xfrm>
              <a:off x="3934248" y="8735619"/>
              <a:ext cx="269446" cy="132030"/>
            </a:xfrm>
            <a:prstGeom prst="roundRect">
              <a:avLst/>
            </a:prstGeom>
            <a:solidFill>
              <a:srgbClr val="2B67D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89" name="타원 488">
              <a:extLst>
                <a:ext uri="{FF2B5EF4-FFF2-40B4-BE49-F238E27FC236}">
                  <a16:creationId xmlns:a16="http://schemas.microsoft.com/office/drawing/2014/main" id="{4A1DECA5-F829-DD67-687D-59CA0DB04024}"/>
                </a:ext>
              </a:extLst>
            </p:cNvPr>
            <p:cNvSpPr/>
            <p:nvPr/>
          </p:nvSpPr>
          <p:spPr>
            <a:xfrm>
              <a:off x="3915845" y="8736977"/>
              <a:ext cx="304041" cy="146552"/>
            </a:xfrm>
            <a:prstGeom prst="ellips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619</a:t>
              </a:r>
              <a:endParaRPr lang="ko-KR" altLang="en-US" sz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</p:grpSp>
      <p:sp>
        <p:nvSpPr>
          <p:cNvPr id="490" name="자유형: 도형 489">
            <a:extLst>
              <a:ext uri="{FF2B5EF4-FFF2-40B4-BE49-F238E27FC236}">
                <a16:creationId xmlns:a16="http://schemas.microsoft.com/office/drawing/2014/main" id="{505375C3-F06A-C535-00E9-306BD6D855EE}"/>
              </a:ext>
            </a:extLst>
          </p:cNvPr>
          <p:cNvSpPr/>
          <p:nvPr/>
        </p:nvSpPr>
        <p:spPr>
          <a:xfrm>
            <a:off x="181834" y="8340263"/>
            <a:ext cx="821531" cy="1524000"/>
          </a:xfrm>
          <a:custGeom>
            <a:avLst/>
            <a:gdLst>
              <a:gd name="connsiteX0" fmla="*/ 1009650 w 1009650"/>
              <a:gd name="connsiteY0" fmla="*/ 10838 h 1582463"/>
              <a:gd name="connsiteX1" fmla="*/ 771525 w 1009650"/>
              <a:gd name="connsiteY1" fmla="*/ 163238 h 1582463"/>
              <a:gd name="connsiteX2" fmla="*/ 323850 w 1009650"/>
              <a:gd name="connsiteY2" fmla="*/ 1144313 h 1582463"/>
              <a:gd name="connsiteX3" fmla="*/ 0 w 1009650"/>
              <a:gd name="connsiteY3" fmla="*/ 1582463 h 1582463"/>
              <a:gd name="connsiteX0" fmla="*/ 1009650 w 1009650"/>
              <a:gd name="connsiteY0" fmla="*/ 0 h 1571625"/>
              <a:gd name="connsiteX1" fmla="*/ 771525 w 1009650"/>
              <a:gd name="connsiteY1" fmla="*/ 152400 h 1571625"/>
              <a:gd name="connsiteX2" fmla="*/ 323850 w 1009650"/>
              <a:gd name="connsiteY2" fmla="*/ 1133475 h 1571625"/>
              <a:gd name="connsiteX3" fmla="*/ 0 w 1009650"/>
              <a:gd name="connsiteY3" fmla="*/ 1571625 h 1571625"/>
              <a:gd name="connsiteX0" fmla="*/ 1009650 w 1009650"/>
              <a:gd name="connsiteY0" fmla="*/ 2492 h 1574117"/>
              <a:gd name="connsiteX1" fmla="*/ 771525 w 1009650"/>
              <a:gd name="connsiteY1" fmla="*/ 154892 h 1574117"/>
              <a:gd name="connsiteX2" fmla="*/ 323850 w 1009650"/>
              <a:gd name="connsiteY2" fmla="*/ 1135967 h 1574117"/>
              <a:gd name="connsiteX3" fmla="*/ 0 w 1009650"/>
              <a:gd name="connsiteY3" fmla="*/ 1574117 h 1574117"/>
              <a:gd name="connsiteX0" fmla="*/ 1009650 w 1009650"/>
              <a:gd name="connsiteY0" fmla="*/ 11887 h 1583512"/>
              <a:gd name="connsiteX1" fmla="*/ 771525 w 1009650"/>
              <a:gd name="connsiteY1" fmla="*/ 164287 h 1583512"/>
              <a:gd name="connsiteX2" fmla="*/ 323850 w 1009650"/>
              <a:gd name="connsiteY2" fmla="*/ 1145362 h 1583512"/>
              <a:gd name="connsiteX3" fmla="*/ 0 w 1009650"/>
              <a:gd name="connsiteY3" fmla="*/ 1583512 h 1583512"/>
              <a:gd name="connsiteX0" fmla="*/ 1009650 w 1009650"/>
              <a:gd name="connsiteY0" fmla="*/ 0 h 1571625"/>
              <a:gd name="connsiteX1" fmla="*/ 771525 w 1009650"/>
              <a:gd name="connsiteY1" fmla="*/ 152400 h 1571625"/>
              <a:gd name="connsiteX2" fmla="*/ 323850 w 1009650"/>
              <a:gd name="connsiteY2" fmla="*/ 1133475 h 1571625"/>
              <a:gd name="connsiteX3" fmla="*/ 0 w 1009650"/>
              <a:gd name="connsiteY3" fmla="*/ 1571625 h 1571625"/>
              <a:gd name="connsiteX0" fmla="*/ 988219 w 988219"/>
              <a:gd name="connsiteY0" fmla="*/ 0 h 1659731"/>
              <a:gd name="connsiteX1" fmla="*/ 771525 w 988219"/>
              <a:gd name="connsiteY1" fmla="*/ 240506 h 1659731"/>
              <a:gd name="connsiteX2" fmla="*/ 323850 w 988219"/>
              <a:gd name="connsiteY2" fmla="*/ 1221581 h 1659731"/>
              <a:gd name="connsiteX3" fmla="*/ 0 w 988219"/>
              <a:gd name="connsiteY3" fmla="*/ 1659731 h 1659731"/>
              <a:gd name="connsiteX0" fmla="*/ 1002507 w 1002507"/>
              <a:gd name="connsiteY0" fmla="*/ 0 h 1669256"/>
              <a:gd name="connsiteX1" fmla="*/ 771525 w 1002507"/>
              <a:gd name="connsiteY1" fmla="*/ 250031 h 1669256"/>
              <a:gd name="connsiteX2" fmla="*/ 323850 w 1002507"/>
              <a:gd name="connsiteY2" fmla="*/ 1231106 h 1669256"/>
              <a:gd name="connsiteX3" fmla="*/ 0 w 1002507"/>
              <a:gd name="connsiteY3" fmla="*/ 1669256 h 1669256"/>
              <a:gd name="connsiteX0" fmla="*/ 914401 w 914401"/>
              <a:gd name="connsiteY0" fmla="*/ 0 h 1590675"/>
              <a:gd name="connsiteX1" fmla="*/ 771525 w 914401"/>
              <a:gd name="connsiteY1" fmla="*/ 171450 h 1590675"/>
              <a:gd name="connsiteX2" fmla="*/ 323850 w 914401"/>
              <a:gd name="connsiteY2" fmla="*/ 1152525 h 1590675"/>
              <a:gd name="connsiteX3" fmla="*/ 0 w 914401"/>
              <a:gd name="connsiteY3" fmla="*/ 1590675 h 1590675"/>
              <a:gd name="connsiteX0" fmla="*/ 914401 w 914401"/>
              <a:gd name="connsiteY0" fmla="*/ 0 h 1590675"/>
              <a:gd name="connsiteX1" fmla="*/ 771525 w 914401"/>
              <a:gd name="connsiteY1" fmla="*/ 171450 h 1590675"/>
              <a:gd name="connsiteX2" fmla="*/ 323850 w 914401"/>
              <a:gd name="connsiteY2" fmla="*/ 1152525 h 1590675"/>
              <a:gd name="connsiteX3" fmla="*/ 0 w 914401"/>
              <a:gd name="connsiteY3" fmla="*/ 1590675 h 1590675"/>
              <a:gd name="connsiteX0" fmla="*/ 914401 w 914401"/>
              <a:gd name="connsiteY0" fmla="*/ 0 h 1590675"/>
              <a:gd name="connsiteX1" fmla="*/ 771525 w 914401"/>
              <a:gd name="connsiteY1" fmla="*/ 171450 h 1590675"/>
              <a:gd name="connsiteX2" fmla="*/ 323850 w 914401"/>
              <a:gd name="connsiteY2" fmla="*/ 1152525 h 1590675"/>
              <a:gd name="connsiteX3" fmla="*/ 0 w 914401"/>
              <a:gd name="connsiteY3" fmla="*/ 1590675 h 1590675"/>
              <a:gd name="connsiteX0" fmla="*/ 876301 w 876301"/>
              <a:gd name="connsiteY0" fmla="*/ 0 h 1535906"/>
              <a:gd name="connsiteX1" fmla="*/ 771525 w 876301"/>
              <a:gd name="connsiteY1" fmla="*/ 116681 h 1535906"/>
              <a:gd name="connsiteX2" fmla="*/ 323850 w 876301"/>
              <a:gd name="connsiteY2" fmla="*/ 1097756 h 1535906"/>
              <a:gd name="connsiteX3" fmla="*/ 0 w 876301"/>
              <a:gd name="connsiteY3" fmla="*/ 1535906 h 1535906"/>
              <a:gd name="connsiteX0" fmla="*/ 771525 w 771525"/>
              <a:gd name="connsiteY0" fmla="*/ 0 h 1419225"/>
              <a:gd name="connsiteX1" fmla="*/ 323850 w 771525"/>
              <a:gd name="connsiteY1" fmla="*/ 981075 h 1419225"/>
              <a:gd name="connsiteX2" fmla="*/ 0 w 771525"/>
              <a:gd name="connsiteY2" fmla="*/ 1419225 h 1419225"/>
              <a:gd name="connsiteX0" fmla="*/ 809625 w 809625"/>
              <a:gd name="connsiteY0" fmla="*/ 0 h 1509713"/>
              <a:gd name="connsiteX1" fmla="*/ 323850 w 809625"/>
              <a:gd name="connsiteY1" fmla="*/ 1071563 h 1509713"/>
              <a:gd name="connsiteX2" fmla="*/ 0 w 809625"/>
              <a:gd name="connsiteY2" fmla="*/ 1509713 h 1509713"/>
              <a:gd name="connsiteX0" fmla="*/ 821531 w 821531"/>
              <a:gd name="connsiteY0" fmla="*/ 0 h 1524000"/>
              <a:gd name="connsiteX1" fmla="*/ 323850 w 821531"/>
              <a:gd name="connsiteY1" fmla="*/ 1085850 h 1524000"/>
              <a:gd name="connsiteX2" fmla="*/ 0 w 821531"/>
              <a:gd name="connsiteY2" fmla="*/ 15240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1531" h="1524000">
                <a:moveTo>
                  <a:pt x="821531" y="0"/>
                </a:moveTo>
                <a:cubicBezTo>
                  <a:pt x="729456" y="182959"/>
                  <a:pt x="452438" y="849312"/>
                  <a:pt x="323850" y="1085850"/>
                </a:cubicBezTo>
                <a:cubicBezTo>
                  <a:pt x="195262" y="1322388"/>
                  <a:pt x="97631" y="1423194"/>
                  <a:pt x="0" y="1524000"/>
                </a:cubicBezTo>
              </a:path>
            </a:pathLst>
          </a:custGeom>
          <a:noFill/>
          <a:ln w="31750">
            <a:solidFill>
              <a:schemeClr val="bg1"/>
            </a:solidFill>
            <a:prstDash val="solid"/>
            <a:headEnd type="none" w="med" len="med"/>
            <a:tailEnd type="arrow" w="med" len="med"/>
          </a:ln>
          <a:effectLst>
            <a:glow rad="25400">
              <a:schemeClr val="tx1">
                <a:alpha val="5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DB0C67F8-658B-E321-52CC-62938247765E}"/>
              </a:ext>
            </a:extLst>
          </p:cNvPr>
          <p:cNvSpPr txBox="1"/>
          <p:nvPr/>
        </p:nvSpPr>
        <p:spPr>
          <a:xfrm rot="1365811">
            <a:off x="824069" y="8422586"/>
            <a:ext cx="88616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z="8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예목로</a:t>
            </a:r>
            <a:endParaRPr lang="ko-KR" altLang="en-US" sz="8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1A620E3E-A98C-6593-A76A-F701518D8BBA}"/>
              </a:ext>
            </a:extLst>
          </p:cNvPr>
          <p:cNvSpPr/>
          <p:nvPr/>
        </p:nvSpPr>
        <p:spPr>
          <a:xfrm>
            <a:off x="952561" y="8034524"/>
            <a:ext cx="286488" cy="246221"/>
          </a:xfrm>
          <a:prstGeom prst="rect">
            <a:avLst/>
          </a:prstGeom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57150"/>
              <a:bevelB w="0" h="6350"/>
              <a:contourClr>
                <a:schemeClr val="bg1"/>
              </a:contourClr>
            </a:sp3d>
          </a:bodyPr>
          <a:lstStyle/>
          <a:p>
            <a:pPr algn="ctr"/>
            <a:r>
              <a:rPr kumimoji="1" lang="ko-KR" altLang="en-US" sz="800" b="1" spc="-60" dirty="0" err="1">
                <a:effectLst>
                  <a:glow rad="88900">
                    <a:schemeClr val="bg1"/>
                  </a:glo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삽교</a:t>
            </a:r>
            <a:endParaRPr kumimoji="1" lang="en-US" altLang="ko-KR" sz="800" b="1" spc="-60" dirty="0">
              <a:effectLst>
                <a:glow rad="88900">
                  <a:schemeClr val="bg1"/>
                </a:glow>
              </a:effectLst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algn="ctr"/>
            <a:r>
              <a:rPr kumimoji="1" lang="ko-KR" altLang="en-US" sz="800" b="1" spc="-60" dirty="0">
                <a:effectLst>
                  <a:glow rad="88900">
                    <a:schemeClr val="bg1"/>
                  </a:glow>
                </a:effectLst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교차로</a:t>
            </a:r>
            <a:endParaRPr kumimoji="1" lang="en-US" altLang="ko-KR" sz="800" b="1" spc="-60" dirty="0">
              <a:effectLst>
                <a:glow rad="88900">
                  <a:schemeClr val="bg1"/>
                </a:glow>
              </a:effectLst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3" name="자유형: 도형 492">
            <a:extLst>
              <a:ext uri="{FF2B5EF4-FFF2-40B4-BE49-F238E27FC236}">
                <a16:creationId xmlns:a16="http://schemas.microsoft.com/office/drawing/2014/main" id="{C2881B52-8252-7D08-85C1-F536DF8BE3A0}"/>
              </a:ext>
            </a:extLst>
          </p:cNvPr>
          <p:cNvSpPr/>
          <p:nvPr/>
        </p:nvSpPr>
        <p:spPr>
          <a:xfrm>
            <a:off x="3136824" y="8672980"/>
            <a:ext cx="1098785" cy="67591"/>
          </a:xfrm>
          <a:custGeom>
            <a:avLst/>
            <a:gdLst>
              <a:gd name="connsiteX0" fmla="*/ 0 w 1470660"/>
              <a:gd name="connsiteY0" fmla="*/ 17707 h 81291"/>
              <a:gd name="connsiteX1" fmla="*/ 426720 w 1470660"/>
              <a:gd name="connsiteY1" fmla="*/ 78667 h 81291"/>
              <a:gd name="connsiteX2" fmla="*/ 815340 w 1470660"/>
              <a:gd name="connsiteY2" fmla="*/ 63427 h 81291"/>
              <a:gd name="connsiteX3" fmla="*/ 1226820 w 1470660"/>
              <a:gd name="connsiteY3" fmla="*/ 2467 h 81291"/>
              <a:gd name="connsiteX4" fmla="*/ 1470660 w 1470660"/>
              <a:gd name="connsiteY4" fmla="*/ 17707 h 81291"/>
              <a:gd name="connsiteX0" fmla="*/ 0 w 1226820"/>
              <a:gd name="connsiteY0" fmla="*/ 15240 h 78824"/>
              <a:gd name="connsiteX1" fmla="*/ 426720 w 1226820"/>
              <a:gd name="connsiteY1" fmla="*/ 76200 h 78824"/>
              <a:gd name="connsiteX2" fmla="*/ 815340 w 1226820"/>
              <a:gd name="connsiteY2" fmla="*/ 60960 h 78824"/>
              <a:gd name="connsiteX3" fmla="*/ 1226820 w 1226820"/>
              <a:gd name="connsiteY3" fmla="*/ 0 h 78824"/>
              <a:gd name="connsiteX0" fmla="*/ 0 w 815340"/>
              <a:gd name="connsiteY0" fmla="*/ 0 h 63584"/>
              <a:gd name="connsiteX1" fmla="*/ 426720 w 815340"/>
              <a:gd name="connsiteY1" fmla="*/ 60960 h 63584"/>
              <a:gd name="connsiteX2" fmla="*/ 815340 w 815340"/>
              <a:gd name="connsiteY2" fmla="*/ 45720 h 63584"/>
              <a:gd name="connsiteX0" fmla="*/ 0 w 1060609"/>
              <a:gd name="connsiteY0" fmla="*/ 1905 h 63554"/>
              <a:gd name="connsiteX1" fmla="*/ 426720 w 1060609"/>
              <a:gd name="connsiteY1" fmla="*/ 62865 h 63554"/>
              <a:gd name="connsiteX2" fmla="*/ 1060609 w 1060609"/>
              <a:gd name="connsiteY2" fmla="*/ 0 h 63554"/>
              <a:gd name="connsiteX0" fmla="*/ 0 w 1060609"/>
              <a:gd name="connsiteY0" fmla="*/ 6199 h 67591"/>
              <a:gd name="connsiteX1" fmla="*/ 426720 w 1060609"/>
              <a:gd name="connsiteY1" fmla="*/ 67159 h 67591"/>
              <a:gd name="connsiteX2" fmla="*/ 1060609 w 1060609"/>
              <a:gd name="connsiteY2" fmla="*/ 4294 h 67591"/>
              <a:gd name="connsiteX0" fmla="*/ 38176 w 1098785"/>
              <a:gd name="connsiteY0" fmla="*/ 6199 h 67591"/>
              <a:gd name="connsiteX1" fmla="*/ 28810 w 1098785"/>
              <a:gd name="connsiteY1" fmla="*/ 4295 h 67591"/>
              <a:gd name="connsiteX2" fmla="*/ 464896 w 1098785"/>
              <a:gd name="connsiteY2" fmla="*/ 67159 h 67591"/>
              <a:gd name="connsiteX3" fmla="*/ 1098785 w 1098785"/>
              <a:gd name="connsiteY3" fmla="*/ 4294 h 67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8785" h="67591">
                <a:moveTo>
                  <a:pt x="38176" y="6199"/>
                </a:moveTo>
                <a:cubicBezTo>
                  <a:pt x="40981" y="7072"/>
                  <a:pt x="-42310" y="-5865"/>
                  <a:pt x="28810" y="4295"/>
                </a:cubicBezTo>
                <a:cubicBezTo>
                  <a:pt x="99930" y="14455"/>
                  <a:pt x="290933" y="68350"/>
                  <a:pt x="464896" y="67159"/>
                </a:cubicBezTo>
                <a:cubicBezTo>
                  <a:pt x="600786" y="74779"/>
                  <a:pt x="944004" y="-21106"/>
                  <a:pt x="1098785" y="4294"/>
                </a:cubicBezTo>
              </a:path>
            </a:pathLst>
          </a:custGeom>
          <a:noFill/>
          <a:ln w="31750">
            <a:solidFill>
              <a:schemeClr val="tx1"/>
            </a:solidFill>
            <a:prstDash val="sysDash"/>
            <a:headEnd type="none" w="med" len="lg"/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4762C802-A63B-DE4F-5ECE-C643FE534F49}"/>
              </a:ext>
            </a:extLst>
          </p:cNvPr>
          <p:cNvSpPr txBox="1"/>
          <p:nvPr/>
        </p:nvSpPr>
        <p:spPr>
          <a:xfrm>
            <a:off x="3340034" y="8532801"/>
            <a:ext cx="624567" cy="230832"/>
          </a:xfrm>
          <a:prstGeom prst="rect">
            <a:avLst/>
          </a:prstGeom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z="900" spc="-7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충의로</a:t>
            </a:r>
            <a:endParaRPr lang="en-US" altLang="ko-KR" sz="900" spc="-7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6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지구외</a:t>
            </a:r>
            <a:r>
              <a:rPr lang="ko-KR" altLang="en-US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도로</a:t>
            </a:r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8C95FF5E-F32E-B6E2-CA14-982455E9158F}"/>
              </a:ext>
            </a:extLst>
          </p:cNvPr>
          <p:cNvSpPr txBox="1"/>
          <p:nvPr/>
        </p:nvSpPr>
        <p:spPr>
          <a:xfrm rot="660791">
            <a:off x="1380102" y="8158461"/>
            <a:ext cx="793807" cy="32316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z="9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충의로</a:t>
            </a:r>
            <a:endParaRPr lang="en-US" altLang="ko-KR" sz="9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주간선도로 </a:t>
            </a:r>
            <a:r>
              <a:rPr lang="ko-KR" altLang="en-US" sz="6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동서축</a:t>
            </a:r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6AFC2455-4850-5E61-1BF3-09B41E64D03E}"/>
              </a:ext>
            </a:extLst>
          </p:cNvPr>
          <p:cNvSpPr txBox="1"/>
          <p:nvPr/>
        </p:nvSpPr>
        <p:spPr>
          <a:xfrm>
            <a:off x="2980475" y="9842194"/>
            <a:ext cx="38979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contourW="19050">
              <a:bevelT w="0" h="127000"/>
              <a:contourClr>
                <a:srgbClr val="404040"/>
              </a:contourClr>
            </a:sp3d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삽교천</a:t>
            </a:r>
            <a:endParaRPr lang="en-US" altLang="ko-KR" sz="90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7" name="자유형: 도형 496">
            <a:extLst>
              <a:ext uri="{FF2B5EF4-FFF2-40B4-BE49-F238E27FC236}">
                <a16:creationId xmlns:a16="http://schemas.microsoft.com/office/drawing/2014/main" id="{ABEACFB9-8C56-24AD-8B59-2A9CA054D3D0}"/>
              </a:ext>
            </a:extLst>
          </p:cNvPr>
          <p:cNvSpPr/>
          <p:nvPr/>
        </p:nvSpPr>
        <p:spPr>
          <a:xfrm>
            <a:off x="1882735" y="6816342"/>
            <a:ext cx="1238723" cy="3383864"/>
          </a:xfrm>
          <a:custGeom>
            <a:avLst/>
            <a:gdLst>
              <a:gd name="connsiteX0" fmla="*/ 1162050 w 1162050"/>
              <a:gd name="connsiteY0" fmla="*/ 0 h 3171825"/>
              <a:gd name="connsiteX1" fmla="*/ 0 w 1162050"/>
              <a:gd name="connsiteY1" fmla="*/ 3171825 h 3171825"/>
              <a:gd name="connsiteX0" fmla="*/ 1218256 w 1218256"/>
              <a:gd name="connsiteY0" fmla="*/ 0 h 3327952"/>
              <a:gd name="connsiteX1" fmla="*/ 0 w 1218256"/>
              <a:gd name="connsiteY1" fmla="*/ 3327952 h 332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8256" h="3327952">
                <a:moveTo>
                  <a:pt x="1218256" y="0"/>
                </a:moveTo>
                <a:lnTo>
                  <a:pt x="0" y="3327952"/>
                </a:lnTo>
              </a:path>
            </a:pathLst>
          </a:custGeom>
          <a:noFill/>
          <a:ln w="66675">
            <a:solidFill>
              <a:schemeClr val="bg1"/>
            </a:solidFill>
            <a:prstDash val="solid"/>
            <a:headEnd type="none" w="med" len="lg"/>
            <a:tailEnd type="non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8" name="자유형: 도형 497">
            <a:extLst>
              <a:ext uri="{FF2B5EF4-FFF2-40B4-BE49-F238E27FC236}">
                <a16:creationId xmlns:a16="http://schemas.microsoft.com/office/drawing/2014/main" id="{E2972762-540C-7F7A-E5C0-57672828B2C1}"/>
              </a:ext>
            </a:extLst>
          </p:cNvPr>
          <p:cNvSpPr/>
          <p:nvPr/>
        </p:nvSpPr>
        <p:spPr>
          <a:xfrm>
            <a:off x="1876255" y="6809261"/>
            <a:ext cx="1238723" cy="3383864"/>
          </a:xfrm>
          <a:custGeom>
            <a:avLst/>
            <a:gdLst>
              <a:gd name="connsiteX0" fmla="*/ 1162050 w 1162050"/>
              <a:gd name="connsiteY0" fmla="*/ 0 h 3171825"/>
              <a:gd name="connsiteX1" fmla="*/ 0 w 1162050"/>
              <a:gd name="connsiteY1" fmla="*/ 3171825 h 3171825"/>
              <a:gd name="connsiteX0" fmla="*/ 1218256 w 1218256"/>
              <a:gd name="connsiteY0" fmla="*/ 0 h 3327952"/>
              <a:gd name="connsiteX1" fmla="*/ 0 w 1218256"/>
              <a:gd name="connsiteY1" fmla="*/ 3327952 h 332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8256" h="3327952">
                <a:moveTo>
                  <a:pt x="1218256" y="0"/>
                </a:moveTo>
                <a:lnTo>
                  <a:pt x="0" y="3327952"/>
                </a:lnTo>
              </a:path>
            </a:pathLst>
          </a:custGeom>
          <a:noFill/>
          <a:ln w="31750">
            <a:solidFill>
              <a:schemeClr val="accent4">
                <a:lumMod val="75000"/>
              </a:schemeClr>
            </a:solidFill>
            <a:prstDash val="sysDash"/>
            <a:headEnd type="triangle" w="med" len="lg"/>
            <a:tailEnd type="triangle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9C4E08A4-48FE-3891-AE82-A12BD66D93FD}"/>
              </a:ext>
            </a:extLst>
          </p:cNvPr>
          <p:cNvSpPr txBox="1"/>
          <p:nvPr/>
        </p:nvSpPr>
        <p:spPr>
          <a:xfrm rot="1115103">
            <a:off x="2751350" y="7087840"/>
            <a:ext cx="178782" cy="95410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z="800" spc="-8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서해선 복선전철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8A52EA2B-0012-488B-16BC-C86606096D99}"/>
              </a:ext>
            </a:extLst>
          </p:cNvPr>
          <p:cNvSpPr txBox="1"/>
          <p:nvPr/>
        </p:nvSpPr>
        <p:spPr>
          <a:xfrm rot="17267747">
            <a:off x="2128278" y="8574917"/>
            <a:ext cx="622621" cy="202776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contourW="25400">
              <a:bevelT w="0" h="19050"/>
              <a:contourClr>
                <a:schemeClr val="accent4">
                  <a:lumMod val="50000"/>
                </a:schemeClr>
              </a:contourClr>
            </a:sp3d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ko-KR" altLang="en-US" sz="9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내포역</a:t>
            </a:r>
            <a:r>
              <a:rPr lang="en-US" altLang="ko-KR" sz="7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7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신설</a:t>
            </a:r>
            <a:r>
              <a:rPr lang="en-US" altLang="ko-KR" sz="7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endParaRPr lang="ko-KR" altLang="en-US" sz="7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7F2F9547-C7E9-1840-46C3-4553780A8558}"/>
              </a:ext>
            </a:extLst>
          </p:cNvPr>
          <p:cNvSpPr/>
          <p:nvPr/>
        </p:nvSpPr>
        <p:spPr>
          <a:xfrm>
            <a:off x="2201226" y="9048750"/>
            <a:ext cx="230983" cy="314249"/>
          </a:xfrm>
          <a:custGeom>
            <a:avLst/>
            <a:gdLst>
              <a:gd name="connsiteX0" fmla="*/ 0 w 323850"/>
              <a:gd name="connsiteY0" fmla="*/ 0 h 328613"/>
              <a:gd name="connsiteX1" fmla="*/ 0 w 323850"/>
              <a:gd name="connsiteY1" fmla="*/ 247650 h 328613"/>
              <a:gd name="connsiteX2" fmla="*/ 0 w 323850"/>
              <a:gd name="connsiteY2" fmla="*/ 328613 h 328613"/>
              <a:gd name="connsiteX3" fmla="*/ 323850 w 323850"/>
              <a:gd name="connsiteY3" fmla="*/ 328613 h 328613"/>
              <a:gd name="connsiteX4" fmla="*/ 323850 w 323850"/>
              <a:gd name="connsiteY4" fmla="*/ 119063 h 3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850" h="328613">
                <a:moveTo>
                  <a:pt x="0" y="0"/>
                </a:moveTo>
                <a:lnTo>
                  <a:pt x="0" y="247650"/>
                </a:lnTo>
                <a:lnTo>
                  <a:pt x="0" y="328613"/>
                </a:lnTo>
                <a:lnTo>
                  <a:pt x="323850" y="328613"/>
                </a:lnTo>
                <a:lnTo>
                  <a:pt x="323850" y="119063"/>
                </a:lnTo>
              </a:path>
            </a:pathLst>
          </a:custGeom>
          <a:noFill/>
          <a:ln w="9525">
            <a:headEnd type="oval" w="sm" len="sm"/>
            <a:tailEnd type="oval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3" name="TextBox 502">
            <a:extLst>
              <a:ext uri="{FF2B5EF4-FFF2-40B4-BE49-F238E27FC236}">
                <a16:creationId xmlns:a16="http://schemas.microsoft.com/office/drawing/2014/main" id="{0CB705F4-FAAE-21C5-329F-8E9581F60615}"/>
              </a:ext>
            </a:extLst>
          </p:cNvPr>
          <p:cNvSpPr txBox="1"/>
          <p:nvPr/>
        </p:nvSpPr>
        <p:spPr>
          <a:xfrm>
            <a:off x="1600279" y="8669672"/>
            <a:ext cx="276523" cy="92333"/>
          </a:xfrm>
          <a:prstGeom prst="rect">
            <a:avLst/>
          </a:prstGeom>
          <a:noFill/>
          <a:effectLst>
            <a:glow rad="228600">
              <a:schemeClr val="bg1">
                <a:alpha val="40000"/>
              </a:schemeClr>
            </a:glow>
          </a:effectLst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extrusionH="12700" contourW="12700">
              <a:bevelT w="0" h="25400"/>
              <a:bevelB w="0" h="254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1287085">
              <a:defRPr sz="600" spc="-65">
                <a:solidFill>
                  <a:schemeClr val="bg2">
                    <a:lumMod val="10000"/>
                  </a:schemeClr>
                </a:solidFill>
                <a:effectLst>
                  <a:glow rad="190500">
                    <a:schemeClr val="bg1">
                      <a:alpha val="40000"/>
                    </a:schemeClr>
                  </a:glo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복합용지</a:t>
            </a:r>
            <a:endParaRPr lang="en-US" altLang="ko-KR" dirty="0"/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86F5F8C6-6A3C-3ED6-B725-58293F45352F}"/>
              </a:ext>
            </a:extLst>
          </p:cNvPr>
          <p:cNvSpPr txBox="1"/>
          <p:nvPr/>
        </p:nvSpPr>
        <p:spPr>
          <a:xfrm>
            <a:off x="2186683" y="8233819"/>
            <a:ext cx="228532" cy="184666"/>
          </a:xfrm>
          <a:prstGeom prst="rect">
            <a:avLst/>
          </a:prstGeom>
          <a:noFill/>
          <a:effectLst>
            <a:glow rad="228600">
              <a:schemeClr val="bg1">
                <a:alpha val="40000"/>
              </a:schemeClr>
            </a:glow>
          </a:effectLst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extrusionH="12700" contourW="12700">
              <a:bevelT w="0" h="25400"/>
              <a:bevelB w="0" h="254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1287085">
              <a:defRPr sz="600" spc="-65">
                <a:solidFill>
                  <a:schemeClr val="bg2">
                    <a:lumMod val="10000"/>
                  </a:schemeClr>
                </a:solidFill>
                <a:effectLst>
                  <a:glow rad="190500">
                    <a:schemeClr val="bg1">
                      <a:alpha val="40000"/>
                    </a:schemeClr>
                  </a:glo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공원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 err="1"/>
              <a:t>저류지</a:t>
            </a:r>
            <a:r>
              <a:rPr lang="en-US" altLang="ko-KR" dirty="0"/>
              <a:t>)</a:t>
            </a: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7D542915-EA06-E03E-E103-E0D2C77FC7C6}"/>
              </a:ext>
            </a:extLst>
          </p:cNvPr>
          <p:cNvSpPr txBox="1"/>
          <p:nvPr/>
        </p:nvSpPr>
        <p:spPr>
          <a:xfrm>
            <a:off x="2577652" y="8375969"/>
            <a:ext cx="228532" cy="92333"/>
          </a:xfrm>
          <a:prstGeom prst="rect">
            <a:avLst/>
          </a:prstGeom>
          <a:noFill/>
          <a:effectLst>
            <a:glow rad="228600">
              <a:schemeClr val="bg1">
                <a:alpha val="40000"/>
              </a:schemeClr>
            </a:glow>
          </a:effectLst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extrusionH="12700" contourW="12700">
              <a:bevelT w="0" h="25400"/>
              <a:bevelB w="0" h="254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1287085">
              <a:defRPr sz="600" spc="-65">
                <a:solidFill>
                  <a:schemeClr val="bg2">
                    <a:lumMod val="10000"/>
                  </a:schemeClr>
                </a:solidFill>
                <a:effectLst>
                  <a:glow rad="190500">
                    <a:schemeClr val="bg1">
                      <a:alpha val="40000"/>
                    </a:schemeClr>
                  </a:glo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업무</a:t>
            </a:r>
            <a:endParaRPr lang="en-US" altLang="ko-KR" dirty="0"/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A41FBE4A-B493-B6EE-FA17-147E16F77306}"/>
              </a:ext>
            </a:extLst>
          </p:cNvPr>
          <p:cNvSpPr txBox="1"/>
          <p:nvPr/>
        </p:nvSpPr>
        <p:spPr>
          <a:xfrm>
            <a:off x="2882743" y="8432758"/>
            <a:ext cx="228532" cy="92333"/>
          </a:xfrm>
          <a:prstGeom prst="rect">
            <a:avLst/>
          </a:prstGeom>
          <a:noFill/>
          <a:effectLst>
            <a:glow rad="228600">
              <a:schemeClr val="bg1">
                <a:alpha val="40000"/>
              </a:schemeClr>
            </a:glow>
          </a:effectLst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extrusionH="12700" contourW="12700">
              <a:bevelT w="0" h="25400"/>
              <a:bevelB w="0" h="254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1287085">
              <a:defRPr sz="600" spc="-65">
                <a:solidFill>
                  <a:schemeClr val="bg2">
                    <a:lumMod val="10000"/>
                  </a:schemeClr>
                </a:solidFill>
                <a:effectLst>
                  <a:glow rad="190500">
                    <a:schemeClr val="bg1">
                      <a:alpha val="40000"/>
                    </a:schemeClr>
                  </a:glo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공공</a:t>
            </a:r>
            <a:endParaRPr lang="en-US" altLang="ko-KR" dirty="0"/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42784E77-8E11-AD19-C749-49DE61D9A1C7}"/>
              </a:ext>
            </a:extLst>
          </p:cNvPr>
          <p:cNvSpPr txBox="1"/>
          <p:nvPr/>
        </p:nvSpPr>
        <p:spPr>
          <a:xfrm>
            <a:off x="2582844" y="8931567"/>
            <a:ext cx="228532" cy="92333"/>
          </a:xfrm>
          <a:prstGeom prst="rect">
            <a:avLst/>
          </a:prstGeom>
          <a:noFill/>
          <a:effectLst>
            <a:glow rad="228600">
              <a:schemeClr val="bg1">
                <a:alpha val="40000"/>
              </a:schemeClr>
            </a:glow>
          </a:effectLst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extrusionH="12700" contourW="12700">
              <a:bevelT w="0" h="25400"/>
              <a:bevelB w="0" h="254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1287085">
              <a:defRPr sz="600" spc="-65">
                <a:solidFill>
                  <a:schemeClr val="bg2">
                    <a:lumMod val="10000"/>
                  </a:schemeClr>
                </a:solidFill>
                <a:effectLst>
                  <a:glow rad="190500">
                    <a:schemeClr val="bg1">
                      <a:alpha val="40000"/>
                    </a:schemeClr>
                  </a:glo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상업</a:t>
            </a:r>
            <a:endParaRPr lang="en-US" altLang="ko-KR" dirty="0"/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D2A9BDC4-CA3B-6DDA-3B13-8099DD4F8493}"/>
              </a:ext>
            </a:extLst>
          </p:cNvPr>
          <p:cNvSpPr txBox="1"/>
          <p:nvPr/>
        </p:nvSpPr>
        <p:spPr>
          <a:xfrm>
            <a:off x="2177997" y="9313997"/>
            <a:ext cx="276523" cy="184666"/>
          </a:xfrm>
          <a:prstGeom prst="rect">
            <a:avLst/>
          </a:prstGeom>
          <a:noFill/>
          <a:effectLst>
            <a:glow rad="228600">
              <a:schemeClr val="bg1">
                <a:alpha val="40000"/>
              </a:schemeClr>
            </a:glow>
          </a:effectLst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 extrusionH="12700" contourW="12700">
              <a:bevelT w="0" h="25400"/>
              <a:bevelB w="0" h="254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 defTabSz="1287085">
              <a:defRPr sz="600" spc="-65">
                <a:solidFill>
                  <a:schemeClr val="bg2">
                    <a:lumMod val="1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 err="1">
                <a:effectLst>
                  <a:glow rad="190500">
                    <a:schemeClr val="bg1">
                      <a:alpha val="40000"/>
                    </a:schemeClr>
                  </a:glow>
                </a:effectLst>
              </a:rPr>
              <a:t>복합환승</a:t>
            </a:r>
            <a:endParaRPr lang="en-US" altLang="ko-KR" dirty="0">
              <a:effectLst>
                <a:glow rad="190500">
                  <a:schemeClr val="bg1">
                    <a:alpha val="40000"/>
                  </a:schemeClr>
                </a:glow>
              </a:effectLst>
            </a:endParaRPr>
          </a:p>
          <a:p>
            <a:r>
              <a:rPr lang="ko-KR" altLang="en-US" dirty="0">
                <a:effectLst>
                  <a:glow rad="190500">
                    <a:schemeClr val="bg1">
                      <a:alpha val="40000"/>
                    </a:schemeClr>
                  </a:glow>
                </a:effectLst>
              </a:rPr>
              <a:t>주차장</a:t>
            </a:r>
          </a:p>
        </p:txBody>
      </p:sp>
      <p:grpSp>
        <p:nvGrpSpPr>
          <p:cNvPr id="509" name="그룹 508">
            <a:extLst>
              <a:ext uri="{FF2B5EF4-FFF2-40B4-BE49-F238E27FC236}">
                <a16:creationId xmlns:a16="http://schemas.microsoft.com/office/drawing/2014/main" id="{257A39D4-5C85-D2AA-9607-D61403D2C541}"/>
              </a:ext>
            </a:extLst>
          </p:cNvPr>
          <p:cNvGrpSpPr/>
          <p:nvPr/>
        </p:nvGrpSpPr>
        <p:grpSpPr>
          <a:xfrm>
            <a:off x="1104193" y="7037265"/>
            <a:ext cx="1206270" cy="1213341"/>
            <a:chOff x="1050284" y="6952837"/>
            <a:chExt cx="1206270" cy="1213341"/>
          </a:xfrm>
        </p:grpSpPr>
        <p:pic>
          <p:nvPicPr>
            <p:cNvPr id="510" name="그림 509">
              <a:extLst>
                <a:ext uri="{FF2B5EF4-FFF2-40B4-BE49-F238E27FC236}">
                  <a16:creationId xmlns:a16="http://schemas.microsoft.com/office/drawing/2014/main" id="{DE710E09-8A42-4DA2-E8FF-00740896D6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9140"/>
                      </a14:imgEffect>
                      <a14:imgEffect>
                        <a14:brightnessContrast bright="89000" contrast="-7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6" t="19100"/>
            <a:stretch/>
          </p:blipFill>
          <p:spPr>
            <a:xfrm rot="11247824">
              <a:off x="1050284" y="6952837"/>
              <a:ext cx="1206270" cy="1213341"/>
            </a:xfrm>
            <a:prstGeom prst="rect">
              <a:avLst/>
            </a:prstGeom>
          </p:spPr>
        </p:pic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5CEFA9A7-6E61-0263-41D6-EC1109A4156C}"/>
                </a:ext>
              </a:extLst>
            </p:cNvPr>
            <p:cNvSpPr txBox="1"/>
            <p:nvPr/>
          </p:nvSpPr>
          <p:spPr>
            <a:xfrm>
              <a:off x="1618683" y="7704697"/>
              <a:ext cx="448841" cy="246221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 contourW="12700">
                <a:bevelT w="0" h="19050"/>
                <a:contourClr>
                  <a:schemeClr val="tx1"/>
                </a:contourClr>
              </a:sp3d>
            </a:bodyPr>
            <a:lstStyle>
              <a:defPPr>
                <a:defRPr lang="ko-KR"/>
              </a:defPPr>
              <a:lvl1pPr algn="ctr">
                <a:defRPr sz="700" b="1">
                  <a:solidFill>
                    <a:schemeClr val="bg1"/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defRPr>
              </a:lvl1pPr>
            </a:lstStyle>
            <a:p>
              <a:r>
                <a:rPr lang="ko-KR" altLang="en-US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산업종사자</a:t>
              </a:r>
              <a:endParaRPr lang="en-US" altLang="ko-KR" sz="8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r>
                <a:rPr lang="ko-KR" altLang="en-US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인구</a:t>
              </a:r>
              <a:r>
                <a:rPr lang="en-US" altLang="ko-KR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</a:t>
              </a:r>
              <a:r>
                <a:rPr lang="ko-KR" altLang="en-US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유입</a:t>
              </a:r>
              <a:endParaRPr lang="en-US" altLang="ko-KR" sz="8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512" name="그룹 511">
            <a:extLst>
              <a:ext uri="{FF2B5EF4-FFF2-40B4-BE49-F238E27FC236}">
                <a16:creationId xmlns:a16="http://schemas.microsoft.com/office/drawing/2014/main" id="{217FB270-3EB1-F6D0-6970-210931FB38B9}"/>
              </a:ext>
            </a:extLst>
          </p:cNvPr>
          <p:cNvGrpSpPr/>
          <p:nvPr/>
        </p:nvGrpSpPr>
        <p:grpSpPr>
          <a:xfrm>
            <a:off x="1144437" y="6899851"/>
            <a:ext cx="810545" cy="810545"/>
            <a:chOff x="499376" y="7178947"/>
            <a:chExt cx="925451" cy="925451"/>
          </a:xfrm>
        </p:grpSpPr>
        <p:sp>
          <p:nvSpPr>
            <p:cNvPr id="513" name="타원 512">
              <a:extLst>
                <a:ext uri="{FF2B5EF4-FFF2-40B4-BE49-F238E27FC236}">
                  <a16:creationId xmlns:a16="http://schemas.microsoft.com/office/drawing/2014/main" id="{10C03C18-B6E6-987B-84E5-922731A54380}"/>
                </a:ext>
              </a:extLst>
            </p:cNvPr>
            <p:cNvSpPr/>
            <p:nvPr/>
          </p:nvSpPr>
          <p:spPr>
            <a:xfrm>
              <a:off x="499376" y="7178947"/>
              <a:ext cx="925451" cy="925451"/>
            </a:xfrm>
            <a:prstGeom prst="ellipse">
              <a:avLst/>
            </a:prstGeom>
            <a:noFill/>
            <a:ln w="57150">
              <a:solidFill>
                <a:schemeClr val="bg1">
                  <a:lumMod val="65000"/>
                  <a:alpha val="6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EE5CE91A-7C61-0C93-3542-8100145138B0}"/>
                </a:ext>
              </a:extLst>
            </p:cNvPr>
            <p:cNvSpPr txBox="1"/>
            <p:nvPr/>
          </p:nvSpPr>
          <p:spPr>
            <a:xfrm>
              <a:off x="650798" y="7454710"/>
              <a:ext cx="622101" cy="42658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  <a:scene3d>
                <a:camera prst="orthographicFront"/>
                <a:lightRig rig="threePt" dir="t"/>
              </a:scene3d>
              <a:sp3d contourW="38100">
                <a:bevelT w="0" h="38100"/>
                <a:contourClr>
                  <a:schemeClr val="bg1"/>
                </a:contourClr>
              </a:sp3d>
            </a:bodyPr>
            <a:lstStyle/>
            <a:p>
              <a:pPr algn="ctr"/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셀트리온</a:t>
              </a:r>
              <a:endParaRPr lang="en-US" altLang="ko-K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pPr algn="ctr"/>
              <a:r>
                <a:rPr lang="ko-KR" altLang="en-US" sz="1000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유치지역</a:t>
              </a:r>
              <a:endParaRPr lang="en-US" altLang="ko-K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515" name="TextBox 514">
            <a:extLst>
              <a:ext uri="{FF2B5EF4-FFF2-40B4-BE49-F238E27FC236}">
                <a16:creationId xmlns:a16="http://schemas.microsoft.com/office/drawing/2014/main" id="{BE662420-40E1-3BC2-C01A-04534F6CCE9D}"/>
              </a:ext>
            </a:extLst>
          </p:cNvPr>
          <p:cNvSpPr txBox="1"/>
          <p:nvPr/>
        </p:nvSpPr>
        <p:spPr>
          <a:xfrm>
            <a:off x="997001" y="6825110"/>
            <a:ext cx="1121772" cy="215444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alpha val="0"/>
                </a:sysClr>
              </a:gs>
              <a:gs pos="76000">
                <a:srgbClr val="D4D4D4"/>
              </a:gs>
              <a:gs pos="27000">
                <a:srgbClr val="B7B7B7"/>
              </a:gs>
              <a:gs pos="51000">
                <a:schemeClr val="bg1">
                  <a:lumMod val="50000"/>
                  <a:alpha val="62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0"/>
            <a:tileRect/>
          </a:gra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내포 </a:t>
            </a:r>
            <a:r>
              <a:rPr lang="ko-KR" altLang="en-US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농생명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융복합 산업 클러스터</a:t>
            </a:r>
            <a:endParaRPr lang="en-US" altLang="ko-KR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17" name="타원 516">
            <a:extLst>
              <a:ext uri="{FF2B5EF4-FFF2-40B4-BE49-F238E27FC236}">
                <a16:creationId xmlns:a16="http://schemas.microsoft.com/office/drawing/2014/main" id="{B3A34E38-A2C7-89DA-6CB5-FC5F3B855D13}"/>
              </a:ext>
            </a:extLst>
          </p:cNvPr>
          <p:cNvSpPr/>
          <p:nvPr/>
        </p:nvSpPr>
        <p:spPr>
          <a:xfrm>
            <a:off x="3501077" y="7420185"/>
            <a:ext cx="726482" cy="726482"/>
          </a:xfrm>
          <a:prstGeom prst="ellipse">
            <a:avLst/>
          </a:prstGeom>
          <a:noFill/>
          <a:ln w="57150">
            <a:solidFill>
              <a:schemeClr val="bg1">
                <a:lumMod val="6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C6844711-44FB-4800-4873-4770B1C2A83D}"/>
              </a:ext>
            </a:extLst>
          </p:cNvPr>
          <p:cNvSpPr txBox="1"/>
          <p:nvPr/>
        </p:nvSpPr>
        <p:spPr>
          <a:xfrm>
            <a:off x="3684116" y="7635806"/>
            <a:ext cx="33663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 contourW="38100">
              <a:bevelT w="0" h="381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sz="100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 err="1"/>
              <a:t>예산읍</a:t>
            </a:r>
            <a:endParaRPr lang="en-US" altLang="ko-KR" dirty="0"/>
          </a:p>
          <a:p>
            <a:r>
              <a:rPr lang="ko-KR" altLang="en-US" dirty="0"/>
              <a:t>구도심</a:t>
            </a:r>
            <a:endParaRPr lang="en-US" altLang="ko-KR" dirty="0"/>
          </a:p>
        </p:txBody>
      </p:sp>
      <p:grpSp>
        <p:nvGrpSpPr>
          <p:cNvPr id="578" name="그룹 577">
            <a:extLst>
              <a:ext uri="{FF2B5EF4-FFF2-40B4-BE49-F238E27FC236}">
                <a16:creationId xmlns:a16="http://schemas.microsoft.com/office/drawing/2014/main" id="{F337DB4B-5D22-922B-BA05-C9224EBFEF49}"/>
              </a:ext>
            </a:extLst>
          </p:cNvPr>
          <p:cNvGrpSpPr/>
          <p:nvPr/>
        </p:nvGrpSpPr>
        <p:grpSpPr>
          <a:xfrm rot="16200000">
            <a:off x="778782" y="8982115"/>
            <a:ext cx="1046250" cy="1052383"/>
            <a:chOff x="1050284" y="6952837"/>
            <a:chExt cx="1206270" cy="1213341"/>
          </a:xfrm>
        </p:grpSpPr>
        <p:pic>
          <p:nvPicPr>
            <p:cNvPr id="579" name="그림 578">
              <a:extLst>
                <a:ext uri="{FF2B5EF4-FFF2-40B4-BE49-F238E27FC236}">
                  <a16:creationId xmlns:a16="http://schemas.microsoft.com/office/drawing/2014/main" id="{57CF86C9-1015-BA0E-72E7-A6BA3C77E6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9140"/>
                      </a14:imgEffect>
                      <a14:imgEffect>
                        <a14:brightnessContrast bright="89000" contrast="-7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6" t="19100"/>
            <a:stretch/>
          </p:blipFill>
          <p:spPr>
            <a:xfrm rot="11247824">
              <a:off x="1050284" y="6952837"/>
              <a:ext cx="1206270" cy="1213341"/>
            </a:xfrm>
            <a:prstGeom prst="rect">
              <a:avLst/>
            </a:prstGeom>
          </p:spPr>
        </p:pic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A5FEEB9E-BD47-BC06-4A44-87566CFDA041}"/>
                </a:ext>
              </a:extLst>
            </p:cNvPr>
            <p:cNvSpPr txBox="1"/>
            <p:nvPr/>
          </p:nvSpPr>
          <p:spPr>
            <a:xfrm rot="5400000">
              <a:off x="1658993" y="7676703"/>
              <a:ext cx="413993" cy="283880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 contourW="12700">
                <a:bevelT w="0" h="19050"/>
                <a:contourClr>
                  <a:schemeClr val="tx1"/>
                </a:contourClr>
              </a:sp3d>
            </a:bodyPr>
            <a:lstStyle>
              <a:defPPr>
                <a:defRPr lang="ko-KR"/>
              </a:defPPr>
              <a:lvl1pPr algn="ctr">
                <a:defRPr sz="700" b="1">
                  <a:solidFill>
                    <a:schemeClr val="bg1"/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defRPr>
              </a:lvl1pPr>
            </a:lstStyle>
            <a:p>
              <a:r>
                <a:rPr lang="ko-KR" altLang="en-US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유동인구</a:t>
              </a:r>
              <a:endParaRPr lang="en-US" altLang="ko-KR" sz="8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r>
                <a:rPr lang="ko-KR" altLang="en-US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유입</a:t>
              </a:r>
              <a:endParaRPr lang="en-US" altLang="ko-KR" sz="8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583" name="그룹 582">
            <a:extLst>
              <a:ext uri="{FF2B5EF4-FFF2-40B4-BE49-F238E27FC236}">
                <a16:creationId xmlns:a16="http://schemas.microsoft.com/office/drawing/2014/main" id="{FEB05C10-5FD5-8E04-4763-7703BB9A7C8B}"/>
              </a:ext>
            </a:extLst>
          </p:cNvPr>
          <p:cNvGrpSpPr/>
          <p:nvPr/>
        </p:nvGrpSpPr>
        <p:grpSpPr>
          <a:xfrm rot="8181343">
            <a:off x="2896883" y="8869905"/>
            <a:ext cx="1046250" cy="1052383"/>
            <a:chOff x="1050284" y="6952837"/>
            <a:chExt cx="1206270" cy="1213341"/>
          </a:xfrm>
        </p:grpSpPr>
        <p:pic>
          <p:nvPicPr>
            <p:cNvPr id="584" name="그림 583">
              <a:extLst>
                <a:ext uri="{FF2B5EF4-FFF2-40B4-BE49-F238E27FC236}">
                  <a16:creationId xmlns:a16="http://schemas.microsoft.com/office/drawing/2014/main" id="{296FB542-909C-0A78-9CFF-171F40D56B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9140"/>
                      </a14:imgEffect>
                      <a14:imgEffect>
                        <a14:brightnessContrast bright="89000" contrast="-7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6" t="19100"/>
            <a:stretch/>
          </p:blipFill>
          <p:spPr>
            <a:xfrm rot="11247824">
              <a:off x="1050284" y="6952837"/>
              <a:ext cx="1206270" cy="1213341"/>
            </a:xfrm>
            <a:prstGeom prst="rect">
              <a:avLst/>
            </a:prstGeom>
          </p:spPr>
        </p:pic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FA7C2E9F-2A10-BE9D-0F80-738A0595F0EF}"/>
                </a:ext>
              </a:extLst>
            </p:cNvPr>
            <p:cNvSpPr txBox="1"/>
            <p:nvPr/>
          </p:nvSpPr>
          <p:spPr>
            <a:xfrm rot="14318657">
              <a:off x="1603794" y="7629846"/>
              <a:ext cx="413993" cy="283880"/>
            </a:xfrm>
            <a:prstGeom prst="rect">
              <a:avLst/>
            </a:prstGeom>
          </p:spPr>
          <p:txBody>
            <a:bodyPr wrap="none" lIns="0" tIns="0" rIns="0" bIns="0">
              <a:spAutoFit/>
              <a:scene3d>
                <a:camera prst="orthographicFront"/>
                <a:lightRig rig="threePt" dir="t"/>
              </a:scene3d>
              <a:sp3d contourW="12700">
                <a:bevelT w="0" h="19050"/>
                <a:contourClr>
                  <a:schemeClr val="tx1"/>
                </a:contourClr>
              </a:sp3d>
            </a:bodyPr>
            <a:lstStyle>
              <a:defPPr>
                <a:defRPr lang="ko-KR"/>
              </a:defPPr>
              <a:lvl1pPr algn="ctr">
                <a:defRPr sz="700" b="1">
                  <a:solidFill>
                    <a:schemeClr val="bg1"/>
                  </a:solidFill>
                  <a:effectLst/>
                  <a:latin typeface="나눔바른고딕" panose="020B0603020101020101" pitchFamily="50" charset="-127"/>
                  <a:ea typeface="나눔바른고딕" panose="020B0603020101020101" pitchFamily="50" charset="-127"/>
                </a:defRPr>
              </a:lvl1pPr>
            </a:lstStyle>
            <a:p>
              <a:r>
                <a:rPr lang="ko-KR" altLang="en-US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유동인구</a:t>
              </a:r>
              <a:endParaRPr lang="en-US" altLang="ko-KR" sz="8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r>
                <a:rPr lang="ko-KR" altLang="en-US" sz="8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유입</a:t>
              </a:r>
              <a:endParaRPr lang="en-US" altLang="ko-KR" sz="800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587" name="타원 586">
            <a:extLst>
              <a:ext uri="{FF2B5EF4-FFF2-40B4-BE49-F238E27FC236}">
                <a16:creationId xmlns:a16="http://schemas.microsoft.com/office/drawing/2014/main" id="{BF383D90-A3CD-1CDD-E30B-29E12A8173E9}"/>
              </a:ext>
            </a:extLst>
          </p:cNvPr>
          <p:cNvSpPr/>
          <p:nvPr/>
        </p:nvSpPr>
        <p:spPr>
          <a:xfrm>
            <a:off x="3382279" y="9147392"/>
            <a:ext cx="726469" cy="726469"/>
          </a:xfrm>
          <a:prstGeom prst="ellipse">
            <a:avLst/>
          </a:prstGeom>
          <a:noFill/>
          <a:ln w="57150">
            <a:solidFill>
              <a:schemeClr val="bg1">
                <a:lumMod val="6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8985EAFE-9CF0-1058-77AB-0712203405AC}"/>
              </a:ext>
            </a:extLst>
          </p:cNvPr>
          <p:cNvSpPr txBox="1"/>
          <p:nvPr/>
        </p:nvSpPr>
        <p:spPr>
          <a:xfrm>
            <a:off x="3571017" y="9355118"/>
            <a:ext cx="33663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 contourW="38100">
              <a:bevelT w="0" h="381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sz="100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/>
              <a:t>삽교읍</a:t>
            </a:r>
            <a:endParaRPr lang="en-US" altLang="ko-KR" dirty="0"/>
          </a:p>
          <a:p>
            <a:r>
              <a:rPr lang="ko-KR" altLang="en-US" dirty="0"/>
              <a:t>구도심</a:t>
            </a:r>
            <a:endParaRPr lang="en-US" altLang="ko-KR" dirty="0"/>
          </a:p>
        </p:txBody>
      </p:sp>
      <p:pic>
        <p:nvPicPr>
          <p:cNvPr id="591" name="그림 590">
            <a:extLst>
              <a:ext uri="{FF2B5EF4-FFF2-40B4-BE49-F238E27FC236}">
                <a16:creationId xmlns:a16="http://schemas.microsoft.com/office/drawing/2014/main" id="{28D7ED09-CF68-DECF-B8FC-532E99D892D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12841" r="32985" b="37730"/>
          <a:stretch/>
        </p:blipFill>
        <p:spPr>
          <a:xfrm>
            <a:off x="515180" y="10031767"/>
            <a:ext cx="236477" cy="113049"/>
          </a:xfrm>
          <a:prstGeom prst="rect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594" name="TextBox 593">
            <a:extLst>
              <a:ext uri="{FF2B5EF4-FFF2-40B4-BE49-F238E27FC236}">
                <a16:creationId xmlns:a16="http://schemas.microsoft.com/office/drawing/2014/main" id="{60FDCFFF-7B22-134B-9870-CB330D72BF5B}"/>
              </a:ext>
            </a:extLst>
          </p:cNvPr>
          <p:cNvSpPr txBox="1"/>
          <p:nvPr/>
        </p:nvSpPr>
        <p:spPr>
          <a:xfrm>
            <a:off x="424987" y="9988679"/>
            <a:ext cx="1215814" cy="18466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농업진흥지역</a:t>
            </a:r>
          </a:p>
        </p:txBody>
      </p:sp>
      <p:sp>
        <p:nvSpPr>
          <p:cNvPr id="596" name="타원 595">
            <a:extLst>
              <a:ext uri="{FF2B5EF4-FFF2-40B4-BE49-F238E27FC236}">
                <a16:creationId xmlns:a16="http://schemas.microsoft.com/office/drawing/2014/main" id="{8B9F6FB8-8827-E4F2-E292-5ADA40AE6FA3}"/>
              </a:ext>
            </a:extLst>
          </p:cNvPr>
          <p:cNvSpPr/>
          <p:nvPr/>
        </p:nvSpPr>
        <p:spPr>
          <a:xfrm>
            <a:off x="680757" y="9200398"/>
            <a:ext cx="793566" cy="793566"/>
          </a:xfrm>
          <a:prstGeom prst="ellipse">
            <a:avLst/>
          </a:prstGeom>
          <a:noFill/>
          <a:ln w="57150">
            <a:solidFill>
              <a:schemeClr val="bg1">
                <a:lumMod val="6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E9CAA81F-CCEF-4B49-8349-6B4CC4BDE65A}"/>
              </a:ext>
            </a:extLst>
          </p:cNvPr>
          <p:cNvSpPr txBox="1"/>
          <p:nvPr/>
        </p:nvSpPr>
        <p:spPr>
          <a:xfrm>
            <a:off x="738519" y="9471416"/>
            <a:ext cx="67326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  <a:scene3d>
              <a:camera prst="orthographicFront"/>
              <a:lightRig rig="threePt" dir="t"/>
            </a:scene3d>
            <a:sp3d contourW="38100">
              <a:bevelT w="0" h="38100"/>
              <a:contourClr>
                <a:schemeClr val="bg1"/>
              </a:contourClr>
            </a:sp3d>
          </a:bodyPr>
          <a:lstStyle>
            <a:defPPr>
              <a:defRPr lang="ko-KR"/>
            </a:defPPr>
            <a:lvl1pPr algn="ctr">
              <a:defRPr sz="100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충남혁신도시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내포신도시</a:t>
            </a:r>
            <a:r>
              <a:rPr lang="en-US" altLang="ko-KR" dirty="0"/>
              <a:t>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4C1C041-E692-6A27-C93D-20389F2649E1}"/>
              </a:ext>
            </a:extLst>
          </p:cNvPr>
          <p:cNvSpPr/>
          <p:nvPr/>
        </p:nvSpPr>
        <p:spPr>
          <a:xfrm>
            <a:off x="2974351" y="6457128"/>
            <a:ext cx="1489896" cy="316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42575" y="6454520"/>
            <a:ext cx="3847063" cy="28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ko-KR" altLang="en-US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 수행상 주안점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265" y="6456717"/>
            <a:ext cx="302561" cy="285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en-US" altLang="ko-KR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</a:t>
            </a:r>
            <a:endParaRPr lang="ko-KR" altLang="en-US" sz="1269" b="1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2575" y="6454520"/>
            <a:ext cx="3847063" cy="28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ko-KR" altLang="en-US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사업 수행상 주안점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4265" y="6456717"/>
            <a:ext cx="302561" cy="285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46410" latinLnBrk="0">
              <a:defRPr/>
            </a:pPr>
            <a:r>
              <a:rPr lang="en-US" altLang="ko-KR" sz="1269" b="1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934D1D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4)</a:t>
            </a:r>
            <a:endParaRPr lang="ko-KR" altLang="en-US" sz="1269" b="1" dirty="0">
              <a:ln>
                <a:solidFill>
                  <a:prstClr val="black">
                    <a:alpha val="0"/>
                  </a:prstClr>
                </a:solidFill>
              </a:ln>
              <a:solidFill>
                <a:srgbClr val="934D1D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06" name="직사각형 605"/>
          <p:cNvSpPr/>
          <p:nvPr/>
        </p:nvSpPr>
        <p:spPr>
          <a:xfrm>
            <a:off x="2974351" y="6457128"/>
            <a:ext cx="1489896" cy="316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7" name="직사각형 606">
            <a:extLst>
              <a:ext uri="{FF2B5EF4-FFF2-40B4-BE49-F238E27FC236}">
                <a16:creationId xmlns:a16="http://schemas.microsoft.com/office/drawing/2014/main" id="{606648D6-88F2-F1E2-7B96-4506358DE94B}"/>
              </a:ext>
            </a:extLst>
          </p:cNvPr>
          <p:cNvSpPr/>
          <p:nvPr/>
        </p:nvSpPr>
        <p:spPr>
          <a:xfrm>
            <a:off x="-553476" y="6136813"/>
            <a:ext cx="1015820" cy="4461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8" name="직사각형 607">
            <a:extLst>
              <a:ext uri="{FF2B5EF4-FFF2-40B4-BE49-F238E27FC236}">
                <a16:creationId xmlns:a16="http://schemas.microsoft.com/office/drawing/2014/main" id="{9369119A-3BCF-EA31-4D4D-5EAEC3B09C6A}"/>
              </a:ext>
            </a:extLst>
          </p:cNvPr>
          <p:cNvSpPr/>
          <p:nvPr/>
        </p:nvSpPr>
        <p:spPr>
          <a:xfrm rot="5400000">
            <a:off x="2171779" y="7491495"/>
            <a:ext cx="475068" cy="5925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611" name="그룹 610"/>
          <p:cNvGrpSpPr/>
          <p:nvPr/>
        </p:nvGrpSpPr>
        <p:grpSpPr>
          <a:xfrm>
            <a:off x="4273729" y="6794758"/>
            <a:ext cx="3045770" cy="3449565"/>
            <a:chOff x="4273729" y="6807458"/>
            <a:chExt cx="3045770" cy="3449565"/>
          </a:xfrm>
        </p:grpSpPr>
        <p:grpSp>
          <p:nvGrpSpPr>
            <p:cNvPr id="619" name="그룹 618">
              <a:extLst>
                <a:ext uri="{FF2B5EF4-FFF2-40B4-BE49-F238E27FC236}">
                  <a16:creationId xmlns:a16="http://schemas.microsoft.com/office/drawing/2014/main" id="{4DFABAB9-4EA6-4DB3-3371-9C20379F9130}"/>
                </a:ext>
              </a:extLst>
            </p:cNvPr>
            <p:cNvGrpSpPr/>
            <p:nvPr/>
          </p:nvGrpSpPr>
          <p:grpSpPr>
            <a:xfrm>
              <a:off x="4309642" y="9276537"/>
              <a:ext cx="2872208" cy="980486"/>
              <a:chOff x="4319364" y="9267011"/>
              <a:chExt cx="2872208" cy="980486"/>
            </a:xfrm>
          </p:grpSpPr>
          <p:sp>
            <p:nvSpPr>
              <p:cNvPr id="647" name="사각형: 둥근 위쪽 모서리 176">
                <a:extLst>
                  <a:ext uri="{FF2B5EF4-FFF2-40B4-BE49-F238E27FC236}">
                    <a16:creationId xmlns:a16="http://schemas.microsoft.com/office/drawing/2014/main" id="{D511731C-5A81-3948-1BB1-A8195A32C904}"/>
                  </a:ext>
                </a:extLst>
              </p:cNvPr>
              <p:cNvSpPr/>
              <p:nvPr/>
            </p:nvSpPr>
            <p:spPr>
              <a:xfrm>
                <a:off x="4320399" y="9472928"/>
                <a:ext cx="2871173" cy="774569"/>
              </a:xfrm>
              <a:prstGeom prst="round2SameRect">
                <a:avLst>
                  <a:gd name="adj1" fmla="val 6461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46000">
                    <a:schemeClr val="bg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6350"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360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88900" indent="-88900">
                  <a:lnSpc>
                    <a:spcPts val="1300"/>
                  </a:lnSpc>
                  <a:spcBef>
                    <a:spcPts val="200"/>
                  </a:spcBef>
                  <a:buClr>
                    <a:schemeClr val="tx1">
                      <a:lumMod val="50000"/>
                      <a:lumOff val="50000"/>
                    </a:schemeClr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삽교천 홍수위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를 고려한 단지계획고 설정</a:t>
                </a:r>
                <a:r>
                  <a:rPr lang="en-US" altLang="ko-KR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및 대상지와 접한</a:t>
                </a:r>
                <a:br>
                  <a:rPr lang="en-US" altLang="ko-KR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농경지 단차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를 고려한 </a:t>
                </a: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합리적인 토공계획 수립</a:t>
                </a:r>
                <a:endParaRPr lang="en-US" altLang="ko-KR" sz="900" b="1" kern="0" spc="-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88900" indent="-88900">
                  <a:lnSpc>
                    <a:spcPts val="1300"/>
                  </a:lnSpc>
                  <a:spcBef>
                    <a:spcPts val="200"/>
                  </a:spcBef>
                  <a:buClr>
                    <a:schemeClr val="tx1">
                      <a:lumMod val="50000"/>
                      <a:lumOff val="50000"/>
                    </a:schemeClr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삽교천 홍수위를 고려한 성토 확보를 위해 </a:t>
                </a: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토석정보시스템을</a:t>
                </a:r>
                <a:br>
                  <a:rPr lang="en-US" altLang="ko-KR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활용한 사업비 절감방안 제시</a:t>
                </a:r>
                <a:endParaRPr lang="en-US" altLang="ko-KR" sz="900" b="1" kern="0" spc="-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285750" indent="-285750" algn="ctr">
                  <a:buClr>
                    <a:schemeClr val="tx1">
                      <a:lumMod val="50000"/>
                      <a:lumOff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ko-KR" altLang="en-US" dirty="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648" name="그룹 647">
                <a:extLst>
                  <a:ext uri="{FF2B5EF4-FFF2-40B4-BE49-F238E27FC236}">
                    <a16:creationId xmlns:a16="http://schemas.microsoft.com/office/drawing/2014/main" id="{EB02E54C-C53F-9C0C-3DC6-11E1E7DFA97C}"/>
                  </a:ext>
                </a:extLst>
              </p:cNvPr>
              <p:cNvGrpSpPr/>
              <p:nvPr/>
            </p:nvGrpSpPr>
            <p:grpSpPr>
              <a:xfrm>
                <a:off x="4319364" y="9267011"/>
                <a:ext cx="2845164" cy="246221"/>
                <a:chOff x="871226" y="1614411"/>
                <a:chExt cx="2439190" cy="228542"/>
              </a:xfrm>
            </p:grpSpPr>
            <p:sp>
              <p:nvSpPr>
                <p:cNvPr id="653" name="직사각형 652">
                  <a:extLst>
                    <a:ext uri="{FF2B5EF4-FFF2-40B4-BE49-F238E27FC236}">
                      <a16:creationId xmlns:a16="http://schemas.microsoft.com/office/drawing/2014/main" id="{5F626E34-3FD6-A228-EFE1-901F6900930F}"/>
                    </a:ext>
                  </a:extLst>
                </p:cNvPr>
                <p:cNvSpPr/>
                <p:nvPr/>
              </p:nvSpPr>
              <p:spPr>
                <a:xfrm>
                  <a:off x="871228" y="1615731"/>
                  <a:ext cx="2439188" cy="222670"/>
                </a:xfrm>
                <a:prstGeom prst="rect">
                  <a:avLst/>
                </a:prstGeom>
                <a:solidFill>
                  <a:srgbClr val="F8E9D7"/>
                </a:solidFill>
                <a:ln>
                  <a:noFill/>
                </a:ln>
                <a:effectLst>
                  <a:innerShdw blurRad="139700">
                    <a:srgbClr val="DB9236">
                      <a:alpha val="45000"/>
                    </a:srgb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54" name="한쪽 모서리가 둥근 사각형 275">
                  <a:extLst>
                    <a:ext uri="{FF2B5EF4-FFF2-40B4-BE49-F238E27FC236}">
                      <a16:creationId xmlns:a16="http://schemas.microsoft.com/office/drawing/2014/main" id="{22A64DDA-C94E-E90D-4AD3-76B70562CEBB}"/>
                    </a:ext>
                  </a:extLst>
                </p:cNvPr>
                <p:cNvSpPr/>
                <p:nvPr/>
              </p:nvSpPr>
              <p:spPr>
                <a:xfrm rot="5400000">
                  <a:off x="892428" y="1594534"/>
                  <a:ext cx="222672" cy="265073"/>
                </a:xfrm>
                <a:prstGeom prst="round1Rect">
                  <a:avLst>
                    <a:gd name="adj" fmla="val 35867"/>
                  </a:avLst>
                </a:prstGeom>
                <a:gradFill>
                  <a:gsLst>
                    <a:gs pos="0">
                      <a:srgbClr val="D07922"/>
                    </a:gs>
                    <a:gs pos="65000">
                      <a:srgbClr val="DB9236"/>
                    </a:gs>
                  </a:gsLst>
                  <a:lin ang="120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55" name="자유형 281">
                  <a:extLst>
                    <a:ext uri="{FF2B5EF4-FFF2-40B4-BE49-F238E27FC236}">
                      <a16:creationId xmlns:a16="http://schemas.microsoft.com/office/drawing/2014/main" id="{BB6FBA29-B7C0-E114-3746-5E4D245BAB3A}"/>
                    </a:ext>
                  </a:extLst>
                </p:cNvPr>
                <p:cNvSpPr/>
                <p:nvPr/>
              </p:nvSpPr>
              <p:spPr>
                <a:xfrm rot="16200000">
                  <a:off x="1136300" y="1615732"/>
                  <a:ext cx="109929" cy="109929"/>
                </a:xfrm>
                <a:custGeom>
                  <a:avLst/>
                  <a:gdLst>
                    <a:gd name="connsiteX0" fmla="*/ 162804 w 162804"/>
                    <a:gd name="connsiteY0" fmla="*/ 0 h 162804"/>
                    <a:gd name="connsiteX1" fmla="*/ 162804 w 162804"/>
                    <a:gd name="connsiteY1" fmla="*/ 162804 h 162804"/>
                    <a:gd name="connsiteX2" fmla="*/ 0 w 162804"/>
                    <a:gd name="connsiteY2" fmla="*/ 0 h 162804"/>
                    <a:gd name="connsiteX3" fmla="*/ 162804 w 162804"/>
                    <a:gd name="connsiteY3" fmla="*/ 0 h 162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804" h="162804">
                      <a:moveTo>
                        <a:pt x="162804" y="0"/>
                      </a:moveTo>
                      <a:lnTo>
                        <a:pt x="162804" y="162804"/>
                      </a:lnTo>
                      <a:cubicBezTo>
                        <a:pt x="162804" y="72890"/>
                        <a:pt x="89914" y="0"/>
                        <a:pt x="0" y="0"/>
                      </a:cubicBezTo>
                      <a:lnTo>
                        <a:pt x="162804" y="0"/>
                      </a:lnTo>
                      <a:close/>
                    </a:path>
                  </a:pathLst>
                </a:custGeom>
                <a:solidFill>
                  <a:srgbClr val="DB92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656" name="직선 연결선 655">
                  <a:extLst>
                    <a:ext uri="{FF2B5EF4-FFF2-40B4-BE49-F238E27FC236}">
                      <a16:creationId xmlns:a16="http://schemas.microsoft.com/office/drawing/2014/main" id="{97D2FD21-514C-4D85-EAE5-A4465FA2B037}"/>
                    </a:ext>
                  </a:extLst>
                </p:cNvPr>
                <p:cNvCxnSpPr/>
                <p:nvPr/>
              </p:nvCxnSpPr>
              <p:spPr>
                <a:xfrm>
                  <a:off x="871226" y="1615730"/>
                  <a:ext cx="2432458" cy="1"/>
                </a:xfrm>
                <a:prstGeom prst="line">
                  <a:avLst/>
                </a:prstGeom>
                <a:ln>
                  <a:solidFill>
                    <a:srgbClr val="B8A39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7" name="TextBox 656">
                  <a:extLst>
                    <a:ext uri="{FF2B5EF4-FFF2-40B4-BE49-F238E27FC236}">
                      <a16:creationId xmlns:a16="http://schemas.microsoft.com/office/drawing/2014/main" id="{6B53ACD3-83F2-BE54-FD3E-513306A3BC51}"/>
                    </a:ext>
                  </a:extLst>
                </p:cNvPr>
                <p:cNvSpPr txBox="1"/>
                <p:nvPr/>
              </p:nvSpPr>
              <p:spPr>
                <a:xfrm>
                  <a:off x="1114045" y="1614411"/>
                  <a:ext cx="2187087" cy="228542"/>
                </a:xfrm>
                <a:prstGeom prst="rect">
                  <a:avLst/>
                </a:prstGeom>
                <a:noFill/>
              </p:spPr>
              <p:txBody>
                <a:bodyPr wrap="square" rIns="18000" rtlCol="0">
                  <a:spAutoFit/>
                </a:bodyPr>
                <a:lstStyle>
                  <a:defPPr>
                    <a:defRPr lang="ko-KR"/>
                  </a:defPPr>
                  <a:lvl1pPr>
                    <a:spcBef>
                      <a:spcPts val="300"/>
                    </a:spcBef>
                    <a:buClr>
                      <a:srgbClr val="8DC63F"/>
                    </a:buClr>
                    <a:defRPr sz="1100" b="1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</a:lstStyle>
                <a:p>
                  <a:pPr latinLnBrk="0">
                    <a:spcBef>
                      <a:spcPts val="293"/>
                    </a:spcBef>
                    <a:defRPr/>
                  </a:pPr>
                  <a:r>
                    <a:rPr lang="ko-KR" altLang="en-US" sz="1000" kern="0" spc="-3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</a:rPr>
                    <a:t>연약지반을 고려한 공사비 절감방안 검토</a:t>
                  </a:r>
                </a:p>
              </p:txBody>
            </p:sp>
          </p:grpSp>
          <p:grpSp>
            <p:nvGrpSpPr>
              <p:cNvPr id="649" name="Group 21">
                <a:extLst>
                  <a:ext uri="{FF2B5EF4-FFF2-40B4-BE49-F238E27FC236}">
                    <a16:creationId xmlns:a16="http://schemas.microsoft.com/office/drawing/2014/main" id="{8D1D5023-0F21-00EE-0632-9E19E2E290D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381462" y="9321865"/>
                <a:ext cx="157870" cy="145984"/>
                <a:chOff x="1950" y="2937"/>
                <a:chExt cx="862" cy="863"/>
              </a:xfrm>
            </p:grpSpPr>
            <p:sp>
              <p:nvSpPr>
                <p:cNvPr id="650" name="Freeform 23">
                  <a:extLst>
                    <a:ext uri="{FF2B5EF4-FFF2-40B4-BE49-F238E27FC236}">
                      <a16:creationId xmlns:a16="http://schemas.microsoft.com/office/drawing/2014/main" id="{1E9A79A6-E201-AE8F-498A-D42E73F8B2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6" y="2937"/>
                  <a:ext cx="386" cy="387"/>
                </a:xfrm>
                <a:custGeom>
                  <a:avLst/>
                  <a:gdLst>
                    <a:gd name="T0" fmla="*/ 0 w 162"/>
                    <a:gd name="T1" fmla="*/ 0 h 162"/>
                    <a:gd name="T2" fmla="*/ 0 w 162"/>
                    <a:gd name="T3" fmla="*/ 74 h 162"/>
                    <a:gd name="T4" fmla="*/ 88 w 162"/>
                    <a:gd name="T5" fmla="*/ 162 h 162"/>
                    <a:gd name="T6" fmla="*/ 162 w 162"/>
                    <a:gd name="T7" fmla="*/ 162 h 162"/>
                    <a:gd name="T8" fmla="*/ 0 w 162"/>
                    <a:gd name="T9" fmla="*/ 0 h 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2" h="162">
                      <a:moveTo>
                        <a:pt x="0" y="0"/>
                      </a:move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49" y="74"/>
                        <a:pt x="88" y="113"/>
                        <a:pt x="88" y="162"/>
                      </a:cubicBezTo>
                      <a:cubicBezTo>
                        <a:pt x="162" y="162"/>
                        <a:pt x="162" y="162"/>
                        <a:pt x="162" y="162"/>
                      </a:cubicBezTo>
                      <a:cubicBezTo>
                        <a:pt x="162" y="73"/>
                        <a:pt x="89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E1A7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51" name="Freeform 24">
                  <a:extLst>
                    <a:ext uri="{FF2B5EF4-FFF2-40B4-BE49-F238E27FC236}">
                      <a16:creationId xmlns:a16="http://schemas.microsoft.com/office/drawing/2014/main" id="{DC82A925-8A57-65A1-7329-0BD53733A2A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50" y="2968"/>
                  <a:ext cx="445" cy="718"/>
                </a:xfrm>
                <a:custGeom>
                  <a:avLst/>
                  <a:gdLst>
                    <a:gd name="T0" fmla="*/ 60 w 187"/>
                    <a:gd name="T1" fmla="*/ 301 h 301"/>
                    <a:gd name="T2" fmla="*/ 51 w 187"/>
                    <a:gd name="T3" fmla="*/ 298 h 301"/>
                    <a:gd name="T4" fmla="*/ 23 w 187"/>
                    <a:gd name="T5" fmla="*/ 262 h 301"/>
                    <a:gd name="T6" fmla="*/ 0 w 187"/>
                    <a:gd name="T7" fmla="*/ 175 h 301"/>
                    <a:gd name="T8" fmla="*/ 175 w 187"/>
                    <a:gd name="T9" fmla="*/ 0 h 301"/>
                    <a:gd name="T10" fmla="*/ 187 w 187"/>
                    <a:gd name="T11" fmla="*/ 12 h 301"/>
                    <a:gd name="T12" fmla="*/ 187 w 187"/>
                    <a:gd name="T13" fmla="*/ 86 h 301"/>
                    <a:gd name="T14" fmla="*/ 175 w 187"/>
                    <a:gd name="T15" fmla="*/ 98 h 301"/>
                    <a:gd name="T16" fmla="*/ 98 w 187"/>
                    <a:gd name="T17" fmla="*/ 175 h 301"/>
                    <a:gd name="T18" fmla="*/ 108 w 187"/>
                    <a:gd name="T19" fmla="*/ 213 h 301"/>
                    <a:gd name="T20" fmla="*/ 120 w 187"/>
                    <a:gd name="T21" fmla="*/ 229 h 301"/>
                    <a:gd name="T22" fmla="*/ 120 w 187"/>
                    <a:gd name="T23" fmla="*/ 246 h 301"/>
                    <a:gd name="T24" fmla="*/ 68 w 187"/>
                    <a:gd name="T25" fmla="*/ 298 h 301"/>
                    <a:gd name="T26" fmla="*/ 60 w 187"/>
                    <a:gd name="T27" fmla="*/ 301 h 301"/>
                    <a:gd name="T28" fmla="*/ 162 w 187"/>
                    <a:gd name="T29" fmla="*/ 25 h 301"/>
                    <a:gd name="T30" fmla="*/ 24 w 187"/>
                    <a:gd name="T31" fmla="*/ 175 h 301"/>
                    <a:gd name="T32" fmla="*/ 44 w 187"/>
                    <a:gd name="T33" fmla="*/ 250 h 301"/>
                    <a:gd name="T34" fmla="*/ 60 w 187"/>
                    <a:gd name="T35" fmla="*/ 272 h 301"/>
                    <a:gd name="T36" fmla="*/ 95 w 187"/>
                    <a:gd name="T37" fmla="*/ 237 h 301"/>
                    <a:gd name="T38" fmla="*/ 87 w 187"/>
                    <a:gd name="T39" fmla="*/ 225 h 301"/>
                    <a:gd name="T40" fmla="*/ 74 w 187"/>
                    <a:gd name="T41" fmla="*/ 175 h 301"/>
                    <a:gd name="T42" fmla="*/ 162 w 187"/>
                    <a:gd name="T43" fmla="*/ 75 h 301"/>
                    <a:gd name="T44" fmla="*/ 162 w 187"/>
                    <a:gd name="T45" fmla="*/ 25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87" h="301">
                      <a:moveTo>
                        <a:pt x="60" y="301"/>
                      </a:moveTo>
                      <a:cubicBezTo>
                        <a:pt x="57" y="301"/>
                        <a:pt x="54" y="300"/>
                        <a:pt x="51" y="298"/>
                      </a:cubicBezTo>
                      <a:cubicBezTo>
                        <a:pt x="40" y="287"/>
                        <a:pt x="31" y="275"/>
                        <a:pt x="23" y="262"/>
                      </a:cubicBezTo>
                      <a:cubicBezTo>
                        <a:pt x="8" y="235"/>
                        <a:pt x="0" y="205"/>
                        <a:pt x="0" y="175"/>
                      </a:cubicBezTo>
                      <a:cubicBezTo>
                        <a:pt x="0" y="78"/>
                        <a:pt x="78" y="0"/>
                        <a:pt x="175" y="0"/>
                      </a:cubicBezTo>
                      <a:cubicBezTo>
                        <a:pt x="181" y="0"/>
                        <a:pt x="187" y="5"/>
                        <a:pt x="187" y="12"/>
                      </a:cubicBezTo>
                      <a:cubicBezTo>
                        <a:pt x="187" y="86"/>
                        <a:pt x="187" y="86"/>
                        <a:pt x="187" y="86"/>
                      </a:cubicBezTo>
                      <a:cubicBezTo>
                        <a:pt x="187" y="93"/>
                        <a:pt x="181" y="98"/>
                        <a:pt x="175" y="98"/>
                      </a:cubicBezTo>
                      <a:cubicBezTo>
                        <a:pt x="132" y="98"/>
                        <a:pt x="98" y="132"/>
                        <a:pt x="98" y="175"/>
                      </a:cubicBezTo>
                      <a:cubicBezTo>
                        <a:pt x="98" y="188"/>
                        <a:pt x="101" y="201"/>
                        <a:pt x="108" y="213"/>
                      </a:cubicBezTo>
                      <a:cubicBezTo>
                        <a:pt x="112" y="219"/>
                        <a:pt x="116" y="224"/>
                        <a:pt x="120" y="229"/>
                      </a:cubicBezTo>
                      <a:cubicBezTo>
                        <a:pt x="125" y="233"/>
                        <a:pt x="125" y="241"/>
                        <a:pt x="120" y="246"/>
                      </a:cubicBezTo>
                      <a:cubicBezTo>
                        <a:pt x="68" y="298"/>
                        <a:pt x="68" y="298"/>
                        <a:pt x="68" y="298"/>
                      </a:cubicBezTo>
                      <a:cubicBezTo>
                        <a:pt x="66" y="300"/>
                        <a:pt x="63" y="301"/>
                        <a:pt x="60" y="301"/>
                      </a:cubicBezTo>
                      <a:close/>
                      <a:moveTo>
                        <a:pt x="162" y="25"/>
                      </a:moveTo>
                      <a:cubicBezTo>
                        <a:pt x="85" y="31"/>
                        <a:pt x="24" y="96"/>
                        <a:pt x="24" y="175"/>
                      </a:cubicBezTo>
                      <a:cubicBezTo>
                        <a:pt x="24" y="201"/>
                        <a:pt x="31" y="227"/>
                        <a:pt x="44" y="250"/>
                      </a:cubicBezTo>
                      <a:cubicBezTo>
                        <a:pt x="49" y="258"/>
                        <a:pt x="54" y="265"/>
                        <a:pt x="60" y="272"/>
                      </a:cubicBezTo>
                      <a:cubicBezTo>
                        <a:pt x="95" y="237"/>
                        <a:pt x="95" y="237"/>
                        <a:pt x="95" y="237"/>
                      </a:cubicBezTo>
                      <a:cubicBezTo>
                        <a:pt x="92" y="233"/>
                        <a:pt x="90" y="229"/>
                        <a:pt x="87" y="225"/>
                      </a:cubicBezTo>
                      <a:cubicBezTo>
                        <a:pt x="79" y="210"/>
                        <a:pt x="74" y="192"/>
                        <a:pt x="74" y="175"/>
                      </a:cubicBezTo>
                      <a:cubicBezTo>
                        <a:pt x="74" y="123"/>
                        <a:pt x="113" y="81"/>
                        <a:pt x="162" y="75"/>
                      </a:cubicBezTo>
                      <a:lnTo>
                        <a:pt x="162" y="25"/>
                      </a:lnTo>
                      <a:close/>
                    </a:path>
                  </a:pathLst>
                </a:custGeom>
                <a:solidFill>
                  <a:srgbClr val="E1A7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52" name="Freeform 25">
                  <a:extLst>
                    <a:ext uri="{FF2B5EF4-FFF2-40B4-BE49-F238E27FC236}">
                      <a16:creationId xmlns:a16="http://schemas.microsoft.com/office/drawing/2014/main" id="{3B0315F3-A3A5-7A6C-35C8-265B00064BA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62" y="3354"/>
                  <a:ext cx="719" cy="446"/>
                </a:xfrm>
                <a:custGeom>
                  <a:avLst/>
                  <a:gdLst>
                    <a:gd name="T0" fmla="*/ 128 w 302"/>
                    <a:gd name="T1" fmla="*/ 187 h 187"/>
                    <a:gd name="T2" fmla="*/ 4 w 302"/>
                    <a:gd name="T3" fmla="*/ 136 h 187"/>
                    <a:gd name="T4" fmla="*/ 4 w 302"/>
                    <a:gd name="T5" fmla="*/ 119 h 187"/>
                    <a:gd name="T6" fmla="*/ 56 w 302"/>
                    <a:gd name="T7" fmla="*/ 67 h 187"/>
                    <a:gd name="T8" fmla="*/ 73 w 302"/>
                    <a:gd name="T9" fmla="*/ 67 h 187"/>
                    <a:gd name="T10" fmla="*/ 128 w 302"/>
                    <a:gd name="T11" fmla="*/ 89 h 187"/>
                    <a:gd name="T12" fmla="*/ 194 w 302"/>
                    <a:gd name="T13" fmla="*/ 51 h 187"/>
                    <a:gd name="T14" fmla="*/ 204 w 302"/>
                    <a:gd name="T15" fmla="*/ 13 h 187"/>
                    <a:gd name="T16" fmla="*/ 216 w 302"/>
                    <a:gd name="T17" fmla="*/ 0 h 187"/>
                    <a:gd name="T18" fmla="*/ 290 w 302"/>
                    <a:gd name="T19" fmla="*/ 0 h 187"/>
                    <a:gd name="T20" fmla="*/ 302 w 302"/>
                    <a:gd name="T21" fmla="*/ 13 h 187"/>
                    <a:gd name="T22" fmla="*/ 279 w 302"/>
                    <a:gd name="T23" fmla="*/ 100 h 187"/>
                    <a:gd name="T24" fmla="*/ 128 w 302"/>
                    <a:gd name="T25" fmla="*/ 187 h 187"/>
                    <a:gd name="T26" fmla="*/ 30 w 302"/>
                    <a:gd name="T27" fmla="*/ 127 h 187"/>
                    <a:gd name="T28" fmla="*/ 128 w 302"/>
                    <a:gd name="T29" fmla="*/ 163 h 187"/>
                    <a:gd name="T30" fmla="*/ 258 w 302"/>
                    <a:gd name="T31" fmla="*/ 88 h 187"/>
                    <a:gd name="T32" fmla="*/ 277 w 302"/>
                    <a:gd name="T33" fmla="*/ 25 h 187"/>
                    <a:gd name="T34" fmla="*/ 227 w 302"/>
                    <a:gd name="T35" fmla="*/ 25 h 187"/>
                    <a:gd name="T36" fmla="*/ 215 w 302"/>
                    <a:gd name="T37" fmla="*/ 63 h 187"/>
                    <a:gd name="T38" fmla="*/ 128 w 302"/>
                    <a:gd name="T39" fmla="*/ 113 h 187"/>
                    <a:gd name="T40" fmla="*/ 65 w 302"/>
                    <a:gd name="T41" fmla="*/ 92 h 187"/>
                    <a:gd name="T42" fmla="*/ 30 w 302"/>
                    <a:gd name="T43" fmla="*/ 127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2" h="187">
                      <a:moveTo>
                        <a:pt x="128" y="187"/>
                      </a:moveTo>
                      <a:cubicBezTo>
                        <a:pt x="81" y="187"/>
                        <a:pt x="37" y="169"/>
                        <a:pt x="4" y="136"/>
                      </a:cubicBezTo>
                      <a:cubicBezTo>
                        <a:pt x="0" y="131"/>
                        <a:pt x="0" y="124"/>
                        <a:pt x="4" y="119"/>
                      </a:cubicBezTo>
                      <a:cubicBezTo>
                        <a:pt x="56" y="67"/>
                        <a:pt x="56" y="67"/>
                        <a:pt x="56" y="67"/>
                      </a:cubicBezTo>
                      <a:cubicBezTo>
                        <a:pt x="61" y="62"/>
                        <a:pt x="69" y="62"/>
                        <a:pt x="73" y="67"/>
                      </a:cubicBezTo>
                      <a:cubicBezTo>
                        <a:pt x="88" y="81"/>
                        <a:pt x="107" y="89"/>
                        <a:pt x="128" y="89"/>
                      </a:cubicBezTo>
                      <a:cubicBezTo>
                        <a:pt x="155" y="89"/>
                        <a:pt x="180" y="74"/>
                        <a:pt x="194" y="51"/>
                      </a:cubicBezTo>
                      <a:cubicBezTo>
                        <a:pt x="201" y="39"/>
                        <a:pt x="204" y="26"/>
                        <a:pt x="204" y="13"/>
                      </a:cubicBezTo>
                      <a:cubicBezTo>
                        <a:pt x="204" y="6"/>
                        <a:pt x="209" y="0"/>
                        <a:pt x="216" y="0"/>
                      </a:cubicBezTo>
                      <a:cubicBezTo>
                        <a:pt x="290" y="0"/>
                        <a:pt x="290" y="0"/>
                        <a:pt x="290" y="0"/>
                      </a:cubicBezTo>
                      <a:cubicBezTo>
                        <a:pt x="297" y="0"/>
                        <a:pt x="302" y="6"/>
                        <a:pt x="302" y="13"/>
                      </a:cubicBezTo>
                      <a:cubicBezTo>
                        <a:pt x="302" y="43"/>
                        <a:pt x="294" y="73"/>
                        <a:pt x="279" y="100"/>
                      </a:cubicBezTo>
                      <a:cubicBezTo>
                        <a:pt x="247" y="154"/>
                        <a:pt x="190" y="187"/>
                        <a:pt x="128" y="187"/>
                      </a:cubicBezTo>
                      <a:close/>
                      <a:moveTo>
                        <a:pt x="30" y="127"/>
                      </a:moveTo>
                      <a:cubicBezTo>
                        <a:pt x="57" y="150"/>
                        <a:pt x="91" y="163"/>
                        <a:pt x="128" y="163"/>
                      </a:cubicBezTo>
                      <a:cubicBezTo>
                        <a:pt x="181" y="163"/>
                        <a:pt x="231" y="134"/>
                        <a:pt x="258" y="88"/>
                      </a:cubicBezTo>
                      <a:cubicBezTo>
                        <a:pt x="269" y="68"/>
                        <a:pt x="276" y="47"/>
                        <a:pt x="277" y="25"/>
                      </a:cubicBezTo>
                      <a:cubicBezTo>
                        <a:pt x="227" y="25"/>
                        <a:pt x="227" y="25"/>
                        <a:pt x="227" y="25"/>
                      </a:cubicBezTo>
                      <a:cubicBezTo>
                        <a:pt x="226" y="38"/>
                        <a:pt x="221" y="51"/>
                        <a:pt x="215" y="63"/>
                      </a:cubicBezTo>
                      <a:cubicBezTo>
                        <a:pt x="197" y="94"/>
                        <a:pt x="163" y="113"/>
                        <a:pt x="128" y="113"/>
                      </a:cubicBezTo>
                      <a:cubicBezTo>
                        <a:pt x="105" y="113"/>
                        <a:pt x="83" y="106"/>
                        <a:pt x="65" y="92"/>
                      </a:cubicBezTo>
                      <a:lnTo>
                        <a:pt x="30" y="127"/>
                      </a:lnTo>
                      <a:close/>
                    </a:path>
                  </a:pathLst>
                </a:custGeom>
                <a:solidFill>
                  <a:srgbClr val="E1A7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620" name="그룹 619">
              <a:extLst>
                <a:ext uri="{FF2B5EF4-FFF2-40B4-BE49-F238E27FC236}">
                  <a16:creationId xmlns:a16="http://schemas.microsoft.com/office/drawing/2014/main" id="{795FC956-F2CB-7554-821D-09E54F409EB9}"/>
                </a:ext>
              </a:extLst>
            </p:cNvPr>
            <p:cNvGrpSpPr/>
            <p:nvPr/>
          </p:nvGrpSpPr>
          <p:grpSpPr>
            <a:xfrm>
              <a:off x="4316533" y="8035369"/>
              <a:ext cx="3002966" cy="1183815"/>
              <a:chOff x="4319015" y="7967148"/>
              <a:chExt cx="3002966" cy="1183815"/>
            </a:xfrm>
          </p:grpSpPr>
          <p:sp>
            <p:nvSpPr>
              <p:cNvPr id="638" name="사각형: 둥근 위쪽 모서리 176">
                <a:extLst>
                  <a:ext uri="{FF2B5EF4-FFF2-40B4-BE49-F238E27FC236}">
                    <a16:creationId xmlns:a16="http://schemas.microsoft.com/office/drawing/2014/main" id="{CFDD46A8-816A-BDDA-D739-11728CF22C24}"/>
                  </a:ext>
                </a:extLst>
              </p:cNvPr>
              <p:cNvSpPr/>
              <p:nvPr/>
            </p:nvSpPr>
            <p:spPr>
              <a:xfrm>
                <a:off x="4319015" y="8076494"/>
                <a:ext cx="2865317" cy="1074469"/>
              </a:xfrm>
              <a:prstGeom prst="round2SameRect">
                <a:avLst>
                  <a:gd name="adj1" fmla="val 6461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46000">
                    <a:schemeClr val="bg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6350"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360000" rIns="72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88900" indent="-88900">
                  <a:lnSpc>
                    <a:spcPts val="1300"/>
                  </a:lnSpc>
                  <a:spcBef>
                    <a:spcPts val="200"/>
                  </a:spcBef>
                  <a:buClr>
                    <a:schemeClr val="tx1">
                      <a:lumMod val="50000"/>
                      <a:lumOff val="50000"/>
                    </a:schemeClr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교량 하부공간과 상부공간을 </a:t>
                </a:r>
                <a:r>
                  <a:rPr lang="ko-KR" altLang="en-US" sz="900" kern="0" spc="-5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복합환승센터로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계획하여 역 주변</a:t>
                </a:r>
                <a:br>
                  <a:rPr lang="en-US" altLang="ko-KR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서해선 복선전철 운영에 따른 </a:t>
                </a: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소음</a:t>
                </a:r>
                <a:r>
                  <a:rPr lang="en-US" altLang="ko-KR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·</a:t>
                </a: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진동 문제 저감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하고 </a:t>
                </a: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역세권 주변 </a:t>
                </a:r>
                <a:r>
                  <a:rPr lang="ko-KR" altLang="en-US" sz="900" b="1" kern="0" spc="-5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개발가용지</a:t>
                </a: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추가 확보</a:t>
                </a:r>
                <a:endParaRPr lang="en-US" altLang="ko-KR" sz="900" b="1" kern="0" spc="-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88900" indent="-88900">
                  <a:lnSpc>
                    <a:spcPts val="1300"/>
                  </a:lnSpc>
                  <a:spcBef>
                    <a:spcPts val="200"/>
                  </a:spcBef>
                  <a:buClr>
                    <a:schemeClr val="tx1">
                      <a:lumMod val="50000"/>
                      <a:lumOff val="50000"/>
                    </a:schemeClr>
                  </a:buClr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900" kern="0" spc="-5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내포역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하부 </a:t>
                </a:r>
                <a:r>
                  <a:rPr lang="ko-KR" altLang="en-US" sz="900" kern="0" spc="-5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유후부지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내 공원</a:t>
                </a:r>
                <a:r>
                  <a:rPr lang="en-US" altLang="ko-KR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, </a:t>
                </a:r>
                <a:r>
                  <a:rPr lang="ko-KR" altLang="en-US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커뮤니티시설 등을 계획하여 </a:t>
                </a:r>
                <a:br>
                  <a:rPr lang="en-US" altLang="ko-KR" sz="900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</a:br>
                <a:r>
                  <a:rPr lang="ko-KR" altLang="en-US" sz="900" b="1" kern="0" spc="-50" dirty="0" err="1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개발가용지와</a:t>
                </a:r>
                <a:r>
                  <a:rPr lang="ko-KR" altLang="en-US" sz="900" b="1" kern="0" spc="-50" dirty="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 연계한 특화공간 조성</a:t>
                </a:r>
                <a:endParaRPr lang="en-US" altLang="ko-KR" sz="900" b="1" kern="0" spc="-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  <a:p>
                <a:pPr marL="88900" indent="-88900">
                  <a:lnSpc>
                    <a:spcPts val="1300"/>
                  </a:lnSpc>
                  <a:spcBef>
                    <a:spcPts val="200"/>
                  </a:spcBef>
                  <a:buClr>
                    <a:schemeClr val="tx1">
                      <a:lumMod val="50000"/>
                      <a:lumOff val="50000"/>
                    </a:schemeClr>
                  </a:buClr>
                  <a:buFont typeface="Arial" panose="020B0604020202020204" pitchFamily="34" charset="0"/>
                  <a:buChar char="•"/>
                  <a:defRPr/>
                </a:pPr>
                <a:endParaRPr lang="en-US" altLang="ko-KR" sz="900" kern="0" spc="-50" dirty="0">
                  <a:ln>
                    <a:solidFill>
                      <a:prstClr val="black"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grpSp>
            <p:nvGrpSpPr>
              <p:cNvPr id="639" name="그룹 638">
                <a:extLst>
                  <a:ext uri="{FF2B5EF4-FFF2-40B4-BE49-F238E27FC236}">
                    <a16:creationId xmlns:a16="http://schemas.microsoft.com/office/drawing/2014/main" id="{1295AB2E-BEC4-D0C7-F368-F6B4A7175DC9}"/>
                  </a:ext>
                </a:extLst>
              </p:cNvPr>
              <p:cNvGrpSpPr/>
              <p:nvPr/>
            </p:nvGrpSpPr>
            <p:grpSpPr>
              <a:xfrm>
                <a:off x="4321146" y="7967148"/>
                <a:ext cx="3000835" cy="246221"/>
                <a:chOff x="3933657" y="8171630"/>
                <a:chExt cx="2582687" cy="237040"/>
              </a:xfrm>
            </p:grpSpPr>
            <p:grpSp>
              <p:nvGrpSpPr>
                <p:cNvPr id="640" name="그룹 639">
                  <a:extLst>
                    <a:ext uri="{FF2B5EF4-FFF2-40B4-BE49-F238E27FC236}">
                      <a16:creationId xmlns:a16="http://schemas.microsoft.com/office/drawing/2014/main" id="{9C516941-740C-4405-2F06-417149724CC2}"/>
                    </a:ext>
                  </a:extLst>
                </p:cNvPr>
                <p:cNvGrpSpPr/>
                <p:nvPr/>
              </p:nvGrpSpPr>
              <p:grpSpPr>
                <a:xfrm>
                  <a:off x="3933657" y="8171630"/>
                  <a:ext cx="2582687" cy="237040"/>
                  <a:chOff x="871226" y="1613185"/>
                  <a:chExt cx="2582687" cy="237040"/>
                </a:xfrm>
              </p:grpSpPr>
              <p:sp>
                <p:nvSpPr>
                  <p:cNvPr id="642" name="직사각형 641">
                    <a:extLst>
                      <a:ext uri="{FF2B5EF4-FFF2-40B4-BE49-F238E27FC236}">
                        <a16:creationId xmlns:a16="http://schemas.microsoft.com/office/drawing/2014/main" id="{B7014C4E-5158-1D8C-DB7B-C8E9A49CBE61}"/>
                      </a:ext>
                    </a:extLst>
                  </p:cNvPr>
                  <p:cNvSpPr/>
                  <p:nvPr/>
                </p:nvSpPr>
                <p:spPr>
                  <a:xfrm>
                    <a:off x="871229" y="1615731"/>
                    <a:ext cx="2433177" cy="227146"/>
                  </a:xfrm>
                  <a:prstGeom prst="rect">
                    <a:avLst/>
                  </a:prstGeom>
                  <a:solidFill>
                    <a:srgbClr val="EFE5E1"/>
                  </a:solidFill>
                  <a:ln>
                    <a:noFill/>
                  </a:ln>
                  <a:effectLst>
                    <a:innerShdw blurRad="139700">
                      <a:srgbClr val="A28770">
                        <a:alpha val="44706"/>
                      </a:srgb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643" name="한쪽 모서리가 둥근 사각형 275">
                    <a:extLst>
                      <a:ext uri="{FF2B5EF4-FFF2-40B4-BE49-F238E27FC236}">
                        <a16:creationId xmlns:a16="http://schemas.microsoft.com/office/drawing/2014/main" id="{943BAE4F-ED85-5615-AB99-C8FE1E97A63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90191" y="1596768"/>
                    <a:ext cx="227145" cy="265073"/>
                  </a:xfrm>
                  <a:prstGeom prst="round1Rect">
                    <a:avLst>
                      <a:gd name="adj" fmla="val 35867"/>
                    </a:avLst>
                  </a:prstGeom>
                  <a:gradFill>
                    <a:gsLst>
                      <a:gs pos="0">
                        <a:srgbClr val="83502D"/>
                      </a:gs>
                      <a:gs pos="65000">
                        <a:srgbClr val="A28770"/>
                      </a:gs>
                    </a:gsLst>
                    <a:lin ang="12000000" scaled="0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644" name="자유형 281">
                    <a:extLst>
                      <a:ext uri="{FF2B5EF4-FFF2-40B4-BE49-F238E27FC236}">
                        <a16:creationId xmlns:a16="http://schemas.microsoft.com/office/drawing/2014/main" id="{FFBDDB07-559A-1E97-7FE5-DFC14EC063D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136300" y="1615732"/>
                    <a:ext cx="109929" cy="109929"/>
                  </a:xfrm>
                  <a:custGeom>
                    <a:avLst/>
                    <a:gdLst>
                      <a:gd name="connsiteX0" fmla="*/ 162804 w 162804"/>
                      <a:gd name="connsiteY0" fmla="*/ 0 h 162804"/>
                      <a:gd name="connsiteX1" fmla="*/ 162804 w 162804"/>
                      <a:gd name="connsiteY1" fmla="*/ 162804 h 162804"/>
                      <a:gd name="connsiteX2" fmla="*/ 0 w 162804"/>
                      <a:gd name="connsiteY2" fmla="*/ 0 h 162804"/>
                      <a:gd name="connsiteX3" fmla="*/ 162804 w 162804"/>
                      <a:gd name="connsiteY3" fmla="*/ 0 h 1628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2804" h="162804">
                        <a:moveTo>
                          <a:pt x="162804" y="0"/>
                        </a:moveTo>
                        <a:lnTo>
                          <a:pt x="162804" y="162804"/>
                        </a:lnTo>
                        <a:cubicBezTo>
                          <a:pt x="162804" y="72890"/>
                          <a:pt x="89914" y="0"/>
                          <a:pt x="0" y="0"/>
                        </a:cubicBezTo>
                        <a:lnTo>
                          <a:pt x="162804" y="0"/>
                        </a:lnTo>
                        <a:close/>
                      </a:path>
                    </a:pathLst>
                  </a:custGeom>
                  <a:solidFill>
                    <a:srgbClr val="A2877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cxnSp>
                <p:nvCxnSpPr>
                  <p:cNvPr id="645" name="직선 연결선 644">
                    <a:extLst>
                      <a:ext uri="{FF2B5EF4-FFF2-40B4-BE49-F238E27FC236}">
                        <a16:creationId xmlns:a16="http://schemas.microsoft.com/office/drawing/2014/main" id="{95A7EFAF-8C5C-3A6F-6A3D-A0C4E53EBDA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871226" y="1613189"/>
                    <a:ext cx="2433178" cy="2541"/>
                  </a:xfrm>
                  <a:prstGeom prst="line">
                    <a:avLst/>
                  </a:prstGeom>
                  <a:ln>
                    <a:solidFill>
                      <a:srgbClr val="B8A39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46" name="TextBox 645">
                    <a:extLst>
                      <a:ext uri="{FF2B5EF4-FFF2-40B4-BE49-F238E27FC236}">
                        <a16:creationId xmlns:a16="http://schemas.microsoft.com/office/drawing/2014/main" id="{51B0A1BA-C357-18C3-6178-A9F8E15B5E9B}"/>
                      </a:ext>
                    </a:extLst>
                  </p:cNvPr>
                  <p:cNvSpPr txBox="1"/>
                  <p:nvPr/>
                </p:nvSpPr>
                <p:spPr>
                  <a:xfrm>
                    <a:off x="1132004" y="1613185"/>
                    <a:ext cx="2321909" cy="2370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latinLnBrk="0">
                      <a:spcBef>
                        <a:spcPts val="293"/>
                      </a:spcBef>
                      <a:buClr>
                        <a:srgbClr val="8DC63F"/>
                      </a:buClr>
                      <a:defRPr/>
                    </a:pPr>
                    <a:r>
                      <a:rPr lang="ko-KR" altLang="en-US" sz="1000" b="1" kern="0" spc="-30" dirty="0" err="1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rPr>
                      <a:t>내포역</a:t>
                    </a:r>
                    <a:r>
                      <a:rPr lang="ko-KR" altLang="en-US" sz="1000" b="1" kern="0" spc="-3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rPr>
                      <a:t> 복합개발을 통한 </a:t>
                    </a:r>
                    <a:r>
                      <a:rPr lang="ko-KR" altLang="en-US" sz="1000" b="1" kern="0" spc="-30" dirty="0" err="1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rPr>
                      <a:t>개발가용지</a:t>
                    </a:r>
                    <a:r>
                      <a:rPr lang="ko-KR" altLang="en-US" sz="1000" b="1" kern="0" spc="-30" dirty="0">
                        <a:ln>
                          <a:solidFill>
                            <a:prstClr val="black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rPr>
                      <a:t> 극대화</a:t>
                    </a:r>
                  </a:p>
                </p:txBody>
              </p:sp>
            </p:grpSp>
            <p:sp>
              <p:nvSpPr>
                <p:cNvPr id="641" name="Freeform 14">
                  <a:extLst>
                    <a:ext uri="{FF2B5EF4-FFF2-40B4-BE49-F238E27FC236}">
                      <a16:creationId xmlns:a16="http://schemas.microsoft.com/office/drawing/2014/main" id="{D88657CF-EA0C-73D0-F60A-FEE89701536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964272" y="8236700"/>
                  <a:ext cx="167136" cy="106456"/>
                </a:xfrm>
                <a:custGeom>
                  <a:avLst/>
                  <a:gdLst>
                    <a:gd name="T0" fmla="*/ 129 w 130"/>
                    <a:gd name="T1" fmla="*/ 54 h 81"/>
                    <a:gd name="T2" fmla="*/ 86 w 130"/>
                    <a:gd name="T3" fmla="*/ 66 h 81"/>
                    <a:gd name="T4" fmla="*/ 48 w 130"/>
                    <a:gd name="T5" fmla="*/ 66 h 81"/>
                    <a:gd name="T6" fmla="*/ 14 w 130"/>
                    <a:gd name="T7" fmla="*/ 67 h 81"/>
                    <a:gd name="T8" fmla="*/ 3 w 130"/>
                    <a:gd name="T9" fmla="*/ 52 h 81"/>
                    <a:gd name="T10" fmla="*/ 39 w 130"/>
                    <a:gd name="T11" fmla="*/ 27 h 81"/>
                    <a:gd name="T12" fmla="*/ 103 w 130"/>
                    <a:gd name="T13" fmla="*/ 81 h 81"/>
                    <a:gd name="T14" fmla="*/ 88 w 130"/>
                    <a:gd name="T15" fmla="*/ 67 h 81"/>
                    <a:gd name="T16" fmla="*/ 103 w 130"/>
                    <a:gd name="T17" fmla="*/ 52 h 81"/>
                    <a:gd name="T18" fmla="*/ 117 w 130"/>
                    <a:gd name="T19" fmla="*/ 67 h 81"/>
                    <a:gd name="T20" fmla="*/ 103 w 130"/>
                    <a:gd name="T21" fmla="*/ 81 h 81"/>
                    <a:gd name="T22" fmla="*/ 100 w 130"/>
                    <a:gd name="T23" fmla="*/ 67 h 81"/>
                    <a:gd name="T24" fmla="*/ 105 w 130"/>
                    <a:gd name="T25" fmla="*/ 67 h 81"/>
                    <a:gd name="T26" fmla="*/ 97 w 130"/>
                    <a:gd name="T27" fmla="*/ 73 h 81"/>
                    <a:gd name="T28" fmla="*/ 109 w 130"/>
                    <a:gd name="T29" fmla="*/ 73 h 81"/>
                    <a:gd name="T30" fmla="*/ 109 w 130"/>
                    <a:gd name="T31" fmla="*/ 61 h 81"/>
                    <a:gd name="T32" fmla="*/ 97 w 130"/>
                    <a:gd name="T33" fmla="*/ 61 h 81"/>
                    <a:gd name="T34" fmla="*/ 97 w 130"/>
                    <a:gd name="T35" fmla="*/ 73 h 81"/>
                    <a:gd name="T36" fmla="*/ 21 w 130"/>
                    <a:gd name="T37" fmla="*/ 77 h 81"/>
                    <a:gd name="T38" fmla="*/ 21 w 130"/>
                    <a:gd name="T39" fmla="*/ 57 h 81"/>
                    <a:gd name="T40" fmla="*/ 41 w 130"/>
                    <a:gd name="T41" fmla="*/ 57 h 81"/>
                    <a:gd name="T42" fmla="*/ 41 w 130"/>
                    <a:gd name="T43" fmla="*/ 77 h 81"/>
                    <a:gd name="T44" fmla="*/ 31 w 130"/>
                    <a:gd name="T45" fmla="*/ 69 h 81"/>
                    <a:gd name="T46" fmla="*/ 31 w 130"/>
                    <a:gd name="T47" fmla="*/ 64 h 81"/>
                    <a:gd name="T48" fmla="*/ 31 w 130"/>
                    <a:gd name="T49" fmla="*/ 69 h 81"/>
                    <a:gd name="T50" fmla="*/ 31 w 130"/>
                    <a:gd name="T51" fmla="*/ 75 h 81"/>
                    <a:gd name="T52" fmla="*/ 39 w 130"/>
                    <a:gd name="T53" fmla="*/ 67 h 81"/>
                    <a:gd name="T54" fmla="*/ 31 w 130"/>
                    <a:gd name="T55" fmla="*/ 58 h 81"/>
                    <a:gd name="T56" fmla="*/ 22 w 130"/>
                    <a:gd name="T57" fmla="*/ 67 h 81"/>
                    <a:gd name="T58" fmla="*/ 91 w 130"/>
                    <a:gd name="T59" fmla="*/ 42 h 81"/>
                    <a:gd name="T60" fmla="*/ 86 w 130"/>
                    <a:gd name="T61" fmla="*/ 40 h 81"/>
                    <a:gd name="T62" fmla="*/ 91 w 130"/>
                    <a:gd name="T63" fmla="*/ 42 h 81"/>
                    <a:gd name="T64" fmla="*/ 126 w 130"/>
                    <a:gd name="T65" fmla="*/ 38 h 81"/>
                    <a:gd name="T66" fmla="*/ 13 w 130"/>
                    <a:gd name="T67" fmla="*/ 37 h 81"/>
                    <a:gd name="T68" fmla="*/ 13 w 130"/>
                    <a:gd name="T69" fmla="*/ 37 h 81"/>
                    <a:gd name="T70" fmla="*/ 106 w 130"/>
                    <a:gd name="T71" fmla="*/ 24 h 81"/>
                    <a:gd name="T72" fmla="*/ 47 w 130"/>
                    <a:gd name="T73" fmla="*/ 33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130" h="81">
                      <a:moveTo>
                        <a:pt x="125" y="37"/>
                      </a:moveTo>
                      <a:cubicBezTo>
                        <a:pt x="119" y="42"/>
                        <a:pt x="124" y="50"/>
                        <a:pt x="129" y="54"/>
                      </a:cubicBezTo>
                      <a:cubicBezTo>
                        <a:pt x="130" y="64"/>
                        <a:pt x="128" y="67"/>
                        <a:pt x="119" y="66"/>
                      </a:cubicBezTo>
                      <a:cubicBezTo>
                        <a:pt x="119" y="44"/>
                        <a:pt x="86" y="44"/>
                        <a:pt x="86" y="66"/>
                      </a:cubicBezTo>
                      <a:cubicBezTo>
                        <a:pt x="48" y="66"/>
                        <a:pt x="48" y="66"/>
                        <a:pt x="48" y="66"/>
                      </a:cubicBezTo>
                      <a:cubicBezTo>
                        <a:pt x="48" y="66"/>
                        <a:pt x="48" y="66"/>
                        <a:pt x="48" y="66"/>
                      </a:cubicBezTo>
                      <a:cubicBezTo>
                        <a:pt x="48" y="44"/>
                        <a:pt x="14" y="44"/>
                        <a:pt x="14" y="66"/>
                      </a:cubicBezTo>
                      <a:cubicBezTo>
                        <a:pt x="14" y="66"/>
                        <a:pt x="14" y="66"/>
                        <a:pt x="14" y="67"/>
                      </a:cubicBezTo>
                      <a:cubicBezTo>
                        <a:pt x="12" y="67"/>
                        <a:pt x="2" y="67"/>
                        <a:pt x="1" y="66"/>
                      </a:cubicBezTo>
                      <a:cubicBezTo>
                        <a:pt x="0" y="61"/>
                        <a:pt x="1" y="55"/>
                        <a:pt x="3" y="52"/>
                      </a:cubicBezTo>
                      <a:cubicBezTo>
                        <a:pt x="11" y="53"/>
                        <a:pt x="14" y="43"/>
                        <a:pt x="14" y="36"/>
                      </a:cubicBezTo>
                      <a:cubicBezTo>
                        <a:pt x="23" y="29"/>
                        <a:pt x="39" y="27"/>
                        <a:pt x="39" y="27"/>
                      </a:cubicBezTo>
                      <a:cubicBezTo>
                        <a:pt x="61" y="6"/>
                        <a:pt x="108" y="0"/>
                        <a:pt x="125" y="37"/>
                      </a:cubicBezTo>
                      <a:close/>
                      <a:moveTo>
                        <a:pt x="103" y="81"/>
                      </a:moveTo>
                      <a:cubicBezTo>
                        <a:pt x="99" y="81"/>
                        <a:pt x="95" y="79"/>
                        <a:pt x="93" y="77"/>
                      </a:cubicBezTo>
                      <a:cubicBezTo>
                        <a:pt x="90" y="74"/>
                        <a:pt x="88" y="71"/>
                        <a:pt x="88" y="67"/>
                      </a:cubicBezTo>
                      <a:cubicBezTo>
                        <a:pt x="88" y="63"/>
                        <a:pt x="90" y="59"/>
                        <a:pt x="93" y="57"/>
                      </a:cubicBezTo>
                      <a:cubicBezTo>
                        <a:pt x="95" y="54"/>
                        <a:pt x="99" y="52"/>
                        <a:pt x="103" y="52"/>
                      </a:cubicBezTo>
                      <a:cubicBezTo>
                        <a:pt x="106" y="52"/>
                        <a:pt x="110" y="54"/>
                        <a:pt x="113" y="57"/>
                      </a:cubicBezTo>
                      <a:cubicBezTo>
                        <a:pt x="115" y="59"/>
                        <a:pt x="117" y="63"/>
                        <a:pt x="117" y="67"/>
                      </a:cubicBezTo>
                      <a:cubicBezTo>
                        <a:pt x="117" y="71"/>
                        <a:pt x="115" y="74"/>
                        <a:pt x="113" y="77"/>
                      </a:cubicBezTo>
                      <a:cubicBezTo>
                        <a:pt x="110" y="79"/>
                        <a:pt x="106" y="81"/>
                        <a:pt x="103" y="81"/>
                      </a:cubicBezTo>
                      <a:close/>
                      <a:moveTo>
                        <a:pt x="103" y="69"/>
                      </a:moveTo>
                      <a:cubicBezTo>
                        <a:pt x="101" y="69"/>
                        <a:pt x="100" y="68"/>
                        <a:pt x="100" y="67"/>
                      </a:cubicBezTo>
                      <a:cubicBezTo>
                        <a:pt x="100" y="65"/>
                        <a:pt x="101" y="64"/>
                        <a:pt x="103" y="64"/>
                      </a:cubicBezTo>
                      <a:cubicBezTo>
                        <a:pt x="104" y="64"/>
                        <a:pt x="105" y="65"/>
                        <a:pt x="105" y="67"/>
                      </a:cubicBezTo>
                      <a:cubicBezTo>
                        <a:pt x="105" y="68"/>
                        <a:pt x="104" y="69"/>
                        <a:pt x="103" y="69"/>
                      </a:cubicBezTo>
                      <a:close/>
                      <a:moveTo>
                        <a:pt x="97" y="73"/>
                      </a:moveTo>
                      <a:cubicBezTo>
                        <a:pt x="98" y="74"/>
                        <a:pt x="100" y="75"/>
                        <a:pt x="103" y="75"/>
                      </a:cubicBezTo>
                      <a:cubicBezTo>
                        <a:pt x="105" y="75"/>
                        <a:pt x="107" y="74"/>
                        <a:pt x="109" y="73"/>
                      </a:cubicBezTo>
                      <a:cubicBezTo>
                        <a:pt x="110" y="71"/>
                        <a:pt x="111" y="69"/>
                        <a:pt x="111" y="67"/>
                      </a:cubicBezTo>
                      <a:cubicBezTo>
                        <a:pt x="111" y="64"/>
                        <a:pt x="110" y="62"/>
                        <a:pt x="109" y="61"/>
                      </a:cubicBezTo>
                      <a:cubicBezTo>
                        <a:pt x="107" y="59"/>
                        <a:pt x="105" y="58"/>
                        <a:pt x="103" y="58"/>
                      </a:cubicBezTo>
                      <a:cubicBezTo>
                        <a:pt x="100" y="58"/>
                        <a:pt x="98" y="59"/>
                        <a:pt x="97" y="61"/>
                      </a:cubicBezTo>
                      <a:cubicBezTo>
                        <a:pt x="95" y="62"/>
                        <a:pt x="94" y="64"/>
                        <a:pt x="94" y="67"/>
                      </a:cubicBezTo>
                      <a:cubicBezTo>
                        <a:pt x="94" y="69"/>
                        <a:pt x="95" y="71"/>
                        <a:pt x="97" y="73"/>
                      </a:cubicBezTo>
                      <a:close/>
                      <a:moveTo>
                        <a:pt x="31" y="81"/>
                      </a:moveTo>
                      <a:cubicBezTo>
                        <a:pt x="27" y="81"/>
                        <a:pt x="23" y="79"/>
                        <a:pt x="21" y="77"/>
                      </a:cubicBezTo>
                      <a:cubicBezTo>
                        <a:pt x="18" y="74"/>
                        <a:pt x="17" y="71"/>
                        <a:pt x="17" y="67"/>
                      </a:cubicBezTo>
                      <a:cubicBezTo>
                        <a:pt x="17" y="63"/>
                        <a:pt x="18" y="59"/>
                        <a:pt x="21" y="57"/>
                      </a:cubicBezTo>
                      <a:cubicBezTo>
                        <a:pt x="23" y="54"/>
                        <a:pt x="27" y="52"/>
                        <a:pt x="31" y="52"/>
                      </a:cubicBezTo>
                      <a:cubicBezTo>
                        <a:pt x="35" y="52"/>
                        <a:pt x="38" y="54"/>
                        <a:pt x="41" y="57"/>
                      </a:cubicBezTo>
                      <a:cubicBezTo>
                        <a:pt x="43" y="59"/>
                        <a:pt x="45" y="63"/>
                        <a:pt x="45" y="67"/>
                      </a:cubicBezTo>
                      <a:cubicBezTo>
                        <a:pt x="45" y="71"/>
                        <a:pt x="43" y="74"/>
                        <a:pt x="41" y="77"/>
                      </a:cubicBezTo>
                      <a:cubicBezTo>
                        <a:pt x="38" y="79"/>
                        <a:pt x="35" y="81"/>
                        <a:pt x="31" y="81"/>
                      </a:cubicBezTo>
                      <a:close/>
                      <a:moveTo>
                        <a:pt x="31" y="69"/>
                      </a:moveTo>
                      <a:cubicBezTo>
                        <a:pt x="29" y="69"/>
                        <a:pt x="28" y="68"/>
                        <a:pt x="28" y="67"/>
                      </a:cubicBezTo>
                      <a:cubicBezTo>
                        <a:pt x="28" y="65"/>
                        <a:pt x="29" y="64"/>
                        <a:pt x="31" y="64"/>
                      </a:cubicBezTo>
                      <a:cubicBezTo>
                        <a:pt x="32" y="64"/>
                        <a:pt x="34" y="65"/>
                        <a:pt x="34" y="67"/>
                      </a:cubicBezTo>
                      <a:cubicBezTo>
                        <a:pt x="34" y="68"/>
                        <a:pt x="32" y="69"/>
                        <a:pt x="31" y="69"/>
                      </a:cubicBezTo>
                      <a:close/>
                      <a:moveTo>
                        <a:pt x="25" y="73"/>
                      </a:moveTo>
                      <a:cubicBezTo>
                        <a:pt x="26" y="74"/>
                        <a:pt x="28" y="75"/>
                        <a:pt x="31" y="75"/>
                      </a:cubicBezTo>
                      <a:cubicBezTo>
                        <a:pt x="33" y="75"/>
                        <a:pt x="35" y="74"/>
                        <a:pt x="37" y="73"/>
                      </a:cubicBezTo>
                      <a:cubicBezTo>
                        <a:pt x="38" y="71"/>
                        <a:pt x="39" y="69"/>
                        <a:pt x="39" y="67"/>
                      </a:cubicBezTo>
                      <a:cubicBezTo>
                        <a:pt x="39" y="64"/>
                        <a:pt x="38" y="62"/>
                        <a:pt x="37" y="61"/>
                      </a:cubicBezTo>
                      <a:cubicBezTo>
                        <a:pt x="35" y="59"/>
                        <a:pt x="33" y="58"/>
                        <a:pt x="31" y="58"/>
                      </a:cubicBezTo>
                      <a:cubicBezTo>
                        <a:pt x="28" y="58"/>
                        <a:pt x="26" y="59"/>
                        <a:pt x="25" y="61"/>
                      </a:cubicBezTo>
                      <a:cubicBezTo>
                        <a:pt x="23" y="62"/>
                        <a:pt x="22" y="64"/>
                        <a:pt x="22" y="67"/>
                      </a:cubicBezTo>
                      <a:cubicBezTo>
                        <a:pt x="22" y="69"/>
                        <a:pt x="23" y="71"/>
                        <a:pt x="25" y="73"/>
                      </a:cubicBezTo>
                      <a:close/>
                      <a:moveTo>
                        <a:pt x="91" y="42"/>
                      </a:moveTo>
                      <a:cubicBezTo>
                        <a:pt x="86" y="42"/>
                        <a:pt x="86" y="42"/>
                        <a:pt x="86" y="42"/>
                      </a:cubicBezTo>
                      <a:cubicBezTo>
                        <a:pt x="84" y="42"/>
                        <a:pt x="84" y="40"/>
                        <a:pt x="86" y="40"/>
                      </a:cubicBezTo>
                      <a:cubicBezTo>
                        <a:pt x="91" y="40"/>
                        <a:pt x="91" y="40"/>
                        <a:pt x="91" y="40"/>
                      </a:cubicBezTo>
                      <a:cubicBezTo>
                        <a:pt x="93" y="40"/>
                        <a:pt x="93" y="42"/>
                        <a:pt x="91" y="42"/>
                      </a:cubicBezTo>
                      <a:close/>
                      <a:moveTo>
                        <a:pt x="129" y="52"/>
                      </a:moveTo>
                      <a:cubicBezTo>
                        <a:pt x="129" y="47"/>
                        <a:pt x="128" y="40"/>
                        <a:pt x="126" y="38"/>
                      </a:cubicBezTo>
                      <a:cubicBezTo>
                        <a:pt x="121" y="42"/>
                        <a:pt x="125" y="49"/>
                        <a:pt x="129" y="52"/>
                      </a:cubicBezTo>
                      <a:close/>
                      <a:moveTo>
                        <a:pt x="13" y="37"/>
                      </a:moveTo>
                      <a:cubicBezTo>
                        <a:pt x="7" y="38"/>
                        <a:pt x="3" y="46"/>
                        <a:pt x="3" y="50"/>
                      </a:cubicBezTo>
                      <a:cubicBezTo>
                        <a:pt x="10" y="51"/>
                        <a:pt x="12" y="41"/>
                        <a:pt x="13" y="37"/>
                      </a:cubicBezTo>
                      <a:close/>
                      <a:moveTo>
                        <a:pt x="44" y="29"/>
                      </a:moveTo>
                      <a:cubicBezTo>
                        <a:pt x="57" y="14"/>
                        <a:pt x="92" y="7"/>
                        <a:pt x="106" y="24"/>
                      </a:cubicBezTo>
                      <a:cubicBezTo>
                        <a:pt x="109" y="28"/>
                        <a:pt x="112" y="33"/>
                        <a:pt x="105" y="33"/>
                      </a:cubicBezTo>
                      <a:cubicBezTo>
                        <a:pt x="47" y="33"/>
                        <a:pt x="47" y="33"/>
                        <a:pt x="47" y="33"/>
                      </a:cubicBezTo>
                      <a:cubicBezTo>
                        <a:pt x="45" y="33"/>
                        <a:pt x="40" y="32"/>
                        <a:pt x="44" y="29"/>
                      </a:cubicBezTo>
                      <a:close/>
                    </a:path>
                  </a:pathLst>
                </a:custGeom>
                <a:solidFill>
                  <a:srgbClr val="B8A39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621" name="그룹 620">
              <a:extLst>
                <a:ext uri="{FF2B5EF4-FFF2-40B4-BE49-F238E27FC236}">
                  <a16:creationId xmlns:a16="http://schemas.microsoft.com/office/drawing/2014/main" id="{9D8338BD-11B8-3812-B680-04EA27FCF10B}"/>
                </a:ext>
              </a:extLst>
            </p:cNvPr>
            <p:cNvGrpSpPr/>
            <p:nvPr/>
          </p:nvGrpSpPr>
          <p:grpSpPr>
            <a:xfrm>
              <a:off x="4273729" y="6807458"/>
              <a:ext cx="2939615" cy="1171435"/>
              <a:chOff x="4283451" y="6844804"/>
              <a:chExt cx="2939615" cy="1171435"/>
            </a:xfrm>
          </p:grpSpPr>
          <p:sp>
            <p:nvSpPr>
              <p:cNvPr id="624" name="사각형: 둥근 위쪽 모서리 176">
                <a:extLst>
                  <a:ext uri="{FF2B5EF4-FFF2-40B4-BE49-F238E27FC236}">
                    <a16:creationId xmlns:a16="http://schemas.microsoft.com/office/drawing/2014/main" id="{55807EFA-D869-67EA-63C5-2D986D8F6600}"/>
                  </a:ext>
                </a:extLst>
              </p:cNvPr>
              <p:cNvSpPr/>
              <p:nvPr/>
            </p:nvSpPr>
            <p:spPr>
              <a:xfrm>
                <a:off x="4329414" y="7064373"/>
                <a:ext cx="2827237" cy="945765"/>
              </a:xfrm>
              <a:prstGeom prst="round2SameRect">
                <a:avLst>
                  <a:gd name="adj1" fmla="val 6461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46000">
                    <a:schemeClr val="bg1"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6350"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625" name="그룹 624">
                <a:extLst>
                  <a:ext uri="{FF2B5EF4-FFF2-40B4-BE49-F238E27FC236}">
                    <a16:creationId xmlns:a16="http://schemas.microsoft.com/office/drawing/2014/main" id="{C63E18DE-600A-DB10-C5E7-32F128E48D81}"/>
                  </a:ext>
                </a:extLst>
              </p:cNvPr>
              <p:cNvGrpSpPr/>
              <p:nvPr/>
            </p:nvGrpSpPr>
            <p:grpSpPr>
              <a:xfrm>
                <a:off x="4328386" y="6844804"/>
                <a:ext cx="2836842" cy="269004"/>
                <a:chOff x="871226" y="1615730"/>
                <a:chExt cx="2446586" cy="258973"/>
              </a:xfrm>
            </p:grpSpPr>
            <p:sp>
              <p:nvSpPr>
                <p:cNvPr id="633" name="직사각형 632">
                  <a:extLst>
                    <a:ext uri="{FF2B5EF4-FFF2-40B4-BE49-F238E27FC236}">
                      <a16:creationId xmlns:a16="http://schemas.microsoft.com/office/drawing/2014/main" id="{CFBF5054-D0D3-9260-BBC6-2F4CACF96116}"/>
                    </a:ext>
                  </a:extLst>
                </p:cNvPr>
                <p:cNvSpPr/>
                <p:nvPr/>
              </p:nvSpPr>
              <p:spPr>
                <a:xfrm>
                  <a:off x="871228" y="1615730"/>
                  <a:ext cx="2439188" cy="256580"/>
                </a:xfrm>
                <a:prstGeom prst="rect">
                  <a:avLst/>
                </a:prstGeom>
                <a:solidFill>
                  <a:srgbClr val="F8E9D7"/>
                </a:solidFill>
                <a:ln>
                  <a:noFill/>
                </a:ln>
                <a:effectLst>
                  <a:innerShdw blurRad="139700">
                    <a:srgbClr val="DB9236">
                      <a:alpha val="45000"/>
                    </a:srgb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34" name="한쪽 모서리가 둥근 사각형 275">
                  <a:extLst>
                    <a:ext uri="{FF2B5EF4-FFF2-40B4-BE49-F238E27FC236}">
                      <a16:creationId xmlns:a16="http://schemas.microsoft.com/office/drawing/2014/main" id="{63E19158-CBA6-6B4D-0D38-441BFE01043D}"/>
                    </a:ext>
                  </a:extLst>
                </p:cNvPr>
                <p:cNvSpPr/>
                <p:nvPr/>
              </p:nvSpPr>
              <p:spPr>
                <a:xfrm rot="5400000">
                  <a:off x="876850" y="1610109"/>
                  <a:ext cx="253826" cy="265073"/>
                </a:xfrm>
                <a:prstGeom prst="round1Rect">
                  <a:avLst>
                    <a:gd name="adj" fmla="val 35867"/>
                  </a:avLst>
                </a:prstGeom>
                <a:gradFill>
                  <a:gsLst>
                    <a:gs pos="0">
                      <a:srgbClr val="D07922"/>
                    </a:gs>
                    <a:gs pos="65000">
                      <a:srgbClr val="DB9236"/>
                    </a:gs>
                  </a:gsLst>
                  <a:lin ang="120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35" name="자유형 281">
                  <a:extLst>
                    <a:ext uri="{FF2B5EF4-FFF2-40B4-BE49-F238E27FC236}">
                      <a16:creationId xmlns:a16="http://schemas.microsoft.com/office/drawing/2014/main" id="{C06AE712-E8CD-AD49-2CA3-3AAFBAA75F1A}"/>
                    </a:ext>
                  </a:extLst>
                </p:cNvPr>
                <p:cNvSpPr/>
                <p:nvPr/>
              </p:nvSpPr>
              <p:spPr>
                <a:xfrm rot="16200000">
                  <a:off x="1136300" y="1615732"/>
                  <a:ext cx="109929" cy="109929"/>
                </a:xfrm>
                <a:custGeom>
                  <a:avLst/>
                  <a:gdLst>
                    <a:gd name="connsiteX0" fmla="*/ 162804 w 162804"/>
                    <a:gd name="connsiteY0" fmla="*/ 0 h 162804"/>
                    <a:gd name="connsiteX1" fmla="*/ 162804 w 162804"/>
                    <a:gd name="connsiteY1" fmla="*/ 162804 h 162804"/>
                    <a:gd name="connsiteX2" fmla="*/ 0 w 162804"/>
                    <a:gd name="connsiteY2" fmla="*/ 0 h 162804"/>
                    <a:gd name="connsiteX3" fmla="*/ 162804 w 162804"/>
                    <a:gd name="connsiteY3" fmla="*/ 0 h 162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804" h="162804">
                      <a:moveTo>
                        <a:pt x="162804" y="0"/>
                      </a:moveTo>
                      <a:lnTo>
                        <a:pt x="162804" y="162804"/>
                      </a:lnTo>
                      <a:cubicBezTo>
                        <a:pt x="162804" y="72890"/>
                        <a:pt x="89914" y="0"/>
                        <a:pt x="0" y="0"/>
                      </a:cubicBezTo>
                      <a:lnTo>
                        <a:pt x="162804" y="0"/>
                      </a:lnTo>
                      <a:close/>
                    </a:path>
                  </a:pathLst>
                </a:custGeom>
                <a:solidFill>
                  <a:srgbClr val="DB923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  <p:cxnSp>
              <p:nvCxnSpPr>
                <p:cNvPr id="636" name="직선 연결선 635">
                  <a:extLst>
                    <a:ext uri="{FF2B5EF4-FFF2-40B4-BE49-F238E27FC236}">
                      <a16:creationId xmlns:a16="http://schemas.microsoft.com/office/drawing/2014/main" id="{A7ED1B6A-E0C7-F81C-40C5-47575CB2E0D4}"/>
                    </a:ext>
                  </a:extLst>
                </p:cNvPr>
                <p:cNvCxnSpPr/>
                <p:nvPr/>
              </p:nvCxnSpPr>
              <p:spPr>
                <a:xfrm>
                  <a:off x="871226" y="1615730"/>
                  <a:ext cx="2432458" cy="1"/>
                </a:xfrm>
                <a:prstGeom prst="line">
                  <a:avLst/>
                </a:prstGeom>
                <a:ln>
                  <a:solidFill>
                    <a:srgbClr val="B8A39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7" name="TextBox 636">
                  <a:extLst>
                    <a:ext uri="{FF2B5EF4-FFF2-40B4-BE49-F238E27FC236}">
                      <a16:creationId xmlns:a16="http://schemas.microsoft.com/office/drawing/2014/main" id="{69F5834A-C4BE-2CDC-8AF7-15DED3596F47}"/>
                    </a:ext>
                  </a:extLst>
                </p:cNvPr>
                <p:cNvSpPr txBox="1"/>
                <p:nvPr/>
              </p:nvSpPr>
              <p:spPr>
                <a:xfrm>
                  <a:off x="1114045" y="1637663"/>
                  <a:ext cx="2203767" cy="237040"/>
                </a:xfrm>
                <a:prstGeom prst="rect">
                  <a:avLst/>
                </a:prstGeom>
                <a:noFill/>
              </p:spPr>
              <p:txBody>
                <a:bodyPr wrap="square" rIns="18000" rtlCol="0">
                  <a:spAutoFit/>
                </a:bodyPr>
                <a:lstStyle>
                  <a:defPPr>
                    <a:defRPr lang="ko-KR"/>
                  </a:defPPr>
                  <a:lvl1pPr>
                    <a:spcBef>
                      <a:spcPts val="300"/>
                    </a:spcBef>
                    <a:buClr>
                      <a:srgbClr val="8DC63F"/>
                    </a:buClr>
                    <a:defRPr sz="1100" b="1">
                      <a:ln>
                        <a:solidFill>
                          <a:schemeClr val="tx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바른고딕" panose="020B0603020101020101" pitchFamily="50" charset="-127"/>
                      <a:ea typeface="나눔바른고딕" panose="020B0603020101020101" pitchFamily="50" charset="-127"/>
                    </a:defRPr>
                  </a:lvl1pPr>
                </a:lstStyle>
                <a:p>
                  <a:pPr lvl="0" latinLnBrk="0">
                    <a:spcBef>
                      <a:spcPts val="293"/>
                    </a:spcBef>
                    <a:defRPr/>
                  </a:pPr>
                  <a:r>
                    <a:rPr lang="ko-KR" altLang="en-US" sz="1000" kern="0" spc="-7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</a:rPr>
                    <a:t>복합 거점공간</a:t>
                  </a:r>
                  <a:r>
                    <a:rPr lang="en-US" altLang="ko-KR" sz="1000" kern="0" spc="-7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</a:rPr>
                    <a:t>(</a:t>
                  </a:r>
                  <a:r>
                    <a:rPr lang="ko-KR" altLang="en-US" sz="1000" kern="0" spc="-7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</a:rPr>
                    <a:t>랜드마크</a:t>
                  </a:r>
                  <a:r>
                    <a:rPr lang="en-US" altLang="ko-KR" sz="1000" kern="0" spc="-7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</a:rPr>
                    <a:t>)</a:t>
                  </a:r>
                  <a:r>
                    <a:rPr lang="ko-KR" altLang="en-US" sz="1000" kern="0" spc="-70" dirty="0">
                      <a:ln>
                        <a:solidFill>
                          <a:prstClr val="black">
                            <a:alpha val="0"/>
                          </a:prstClr>
                        </a:solidFill>
                      </a:ln>
                      <a:solidFill>
                        <a:prstClr val="black"/>
                      </a:solidFill>
                    </a:rPr>
                    <a:t> 조성을 통한  사업성 강화</a:t>
                  </a:r>
                </a:p>
              </p:txBody>
            </p:sp>
          </p:grpSp>
          <p:grpSp>
            <p:nvGrpSpPr>
              <p:cNvPr id="628" name="Group 21">
                <a:extLst>
                  <a:ext uri="{FF2B5EF4-FFF2-40B4-BE49-F238E27FC236}">
                    <a16:creationId xmlns:a16="http://schemas.microsoft.com/office/drawing/2014/main" id="{CB6B6CE9-5767-D81A-39D0-469D5E23529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375476" y="6896510"/>
                <a:ext cx="185980" cy="173928"/>
                <a:chOff x="1950" y="2937"/>
                <a:chExt cx="862" cy="863"/>
              </a:xfrm>
            </p:grpSpPr>
            <p:sp>
              <p:nvSpPr>
                <p:cNvPr id="630" name="Freeform 23">
                  <a:extLst>
                    <a:ext uri="{FF2B5EF4-FFF2-40B4-BE49-F238E27FC236}">
                      <a16:creationId xmlns:a16="http://schemas.microsoft.com/office/drawing/2014/main" id="{334CFC63-F302-FBA9-A749-0BCD252789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6" y="2937"/>
                  <a:ext cx="386" cy="387"/>
                </a:xfrm>
                <a:custGeom>
                  <a:avLst/>
                  <a:gdLst>
                    <a:gd name="T0" fmla="*/ 0 w 162"/>
                    <a:gd name="T1" fmla="*/ 0 h 162"/>
                    <a:gd name="T2" fmla="*/ 0 w 162"/>
                    <a:gd name="T3" fmla="*/ 74 h 162"/>
                    <a:gd name="T4" fmla="*/ 88 w 162"/>
                    <a:gd name="T5" fmla="*/ 162 h 162"/>
                    <a:gd name="T6" fmla="*/ 162 w 162"/>
                    <a:gd name="T7" fmla="*/ 162 h 162"/>
                    <a:gd name="T8" fmla="*/ 0 w 162"/>
                    <a:gd name="T9" fmla="*/ 0 h 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2" h="162">
                      <a:moveTo>
                        <a:pt x="0" y="0"/>
                      </a:move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49" y="74"/>
                        <a:pt x="88" y="113"/>
                        <a:pt x="88" y="162"/>
                      </a:cubicBezTo>
                      <a:cubicBezTo>
                        <a:pt x="162" y="162"/>
                        <a:pt x="162" y="162"/>
                        <a:pt x="162" y="162"/>
                      </a:cubicBezTo>
                      <a:cubicBezTo>
                        <a:pt x="162" y="73"/>
                        <a:pt x="89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E1A7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1" name="Freeform 24">
                  <a:extLst>
                    <a:ext uri="{FF2B5EF4-FFF2-40B4-BE49-F238E27FC236}">
                      <a16:creationId xmlns:a16="http://schemas.microsoft.com/office/drawing/2014/main" id="{A0262498-A834-0A55-3AF8-9339EF42E15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950" y="2968"/>
                  <a:ext cx="445" cy="718"/>
                </a:xfrm>
                <a:custGeom>
                  <a:avLst/>
                  <a:gdLst>
                    <a:gd name="T0" fmla="*/ 60 w 187"/>
                    <a:gd name="T1" fmla="*/ 301 h 301"/>
                    <a:gd name="T2" fmla="*/ 51 w 187"/>
                    <a:gd name="T3" fmla="*/ 298 h 301"/>
                    <a:gd name="T4" fmla="*/ 23 w 187"/>
                    <a:gd name="T5" fmla="*/ 262 h 301"/>
                    <a:gd name="T6" fmla="*/ 0 w 187"/>
                    <a:gd name="T7" fmla="*/ 175 h 301"/>
                    <a:gd name="T8" fmla="*/ 175 w 187"/>
                    <a:gd name="T9" fmla="*/ 0 h 301"/>
                    <a:gd name="T10" fmla="*/ 187 w 187"/>
                    <a:gd name="T11" fmla="*/ 12 h 301"/>
                    <a:gd name="T12" fmla="*/ 187 w 187"/>
                    <a:gd name="T13" fmla="*/ 86 h 301"/>
                    <a:gd name="T14" fmla="*/ 175 w 187"/>
                    <a:gd name="T15" fmla="*/ 98 h 301"/>
                    <a:gd name="T16" fmla="*/ 98 w 187"/>
                    <a:gd name="T17" fmla="*/ 175 h 301"/>
                    <a:gd name="T18" fmla="*/ 108 w 187"/>
                    <a:gd name="T19" fmla="*/ 213 h 301"/>
                    <a:gd name="T20" fmla="*/ 120 w 187"/>
                    <a:gd name="T21" fmla="*/ 229 h 301"/>
                    <a:gd name="T22" fmla="*/ 120 w 187"/>
                    <a:gd name="T23" fmla="*/ 246 h 301"/>
                    <a:gd name="T24" fmla="*/ 68 w 187"/>
                    <a:gd name="T25" fmla="*/ 298 h 301"/>
                    <a:gd name="T26" fmla="*/ 60 w 187"/>
                    <a:gd name="T27" fmla="*/ 301 h 301"/>
                    <a:gd name="T28" fmla="*/ 162 w 187"/>
                    <a:gd name="T29" fmla="*/ 25 h 301"/>
                    <a:gd name="T30" fmla="*/ 24 w 187"/>
                    <a:gd name="T31" fmla="*/ 175 h 301"/>
                    <a:gd name="T32" fmla="*/ 44 w 187"/>
                    <a:gd name="T33" fmla="*/ 250 h 301"/>
                    <a:gd name="T34" fmla="*/ 60 w 187"/>
                    <a:gd name="T35" fmla="*/ 272 h 301"/>
                    <a:gd name="T36" fmla="*/ 95 w 187"/>
                    <a:gd name="T37" fmla="*/ 237 h 301"/>
                    <a:gd name="T38" fmla="*/ 87 w 187"/>
                    <a:gd name="T39" fmla="*/ 225 h 301"/>
                    <a:gd name="T40" fmla="*/ 74 w 187"/>
                    <a:gd name="T41" fmla="*/ 175 h 301"/>
                    <a:gd name="T42" fmla="*/ 162 w 187"/>
                    <a:gd name="T43" fmla="*/ 75 h 301"/>
                    <a:gd name="T44" fmla="*/ 162 w 187"/>
                    <a:gd name="T45" fmla="*/ 25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87" h="301">
                      <a:moveTo>
                        <a:pt x="60" y="301"/>
                      </a:moveTo>
                      <a:cubicBezTo>
                        <a:pt x="57" y="301"/>
                        <a:pt x="54" y="300"/>
                        <a:pt x="51" y="298"/>
                      </a:cubicBezTo>
                      <a:cubicBezTo>
                        <a:pt x="40" y="287"/>
                        <a:pt x="31" y="275"/>
                        <a:pt x="23" y="262"/>
                      </a:cubicBezTo>
                      <a:cubicBezTo>
                        <a:pt x="8" y="235"/>
                        <a:pt x="0" y="205"/>
                        <a:pt x="0" y="175"/>
                      </a:cubicBezTo>
                      <a:cubicBezTo>
                        <a:pt x="0" y="78"/>
                        <a:pt x="78" y="0"/>
                        <a:pt x="175" y="0"/>
                      </a:cubicBezTo>
                      <a:cubicBezTo>
                        <a:pt x="181" y="0"/>
                        <a:pt x="187" y="5"/>
                        <a:pt x="187" y="12"/>
                      </a:cubicBezTo>
                      <a:cubicBezTo>
                        <a:pt x="187" y="86"/>
                        <a:pt x="187" y="86"/>
                        <a:pt x="187" y="86"/>
                      </a:cubicBezTo>
                      <a:cubicBezTo>
                        <a:pt x="187" y="93"/>
                        <a:pt x="181" y="98"/>
                        <a:pt x="175" y="98"/>
                      </a:cubicBezTo>
                      <a:cubicBezTo>
                        <a:pt x="132" y="98"/>
                        <a:pt x="98" y="132"/>
                        <a:pt x="98" y="175"/>
                      </a:cubicBezTo>
                      <a:cubicBezTo>
                        <a:pt x="98" y="188"/>
                        <a:pt x="101" y="201"/>
                        <a:pt x="108" y="213"/>
                      </a:cubicBezTo>
                      <a:cubicBezTo>
                        <a:pt x="112" y="219"/>
                        <a:pt x="116" y="224"/>
                        <a:pt x="120" y="229"/>
                      </a:cubicBezTo>
                      <a:cubicBezTo>
                        <a:pt x="125" y="233"/>
                        <a:pt x="125" y="241"/>
                        <a:pt x="120" y="246"/>
                      </a:cubicBezTo>
                      <a:cubicBezTo>
                        <a:pt x="68" y="298"/>
                        <a:pt x="68" y="298"/>
                        <a:pt x="68" y="298"/>
                      </a:cubicBezTo>
                      <a:cubicBezTo>
                        <a:pt x="66" y="300"/>
                        <a:pt x="63" y="301"/>
                        <a:pt x="60" y="301"/>
                      </a:cubicBezTo>
                      <a:close/>
                      <a:moveTo>
                        <a:pt x="162" y="25"/>
                      </a:moveTo>
                      <a:cubicBezTo>
                        <a:pt x="85" y="31"/>
                        <a:pt x="24" y="96"/>
                        <a:pt x="24" y="175"/>
                      </a:cubicBezTo>
                      <a:cubicBezTo>
                        <a:pt x="24" y="201"/>
                        <a:pt x="31" y="227"/>
                        <a:pt x="44" y="250"/>
                      </a:cubicBezTo>
                      <a:cubicBezTo>
                        <a:pt x="49" y="258"/>
                        <a:pt x="54" y="265"/>
                        <a:pt x="60" y="272"/>
                      </a:cubicBezTo>
                      <a:cubicBezTo>
                        <a:pt x="95" y="237"/>
                        <a:pt x="95" y="237"/>
                        <a:pt x="95" y="237"/>
                      </a:cubicBezTo>
                      <a:cubicBezTo>
                        <a:pt x="92" y="233"/>
                        <a:pt x="90" y="229"/>
                        <a:pt x="87" y="225"/>
                      </a:cubicBezTo>
                      <a:cubicBezTo>
                        <a:pt x="79" y="210"/>
                        <a:pt x="74" y="192"/>
                        <a:pt x="74" y="175"/>
                      </a:cubicBezTo>
                      <a:cubicBezTo>
                        <a:pt x="74" y="123"/>
                        <a:pt x="113" y="81"/>
                        <a:pt x="162" y="75"/>
                      </a:cubicBezTo>
                      <a:lnTo>
                        <a:pt x="162" y="25"/>
                      </a:lnTo>
                      <a:close/>
                    </a:path>
                  </a:pathLst>
                </a:custGeom>
                <a:solidFill>
                  <a:srgbClr val="E1A7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2" name="Freeform 25">
                  <a:extLst>
                    <a:ext uri="{FF2B5EF4-FFF2-40B4-BE49-F238E27FC236}">
                      <a16:creationId xmlns:a16="http://schemas.microsoft.com/office/drawing/2014/main" id="{0255C2A1-D91F-EBA2-6143-A217F6FE566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62" y="3354"/>
                  <a:ext cx="719" cy="446"/>
                </a:xfrm>
                <a:custGeom>
                  <a:avLst/>
                  <a:gdLst>
                    <a:gd name="T0" fmla="*/ 128 w 302"/>
                    <a:gd name="T1" fmla="*/ 187 h 187"/>
                    <a:gd name="T2" fmla="*/ 4 w 302"/>
                    <a:gd name="T3" fmla="*/ 136 h 187"/>
                    <a:gd name="T4" fmla="*/ 4 w 302"/>
                    <a:gd name="T5" fmla="*/ 119 h 187"/>
                    <a:gd name="T6" fmla="*/ 56 w 302"/>
                    <a:gd name="T7" fmla="*/ 67 h 187"/>
                    <a:gd name="T8" fmla="*/ 73 w 302"/>
                    <a:gd name="T9" fmla="*/ 67 h 187"/>
                    <a:gd name="T10" fmla="*/ 128 w 302"/>
                    <a:gd name="T11" fmla="*/ 89 h 187"/>
                    <a:gd name="T12" fmla="*/ 194 w 302"/>
                    <a:gd name="T13" fmla="*/ 51 h 187"/>
                    <a:gd name="T14" fmla="*/ 204 w 302"/>
                    <a:gd name="T15" fmla="*/ 13 h 187"/>
                    <a:gd name="T16" fmla="*/ 216 w 302"/>
                    <a:gd name="T17" fmla="*/ 0 h 187"/>
                    <a:gd name="T18" fmla="*/ 290 w 302"/>
                    <a:gd name="T19" fmla="*/ 0 h 187"/>
                    <a:gd name="T20" fmla="*/ 302 w 302"/>
                    <a:gd name="T21" fmla="*/ 13 h 187"/>
                    <a:gd name="T22" fmla="*/ 279 w 302"/>
                    <a:gd name="T23" fmla="*/ 100 h 187"/>
                    <a:gd name="T24" fmla="*/ 128 w 302"/>
                    <a:gd name="T25" fmla="*/ 187 h 187"/>
                    <a:gd name="T26" fmla="*/ 30 w 302"/>
                    <a:gd name="T27" fmla="*/ 127 h 187"/>
                    <a:gd name="T28" fmla="*/ 128 w 302"/>
                    <a:gd name="T29" fmla="*/ 163 h 187"/>
                    <a:gd name="T30" fmla="*/ 258 w 302"/>
                    <a:gd name="T31" fmla="*/ 88 h 187"/>
                    <a:gd name="T32" fmla="*/ 277 w 302"/>
                    <a:gd name="T33" fmla="*/ 25 h 187"/>
                    <a:gd name="T34" fmla="*/ 227 w 302"/>
                    <a:gd name="T35" fmla="*/ 25 h 187"/>
                    <a:gd name="T36" fmla="*/ 215 w 302"/>
                    <a:gd name="T37" fmla="*/ 63 h 187"/>
                    <a:gd name="T38" fmla="*/ 128 w 302"/>
                    <a:gd name="T39" fmla="*/ 113 h 187"/>
                    <a:gd name="T40" fmla="*/ 65 w 302"/>
                    <a:gd name="T41" fmla="*/ 92 h 187"/>
                    <a:gd name="T42" fmla="*/ 30 w 302"/>
                    <a:gd name="T43" fmla="*/ 127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02" h="187">
                      <a:moveTo>
                        <a:pt x="128" y="187"/>
                      </a:moveTo>
                      <a:cubicBezTo>
                        <a:pt x="81" y="187"/>
                        <a:pt x="37" y="169"/>
                        <a:pt x="4" y="136"/>
                      </a:cubicBezTo>
                      <a:cubicBezTo>
                        <a:pt x="0" y="131"/>
                        <a:pt x="0" y="124"/>
                        <a:pt x="4" y="119"/>
                      </a:cubicBezTo>
                      <a:cubicBezTo>
                        <a:pt x="56" y="67"/>
                        <a:pt x="56" y="67"/>
                        <a:pt x="56" y="67"/>
                      </a:cubicBezTo>
                      <a:cubicBezTo>
                        <a:pt x="61" y="62"/>
                        <a:pt x="69" y="62"/>
                        <a:pt x="73" y="67"/>
                      </a:cubicBezTo>
                      <a:cubicBezTo>
                        <a:pt x="88" y="81"/>
                        <a:pt x="107" y="89"/>
                        <a:pt x="128" y="89"/>
                      </a:cubicBezTo>
                      <a:cubicBezTo>
                        <a:pt x="155" y="89"/>
                        <a:pt x="180" y="74"/>
                        <a:pt x="194" y="51"/>
                      </a:cubicBezTo>
                      <a:cubicBezTo>
                        <a:pt x="201" y="39"/>
                        <a:pt x="204" y="26"/>
                        <a:pt x="204" y="13"/>
                      </a:cubicBezTo>
                      <a:cubicBezTo>
                        <a:pt x="204" y="6"/>
                        <a:pt x="209" y="0"/>
                        <a:pt x="216" y="0"/>
                      </a:cubicBezTo>
                      <a:cubicBezTo>
                        <a:pt x="290" y="0"/>
                        <a:pt x="290" y="0"/>
                        <a:pt x="290" y="0"/>
                      </a:cubicBezTo>
                      <a:cubicBezTo>
                        <a:pt x="297" y="0"/>
                        <a:pt x="302" y="6"/>
                        <a:pt x="302" y="13"/>
                      </a:cubicBezTo>
                      <a:cubicBezTo>
                        <a:pt x="302" y="43"/>
                        <a:pt x="294" y="73"/>
                        <a:pt x="279" y="100"/>
                      </a:cubicBezTo>
                      <a:cubicBezTo>
                        <a:pt x="247" y="154"/>
                        <a:pt x="190" y="187"/>
                        <a:pt x="128" y="187"/>
                      </a:cubicBezTo>
                      <a:close/>
                      <a:moveTo>
                        <a:pt x="30" y="127"/>
                      </a:moveTo>
                      <a:cubicBezTo>
                        <a:pt x="57" y="150"/>
                        <a:pt x="91" y="163"/>
                        <a:pt x="128" y="163"/>
                      </a:cubicBezTo>
                      <a:cubicBezTo>
                        <a:pt x="181" y="163"/>
                        <a:pt x="231" y="134"/>
                        <a:pt x="258" y="88"/>
                      </a:cubicBezTo>
                      <a:cubicBezTo>
                        <a:pt x="269" y="68"/>
                        <a:pt x="276" y="47"/>
                        <a:pt x="277" y="25"/>
                      </a:cubicBezTo>
                      <a:cubicBezTo>
                        <a:pt x="227" y="25"/>
                        <a:pt x="227" y="25"/>
                        <a:pt x="227" y="25"/>
                      </a:cubicBezTo>
                      <a:cubicBezTo>
                        <a:pt x="226" y="38"/>
                        <a:pt x="221" y="51"/>
                        <a:pt x="215" y="63"/>
                      </a:cubicBezTo>
                      <a:cubicBezTo>
                        <a:pt x="197" y="94"/>
                        <a:pt x="163" y="113"/>
                        <a:pt x="128" y="113"/>
                      </a:cubicBezTo>
                      <a:cubicBezTo>
                        <a:pt x="105" y="113"/>
                        <a:pt x="83" y="106"/>
                        <a:pt x="65" y="92"/>
                      </a:cubicBezTo>
                      <a:lnTo>
                        <a:pt x="30" y="127"/>
                      </a:lnTo>
                      <a:close/>
                    </a:path>
                  </a:pathLst>
                </a:custGeom>
                <a:solidFill>
                  <a:srgbClr val="E1A75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8DBAB617-C564-B9A6-63D3-30A1B0CDF382}"/>
                  </a:ext>
                </a:extLst>
              </p:cNvPr>
              <p:cNvSpPr txBox="1"/>
              <p:nvPr/>
            </p:nvSpPr>
            <p:spPr>
              <a:xfrm>
                <a:off x="4283451" y="7074186"/>
                <a:ext cx="2939615" cy="942053"/>
              </a:xfrm>
              <a:prstGeom prst="rect">
                <a:avLst/>
              </a:prstGeom>
              <a:noFill/>
            </p:spPr>
            <p:txBody>
              <a:bodyPr wrap="square" rIns="18000" rtlCol="0">
                <a:spAutoFit/>
              </a:bodyPr>
              <a:lstStyle>
                <a:defPPr>
                  <a:defRPr lang="ko-KR"/>
                </a:defPPr>
                <a:lvl1pPr marL="108000" lvl="0" indent="-108000" defTabSz="457200" latinLnBrk="0">
                  <a:spcBef>
                    <a:spcPts val="300"/>
                  </a:spcBef>
                  <a:buClr>
                    <a:prstClr val="white">
                      <a:lumMod val="75000"/>
                    </a:prstClr>
                  </a:buClr>
                  <a:buFont typeface="Arial" panose="020B0604020202020204" pitchFamily="34" charset="0"/>
                  <a:buChar char="•"/>
                  <a:defRPr sz="1050">
                    <a:ln>
                      <a:solidFill>
                        <a:prstClr val="black">
                          <a:alpha val="0"/>
                        </a:prstClr>
                      </a:solidFill>
                    </a:ln>
                    <a:latin typeface="나눔바른고딕" panose="020B0603020101020101" pitchFamily="50" charset="-127"/>
                    <a:ea typeface="나눔바른고딕" panose="020B0603020101020101" pitchFamily="50" charset="-127"/>
                  </a:defRPr>
                </a:lvl1pPr>
              </a:lstStyle>
              <a:p>
                <a:pPr marL="50800" indent="-50800" defTabSz="446410">
                  <a:lnSpc>
                    <a:spcPct val="120000"/>
                  </a:lnSpc>
                  <a:spcBef>
                    <a:spcPts val="200"/>
                  </a:spcBef>
                  <a:defRPr/>
                </a:pPr>
                <a:r>
                  <a:rPr lang="ko-KR" altLang="en-US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신규 역사 설치를 고려한 주차장</a:t>
                </a:r>
                <a:r>
                  <a:rPr lang="en-US" altLang="ko-KR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, </a:t>
                </a:r>
                <a:r>
                  <a:rPr lang="ko-KR" altLang="en-US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공공</a:t>
                </a:r>
                <a:r>
                  <a:rPr lang="en-US" altLang="ko-KR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, </a:t>
                </a:r>
                <a:r>
                  <a:rPr lang="ko-KR" altLang="en-US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상업</a:t>
                </a:r>
                <a:r>
                  <a:rPr lang="en-US" altLang="ko-KR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, </a:t>
                </a:r>
                <a:r>
                  <a:rPr lang="ko-KR" altLang="en-US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업무 등 복합기능 배치로</a:t>
                </a:r>
                <a:r>
                  <a:rPr lang="en-US" altLang="ko-KR" sz="900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 </a:t>
                </a:r>
                <a:r>
                  <a:rPr lang="ko-KR" altLang="en-US" sz="900" b="1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내포 역세권 사업성 제고</a:t>
                </a:r>
                <a:endParaRPr lang="en-US" altLang="ko-KR" sz="900" b="1" kern="0" spc="-20" dirty="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  <a:p>
                <a:pPr marL="50800" indent="-50800" defTabSz="446410">
                  <a:lnSpc>
                    <a:spcPct val="120000"/>
                  </a:lnSpc>
                  <a:spcBef>
                    <a:spcPts val="200"/>
                  </a:spcBef>
                  <a:defRPr/>
                </a:pPr>
                <a:r>
                  <a:rPr lang="ko-KR" altLang="en-US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셀트리온 유치</a:t>
                </a:r>
                <a:r>
                  <a:rPr lang="en-US" altLang="ko-KR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, </a:t>
                </a:r>
                <a:r>
                  <a:rPr lang="ko-KR" altLang="en-US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서해선 복선전철 이용객</a:t>
                </a:r>
                <a:r>
                  <a:rPr lang="en-US" altLang="ko-KR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(</a:t>
                </a:r>
                <a:r>
                  <a:rPr lang="ko-KR" altLang="en-US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내포신도시</a:t>
                </a:r>
                <a:r>
                  <a:rPr lang="en-US" altLang="ko-KR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, </a:t>
                </a:r>
                <a:r>
                  <a:rPr lang="ko-KR" altLang="en-US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예산군</a:t>
                </a:r>
                <a:r>
                  <a:rPr lang="en-US" altLang="ko-KR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)</a:t>
                </a:r>
                <a:r>
                  <a:rPr lang="ko-KR" altLang="en-US" sz="900" kern="0" spc="-4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의 접근성 극대화를 위한 특화 공간계획으로 </a:t>
                </a:r>
                <a:r>
                  <a:rPr lang="ko-KR" altLang="en-US" sz="900" b="1" kern="0" spc="-20" dirty="0">
                    <a:solidFill>
                      <a:prstClr val="black">
                        <a:lumMod val="85000"/>
                        <a:lumOff val="15000"/>
                      </a:prstClr>
                    </a:solidFill>
                  </a:rPr>
                  <a:t>내포지역 관문역할 수행을 통한 인구유입 증대</a:t>
                </a:r>
                <a:endParaRPr lang="en-US" altLang="ko-KR" sz="900" b="1" kern="0" spc="-20" dirty="0">
                  <a:solidFill>
                    <a:prstClr val="black">
                      <a:lumMod val="85000"/>
                      <a:lumOff val="15000"/>
                    </a:prstClr>
                  </a:solidFill>
                </a:endParaRPr>
              </a:p>
            </p:txBody>
          </p:sp>
        </p:grpSp>
      </p:grpSp>
      <p:sp>
        <p:nvSpPr>
          <p:cNvPr id="661" name="TextBox 660">
            <a:extLst>
              <a:ext uri="{FF2B5EF4-FFF2-40B4-BE49-F238E27FC236}">
                <a16:creationId xmlns:a16="http://schemas.microsoft.com/office/drawing/2014/main" id="{C88E2261-4489-4BE1-2D0D-3CCB87544B9A}"/>
              </a:ext>
            </a:extLst>
          </p:cNvPr>
          <p:cNvSpPr txBox="1"/>
          <p:nvPr/>
        </p:nvSpPr>
        <p:spPr>
          <a:xfrm>
            <a:off x="2816132" y="10000567"/>
            <a:ext cx="726468" cy="1846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 contourW="12700">
              <a:bevelT w="0" h="19050"/>
              <a:contourClr>
                <a:schemeClr val="tx1"/>
              </a:contourClr>
            </a:sp3d>
          </a:bodyPr>
          <a:lstStyle>
            <a:defPPr>
              <a:defRPr lang="ko-KR"/>
            </a:defPPr>
            <a:lvl1pPr algn="ctr">
              <a:defRPr sz="700" b="1">
                <a:solidFill>
                  <a:schemeClr val="bg1"/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100</a:t>
            </a:r>
            <a:r>
              <a:rPr lang="ko-KR" altLang="en-US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년 홍수빈도</a:t>
            </a:r>
            <a:b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H.W.L 5.37~22.10m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43CCC6-B021-5C34-F3BB-582095782576}"/>
              </a:ext>
            </a:extLst>
          </p:cNvPr>
          <p:cNvSpPr txBox="1"/>
          <p:nvPr/>
        </p:nvSpPr>
        <p:spPr>
          <a:xfrm>
            <a:off x="723695" y="2427030"/>
            <a:ext cx="2578305" cy="3847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lvl="0" indent="-108000" defTabSz="457200" latinLnBrk="0">
              <a:lnSpc>
                <a:spcPts val="1500"/>
              </a:lnSpc>
              <a:spcBef>
                <a:spcPts val="400"/>
              </a:spcBef>
              <a:buClr>
                <a:prstClr val="white">
                  <a:lumMod val="75000"/>
                </a:prstClr>
              </a:buClr>
              <a:buFont typeface="Arial" panose="020B0604020202020204" pitchFamily="34" charset="0"/>
              <a:buChar char="•"/>
              <a:defRPr sz="1000" b="1" spc="-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b="0" spc="-6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내포역</a:t>
            </a:r>
            <a:r>
              <a:rPr lang="ko-KR" altLang="en-US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신설</a:t>
            </a:r>
            <a:r>
              <a:rPr lang="en-US" altLang="ko-KR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자족기능 배치</a:t>
            </a:r>
            <a:r>
              <a:rPr lang="en-US" altLang="ko-KR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등을 통해 내포신도시</a:t>
            </a:r>
            <a:br>
              <a:rPr lang="en-US" altLang="ko-KR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pc="-60" dirty="0" err="1"/>
              <a:t>관문역할</a:t>
            </a:r>
            <a:r>
              <a:rPr lang="ko-KR" altLang="en-US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및 충청권 </a:t>
            </a:r>
            <a:r>
              <a:rPr lang="ko-KR" altLang="en-US" spc="-60" dirty="0"/>
              <a:t>신성장 거점 육성 </a:t>
            </a:r>
            <a:r>
              <a:rPr lang="ko-KR" altLang="en-US" b="0" spc="-6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목표 달성</a:t>
            </a:r>
            <a:endParaRPr lang="en-US" altLang="ko-KR" spc="-6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DC40DB-D8AE-6E42-75B3-246727766383}"/>
              </a:ext>
            </a:extLst>
          </p:cNvPr>
          <p:cNvSpPr txBox="1"/>
          <p:nvPr/>
        </p:nvSpPr>
        <p:spPr>
          <a:xfrm>
            <a:off x="723695" y="2922466"/>
            <a:ext cx="2193283" cy="38472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108000" lvl="0" indent="-108000" defTabSz="457200" latinLnBrk="0">
              <a:lnSpc>
                <a:spcPts val="1500"/>
              </a:lnSpc>
              <a:spcBef>
                <a:spcPts val="400"/>
              </a:spcBef>
              <a:buClr>
                <a:prstClr val="white">
                  <a:lumMod val="75000"/>
                </a:prstClr>
              </a:buClr>
              <a:buFont typeface="Arial" panose="020B0604020202020204" pitchFamily="34" charset="0"/>
              <a:buChar char="•"/>
              <a:defRPr sz="1000" b="1" spc="-1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b="0" spc="-60" dirty="0"/>
              <a:t>역세권 복합개발 및 적정 기반시설 설치 등</a:t>
            </a:r>
            <a:r>
              <a:rPr lang="en-US" altLang="ko-KR" b="0" spc="-60" dirty="0"/>
              <a:t>       </a:t>
            </a:r>
            <a:r>
              <a:rPr lang="ko-KR" altLang="en-US" spc="-60" dirty="0">
                <a:solidFill>
                  <a:schemeClr val="accent2">
                    <a:lumMod val="50000"/>
                  </a:schemeClr>
                </a:solidFill>
              </a:rPr>
              <a:t>공공 주도</a:t>
            </a:r>
            <a:r>
              <a:rPr lang="ko-KR" altLang="en-US" b="0" spc="-60" dirty="0"/>
              <a:t>의 </a:t>
            </a:r>
            <a:r>
              <a:rPr lang="ko-KR" altLang="en-US" spc="-60" dirty="0">
                <a:solidFill>
                  <a:schemeClr val="accent2">
                    <a:lumMod val="50000"/>
                  </a:schemeClr>
                </a:solidFill>
              </a:rPr>
              <a:t>신속하고 체계적인 </a:t>
            </a:r>
            <a:r>
              <a:rPr lang="ko-KR" altLang="en-US" b="0" spc="-60" dirty="0"/>
              <a:t>개발추진</a:t>
            </a:r>
            <a:endParaRPr lang="en-US" altLang="ko-KR" spc="-6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660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01BD962-B2C0-1C25-14A4-B02CEF7E5A83}"/>
              </a:ext>
            </a:extLst>
          </p:cNvPr>
          <p:cNvGrpSpPr/>
          <p:nvPr/>
        </p:nvGrpSpPr>
        <p:grpSpPr>
          <a:xfrm>
            <a:off x="6443567" y="3710737"/>
            <a:ext cx="185600" cy="163312"/>
            <a:chOff x="6592092" y="3477673"/>
            <a:chExt cx="245737" cy="2162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47EF6AA-CA9E-1E2E-8886-9A9157AEC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6848" y="3477673"/>
              <a:ext cx="216226" cy="216227"/>
            </a:xfrm>
            <a:prstGeom prst="rect">
              <a:avLst/>
            </a:prstGeom>
            <a:noFill/>
            <a:ln w="8890">
              <a:noFill/>
              <a:prstDash val="lgDashDotDot"/>
            </a:ln>
            <a:effectLst/>
          </p:spPr>
        </p:pic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E672483-1CC7-31C4-E359-65439BF0BFC2}"/>
                </a:ext>
              </a:extLst>
            </p:cNvPr>
            <p:cNvSpPr/>
            <p:nvPr/>
          </p:nvSpPr>
          <p:spPr>
            <a:xfrm>
              <a:off x="6592092" y="3542720"/>
              <a:ext cx="245737" cy="119156"/>
            </a:xfrm>
            <a:prstGeom prst="ellips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KoPubWorld돋움체 Medium" panose="00000600000000000000" pitchFamily="2" charset="-127"/>
                </a:rPr>
                <a:t>30</a:t>
              </a:r>
              <a:endParaRPr lang="ko-KR" altLang="en-US" sz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KoPubWorld돋움체 Medium" panose="000006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77FE528-5C72-07DD-D600-DF48D7145E99}"/>
              </a:ext>
            </a:extLst>
          </p:cNvPr>
          <p:cNvGrpSpPr/>
          <p:nvPr/>
        </p:nvGrpSpPr>
        <p:grpSpPr>
          <a:xfrm>
            <a:off x="6472192" y="4194422"/>
            <a:ext cx="156975" cy="94838"/>
            <a:chOff x="4252454" y="-1049927"/>
            <a:chExt cx="486464" cy="34243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02CCE16-555D-642D-6787-C171E2F87C05}"/>
                </a:ext>
              </a:extLst>
            </p:cNvPr>
            <p:cNvGrpSpPr/>
            <p:nvPr/>
          </p:nvGrpSpPr>
          <p:grpSpPr>
            <a:xfrm>
              <a:off x="4273098" y="-1049927"/>
              <a:ext cx="441272" cy="342431"/>
              <a:chOff x="4273098" y="-1049927"/>
              <a:chExt cx="901562" cy="589683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15BBAAE-5379-205D-A0C4-88723294B2E2}"/>
                  </a:ext>
                </a:extLst>
              </p:cNvPr>
              <p:cNvSpPr/>
              <p:nvPr/>
            </p:nvSpPr>
            <p:spPr>
              <a:xfrm>
                <a:off x="4273098" y="-1048422"/>
                <a:ext cx="901562" cy="588178"/>
              </a:xfrm>
              <a:prstGeom prst="ellipse">
                <a:avLst/>
              </a:prstGeom>
              <a:solidFill>
                <a:srgbClr val="2B67D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9" name="도넛 516">
                <a:extLst>
                  <a:ext uri="{FF2B5EF4-FFF2-40B4-BE49-F238E27FC236}">
                    <a16:creationId xmlns:a16="http://schemas.microsoft.com/office/drawing/2014/main" id="{DCB59594-1A6A-674D-3CE3-3AB831312937}"/>
                  </a:ext>
                </a:extLst>
              </p:cNvPr>
              <p:cNvSpPr/>
              <p:nvPr/>
            </p:nvSpPr>
            <p:spPr>
              <a:xfrm>
                <a:off x="4273098" y="-1049927"/>
                <a:ext cx="901562" cy="589683"/>
              </a:xfrm>
              <a:prstGeom prst="donut">
                <a:avLst>
                  <a:gd name="adj" fmla="val 8620"/>
                </a:avLst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4917B70B-61A3-5CE7-42C5-61881B6CB924}"/>
                </a:ext>
              </a:extLst>
            </p:cNvPr>
            <p:cNvSpPr/>
            <p:nvPr/>
          </p:nvSpPr>
          <p:spPr>
            <a:xfrm>
              <a:off x="4252454" y="-1024002"/>
              <a:ext cx="486464" cy="273200"/>
            </a:xfrm>
            <a:prstGeom prst="ellips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50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cs typeface="KoPubWorld돋움체 Medium" panose="00000600000000000000" pitchFamily="2" charset="-127"/>
                </a:rPr>
                <a:t>45</a:t>
              </a:r>
              <a:endParaRPr lang="ko-KR" altLang="en-US" sz="5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KoPubWorld돋움체 Medium" panose="00000600000000000000" pitchFamily="2" charset="-127"/>
              </a:endParaRPr>
            </a:p>
          </p:txBody>
        </p:sp>
      </p:grpSp>
      <p:pic>
        <p:nvPicPr>
          <p:cNvPr id="11" name="방위표">
            <a:extLst>
              <a:ext uri="{FF2B5EF4-FFF2-40B4-BE49-F238E27FC236}">
                <a16:creationId xmlns:a16="http://schemas.microsoft.com/office/drawing/2014/main" id="{4CD52F1B-0734-8397-879F-C61366B03AD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83" y="4029279"/>
            <a:ext cx="278504" cy="404322"/>
          </a:xfrm>
          <a:prstGeom prst="rect">
            <a:avLst/>
          </a:prstGeom>
          <a:effectLst>
            <a:glow rad="127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156457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38416</TotalTime>
  <Words>426</Words>
  <Application>Microsoft Office PowerPoint</Application>
  <PresentationFormat>사용자 지정</PresentationFormat>
  <Paragraphs>132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KoPub돋움체 Bold</vt:lpstr>
      <vt:lpstr>MarigoldPS</vt:lpstr>
      <vt:lpstr>나눔명조 ExtraBold</vt:lpstr>
      <vt:lpstr>나눔바른고딕</vt:lpstr>
      <vt:lpstr>나눔손글씨 펜</vt:lpstr>
      <vt:lpstr>맑은 고딕</vt:lpstr>
      <vt:lpstr>휴먼옛체</vt:lpstr>
      <vt:lpstr>Arial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warren</dc:creator>
  <cp:lastModifiedBy>태웅 장</cp:lastModifiedBy>
  <cp:revision>1895</cp:revision>
  <cp:lastPrinted>2025-07-31T03:51:39Z</cp:lastPrinted>
  <dcterms:created xsi:type="dcterms:W3CDTF">2017-02-23T02:45:03Z</dcterms:created>
  <dcterms:modified xsi:type="dcterms:W3CDTF">2026-05-06T11:11:25Z</dcterms:modified>
</cp:coreProperties>
</file>